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19"/>
  </p:notesMasterIdLst>
  <p:sldIdLst>
    <p:sldId id="256" r:id="rId2"/>
    <p:sldId id="714" r:id="rId3"/>
    <p:sldId id="674" r:id="rId4"/>
    <p:sldId id="713" r:id="rId5"/>
    <p:sldId id="715" r:id="rId6"/>
    <p:sldId id="676" r:id="rId7"/>
    <p:sldId id="716" r:id="rId8"/>
    <p:sldId id="719" r:id="rId9"/>
    <p:sldId id="718" r:id="rId10"/>
    <p:sldId id="717" r:id="rId11"/>
    <p:sldId id="720" r:id="rId12"/>
    <p:sldId id="723" r:id="rId13"/>
    <p:sldId id="724" r:id="rId14"/>
    <p:sldId id="722" r:id="rId15"/>
    <p:sldId id="721" r:id="rId16"/>
    <p:sldId id="711" r:id="rId17"/>
    <p:sldId id="303"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F50"/>
    <a:srgbClr val="8497B0"/>
    <a:srgbClr val="8FAADC"/>
    <a:srgbClr val="2F5597"/>
    <a:srgbClr val="626CC7"/>
    <a:srgbClr val="323B8D"/>
    <a:srgbClr val="21275D"/>
    <a:srgbClr val="161A3E"/>
    <a:srgbClr val="203864"/>
    <a:srgbClr val="8BB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71" autoAdjust="0"/>
    <p:restoredTop sz="80392" autoAdjust="0"/>
  </p:normalViewPr>
  <p:slideViewPr>
    <p:cSldViewPr snapToGrid="0">
      <p:cViewPr varScale="1">
        <p:scale>
          <a:sx n="66" d="100"/>
          <a:sy n="66" d="100"/>
        </p:scale>
        <p:origin x="1219" y="58"/>
      </p:cViewPr>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Times New Roman" panose="02020603050405020304" pitchFamily="18" charset="0"/>
              </a:defRPr>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Times New Roman" panose="02020603050405020304" pitchFamily="18" charset="0"/>
              </a:defRPr>
            </a:lvl1pPr>
          </a:lstStyle>
          <a:p>
            <a:fld id="{C20077D8-B575-4753-B8FD-F5736649C91E}" type="datetimeFigureOut">
              <a:rPr lang="en-IN" smtClean="0"/>
              <a:pPr/>
              <a:t>30-10-2026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Times New Roman" panose="02020603050405020304" pitchFamily="18" charset="0"/>
              </a:defRPr>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Times New Roman" panose="02020603050405020304" pitchFamily="18" charset="0"/>
              </a:defRPr>
            </a:lvl1pPr>
          </a:lstStyle>
          <a:p>
            <a:fld id="{47FFB008-8E38-46F5-BCB9-8CFEF233CF3A}" type="slidenum">
              <a:rPr lang="en-IN" smtClean="0"/>
              <a:pPr/>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Times New Roman" panose="02020603050405020304" pitchFamily="18" charset="0"/>
        <a:ea typeface="+mn-ea"/>
        <a:cs typeface="+mn-cs"/>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Good morning everyone. My name is Dhanush Krishnan A U, and today I'm going to present my project, Predicting Movie Success.</a:t>
            </a:r>
          </a:p>
          <a:p>
            <a:r>
              <a:rPr lang="en-US" dirty="0"/>
              <a:t>In this project, I use machine learning to analyze movie-related data and classify movies into three categories: Hit, Average, and Flop.</a:t>
            </a:r>
          </a:p>
          <a:p>
            <a:r>
              <a:rPr lang="en-US" dirty="0"/>
              <a:t>I'll explain the problem, the dataset, the machine learning models I compared, the results I obtained, and the web application developed for this project.</a:t>
            </a:r>
          </a:p>
          <a:p>
            <a:endParaRPr lang="en-US" dirty="0"/>
          </a:p>
        </p:txBody>
      </p:sp>
      <p:sp>
        <p:nvSpPr>
          <p:cNvPr id="4" name="Slide Number Placeholder 3"/>
          <p:cNvSpPr>
            <a:spLocks noGrp="1"/>
          </p:cNvSpPr>
          <p:nvPr>
            <p:ph type="sldNum" sz="quarter" idx="5"/>
          </p:nvPr>
        </p:nvSpPr>
        <p:spPr/>
        <p:txBody>
          <a:bodyPr/>
          <a:lstStyle/>
          <a:p>
            <a:fld id="{47FFB008-8E38-46F5-BCB9-8CFEF233CF3A}" type="slidenum">
              <a:rPr lang="en-IN" smtClean="0"/>
              <a:pPr/>
              <a:t>1</a:t>
            </a:fld>
            <a:endParaRPr lang="en-IN" dirty="0"/>
          </a:p>
        </p:txBody>
      </p:sp>
    </p:spTree>
    <p:extLst>
      <p:ext uri="{BB962C8B-B14F-4D97-AF65-F5344CB8AC3E}">
        <p14:creationId xmlns:p14="http://schemas.microsoft.com/office/powerpoint/2010/main" val="15618045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I'll introduce the project and explain the problem statement and objectives.</a:t>
            </a:r>
          </a:p>
          <a:p>
            <a:r>
              <a:rPr lang="en-US" dirty="0"/>
              <a:t>Next, I'll discuss the dataset, exploratory data analysis, and data preprocessing. Then, I'll explain the machine learning algorithms and compare their performance.</a:t>
            </a:r>
          </a:p>
          <a:p>
            <a:r>
              <a:rPr lang="en-US" dirty="0"/>
              <a:t>Finally, I'll demonstrate the movie prediction system and AI-powered research assistant, discuss the limitations, and conclude with possible future improvements.</a:t>
            </a:r>
          </a:p>
          <a:p>
            <a:endParaRPr lang="en-US" dirty="0"/>
          </a:p>
        </p:txBody>
      </p:sp>
      <p:sp>
        <p:nvSpPr>
          <p:cNvPr id="4" name="Slide Number Placeholder 3"/>
          <p:cNvSpPr>
            <a:spLocks noGrp="1"/>
          </p:cNvSpPr>
          <p:nvPr>
            <p:ph type="sldNum" sz="quarter" idx="5"/>
          </p:nvPr>
        </p:nvSpPr>
        <p:spPr/>
        <p:txBody>
          <a:bodyPr/>
          <a:lstStyle/>
          <a:p>
            <a:fld id="{47FFB008-8E38-46F5-BCB9-8CFEF233CF3A}" type="slidenum">
              <a:rPr lang="en-IN" smtClean="0"/>
              <a:pPr/>
              <a:t>2</a:t>
            </a:fld>
            <a:endParaRPr lang="en-IN" dirty="0"/>
          </a:p>
        </p:txBody>
      </p:sp>
    </p:spTree>
    <p:extLst>
      <p:ext uri="{BB962C8B-B14F-4D97-AF65-F5344CB8AC3E}">
        <p14:creationId xmlns:p14="http://schemas.microsoft.com/office/powerpoint/2010/main" val="33074826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movie industry involves considerable uncertainty because a movie's performance depends on several factors, including its genre, budget, director, cast, and other characteristics.</a:t>
            </a:r>
          </a:p>
          <a:p>
            <a:r>
              <a:rPr lang="en-US" dirty="0"/>
              <a:t>Machine learning can help us analyze historical movie data and identify patterns associated with different IMDb rating categories.</a:t>
            </a:r>
          </a:p>
          <a:p>
            <a:r>
              <a:rPr lang="en-US" dirty="0"/>
              <a:t>The main objectives of my project are to analyze the dataset, preprocess the data, compare five classification algorithms, evaluate their performance, and develop an interactive web application using React and </a:t>
            </a:r>
            <a:r>
              <a:rPr lang="en-US" dirty="0" err="1"/>
              <a:t>FastAPI</a:t>
            </a:r>
            <a:r>
              <a:rPr lang="en-US" dirty="0"/>
              <a:t>.</a:t>
            </a:r>
          </a:p>
          <a:p>
            <a:endParaRPr lang="en-US" dirty="0"/>
          </a:p>
        </p:txBody>
      </p:sp>
      <p:sp>
        <p:nvSpPr>
          <p:cNvPr id="4" name="Slide Number Placeholder 3"/>
          <p:cNvSpPr>
            <a:spLocks noGrp="1"/>
          </p:cNvSpPr>
          <p:nvPr>
            <p:ph type="sldNum" sz="quarter" idx="5"/>
          </p:nvPr>
        </p:nvSpPr>
        <p:spPr/>
        <p:txBody>
          <a:bodyPr/>
          <a:lstStyle/>
          <a:p>
            <a:fld id="{47FFB008-8E38-46F5-BCB9-8CFEF233CF3A}" type="slidenum">
              <a:rPr lang="en-IN" smtClean="0"/>
              <a:pPr/>
              <a:t>3</a:t>
            </a:fld>
            <a:endParaRPr lang="en-IN" dirty="0"/>
          </a:p>
        </p:txBody>
      </p:sp>
    </p:spTree>
    <p:extLst>
      <p:ext uri="{BB962C8B-B14F-4D97-AF65-F5344CB8AC3E}">
        <p14:creationId xmlns:p14="http://schemas.microsoft.com/office/powerpoint/2010/main" val="1707221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problem is that movie datasets contain both numerical and categorical information, missing values, and an imbalance between different rating categories. These challenges can affect the performance of a machine learning model.</a:t>
            </a:r>
          </a:p>
          <a:p>
            <a:r>
              <a:rPr lang="en-US" dirty="0"/>
              <a:t>To address this, I developed a classification approach that categorizes movies as Hit, Average, or Flop using predefined IMDb score ranges.</a:t>
            </a:r>
          </a:p>
          <a:p>
            <a:r>
              <a:rPr lang="en-US" dirty="0"/>
              <a:t>The project also aims to provide an interactive interface where users can explore movie data and obtain predictions from the trained model.</a:t>
            </a:r>
          </a:p>
          <a:p>
            <a:endParaRPr lang="en-US" dirty="0"/>
          </a:p>
        </p:txBody>
      </p:sp>
      <p:sp>
        <p:nvSpPr>
          <p:cNvPr id="4" name="Slide Number Placeholder 3"/>
          <p:cNvSpPr>
            <a:spLocks noGrp="1"/>
          </p:cNvSpPr>
          <p:nvPr>
            <p:ph type="sldNum" sz="quarter" idx="5"/>
          </p:nvPr>
        </p:nvSpPr>
        <p:spPr/>
        <p:txBody>
          <a:bodyPr/>
          <a:lstStyle/>
          <a:p>
            <a:fld id="{47FFB008-8E38-46F5-BCB9-8CFEF233CF3A}" type="slidenum">
              <a:rPr lang="en-IN" smtClean="0"/>
              <a:pPr/>
              <a:t>4</a:t>
            </a:fld>
            <a:endParaRPr lang="en-IN" dirty="0"/>
          </a:p>
        </p:txBody>
      </p:sp>
    </p:spTree>
    <p:extLst>
      <p:ext uri="{BB962C8B-B14F-4D97-AF65-F5344CB8AC3E}">
        <p14:creationId xmlns:p14="http://schemas.microsoft.com/office/powerpoint/2010/main" val="22363128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this project, I used a movie metadata dataset containing 5,043 original movie records and 28 columns.</a:t>
            </a:r>
          </a:p>
          <a:p>
            <a:r>
              <a:rPr lang="en-US" dirty="0"/>
              <a:t>The dataset includes features such as genre, budget, duration, director, cast, release year, language, country, and IMDb score.</a:t>
            </a:r>
          </a:p>
          <a:p>
            <a:r>
              <a:rPr lang="en-US" dirty="0"/>
              <a:t>I divided the movies into three categories based on their IMDb scores. Movies scoring 3 or below are classified as Flop, movies scoring above 3 and up to 6 are Average, and movies scoring above 6 are Hits.</a:t>
            </a:r>
          </a:p>
          <a:p>
            <a:r>
              <a:rPr lang="en-US" dirty="0"/>
              <a:t>The chart shows that the dataset contains significantly more Hit and Average movies than Flop movies. This imbalance is important because it can affect how well the model learns to recognize each category.</a:t>
            </a:r>
          </a:p>
          <a:p>
            <a:endParaRPr lang="en-US" dirty="0"/>
          </a:p>
        </p:txBody>
      </p:sp>
      <p:sp>
        <p:nvSpPr>
          <p:cNvPr id="4" name="Slide Number Placeholder 3"/>
          <p:cNvSpPr>
            <a:spLocks noGrp="1"/>
          </p:cNvSpPr>
          <p:nvPr>
            <p:ph type="sldNum" sz="quarter" idx="5"/>
          </p:nvPr>
        </p:nvSpPr>
        <p:spPr/>
        <p:txBody>
          <a:bodyPr/>
          <a:lstStyle/>
          <a:p>
            <a:fld id="{47FFB008-8E38-46F5-BCB9-8CFEF233CF3A}" type="slidenum">
              <a:rPr lang="en-IN" smtClean="0"/>
              <a:pPr/>
              <a:t>5</a:t>
            </a:fld>
            <a:endParaRPr lang="en-IN" dirty="0"/>
          </a:p>
        </p:txBody>
      </p:sp>
    </p:spTree>
    <p:extLst>
      <p:ext uri="{BB962C8B-B14F-4D97-AF65-F5344CB8AC3E}">
        <p14:creationId xmlns:p14="http://schemas.microsoft.com/office/powerpoint/2010/main" val="34597713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Exploratory Data Analysis, or EDA, helps us understand the dataset before building machine learning models.</a:t>
            </a:r>
          </a:p>
          <a:p>
            <a:r>
              <a:rPr lang="en-US" dirty="0"/>
              <a:t>I used Power BI to visualize the IMDb score distribution, identify the most frequent genres, compare average IMDb scores across genres, examine the relationship between movie budgets and IMDb scores, and explore movie release trends over time.</a:t>
            </a:r>
          </a:p>
          <a:p>
            <a:r>
              <a:rPr lang="en-US" dirty="0"/>
              <a:t>The initial observations suggest that IMDb ratings vary across genres and that movie budget alone does not show an obvious strong relationship with IMDb scores in the scatter plot.</a:t>
            </a:r>
          </a:p>
          <a:p>
            <a:r>
              <a:rPr lang="en-US" dirty="0"/>
              <a:t>These observations help us understand the data and guide the preprocessing and model-building stages.</a:t>
            </a:r>
          </a:p>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6</a:t>
            </a:fld>
            <a:endParaRPr lang="en-IN" dirty="0"/>
          </a:p>
        </p:txBody>
      </p:sp>
    </p:spTree>
    <p:extLst>
      <p:ext uri="{BB962C8B-B14F-4D97-AF65-F5344CB8AC3E}">
        <p14:creationId xmlns:p14="http://schemas.microsoft.com/office/powerpoint/2010/main" val="17978836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CC1CD8-3F93-8AD5-F2F0-63A7AAC344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A0AEAC-2D63-D091-5DF9-97639E732A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E8F9D3-73D1-B2A5-6549-5884FFA3BF57}"/>
              </a:ext>
            </a:extLst>
          </p:cNvPr>
          <p:cNvSpPr>
            <a:spLocks noGrp="1"/>
          </p:cNvSpPr>
          <p:nvPr>
            <p:ph type="body" idx="1"/>
          </p:nvPr>
        </p:nvSpPr>
        <p:spPr/>
        <p:txBody>
          <a:bodyPr/>
          <a:lstStyle/>
          <a:p>
            <a:r>
              <a:rPr lang="en-US" dirty="0"/>
              <a:t>This slide presents the Power BI dashboard created for analyzing the movie dataset.</a:t>
            </a:r>
          </a:p>
          <a:p>
            <a:r>
              <a:rPr lang="en-US" dirty="0"/>
              <a:t>The dashboard combines several visualizations, including IMDb score distribution, average IMDb scores by genre, movie rating categories, release trends, and the relationship between movie budgets and IMDb scores.</a:t>
            </a:r>
          </a:p>
          <a:p>
            <a:r>
              <a:rPr lang="en-US" dirty="0"/>
              <a:t>It also displays summary statistics, such as the total number of movies, average IMDb score, average movie duration, and average budget.</a:t>
            </a:r>
          </a:p>
          <a:p>
            <a:r>
              <a:rPr lang="en-US" dirty="0"/>
              <a:t>Instead of examining individual records manually, the dashboard allows us to understand the dataset through interactive visualizations and identify important patterns more easily.</a:t>
            </a:r>
          </a:p>
          <a:p>
            <a:endParaRPr lang="en-IN" dirty="0"/>
          </a:p>
        </p:txBody>
      </p:sp>
      <p:sp>
        <p:nvSpPr>
          <p:cNvPr id="4" name="Slide Number Placeholder 3">
            <a:extLst>
              <a:ext uri="{FF2B5EF4-FFF2-40B4-BE49-F238E27FC236}">
                <a16:creationId xmlns:a16="http://schemas.microsoft.com/office/drawing/2014/main" id="{00DBED16-05A7-8534-E5A2-B8A6BB1873C1}"/>
              </a:ext>
            </a:extLst>
          </p:cNvPr>
          <p:cNvSpPr>
            <a:spLocks noGrp="1"/>
          </p:cNvSpPr>
          <p:nvPr>
            <p:ph type="sldNum" sz="quarter" idx="5"/>
          </p:nvPr>
        </p:nvSpPr>
        <p:spPr/>
        <p:txBody>
          <a:bodyPr/>
          <a:lstStyle/>
          <a:p>
            <a:fld id="{47FFB008-8E38-46F5-BCB9-8CFEF233CF3A}" type="slidenum">
              <a:rPr lang="en-IN" smtClean="0"/>
              <a:t>7</a:t>
            </a:fld>
            <a:endParaRPr lang="en-IN" dirty="0"/>
          </a:p>
        </p:txBody>
      </p:sp>
    </p:spTree>
    <p:extLst>
      <p:ext uri="{BB962C8B-B14F-4D97-AF65-F5344CB8AC3E}">
        <p14:creationId xmlns:p14="http://schemas.microsoft.com/office/powerpoint/2010/main" val="21257914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3BCD8-85CF-29FD-0F1B-5495BFBA8D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5040A6-D3F1-43D3-EAA4-112710BF8C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77A69E-98E1-C8AA-ADB0-0D5A0456EDF6}"/>
              </a:ext>
            </a:extLst>
          </p:cNvPr>
          <p:cNvSpPr>
            <a:spLocks noGrp="1"/>
          </p:cNvSpPr>
          <p:nvPr>
            <p:ph type="body" idx="1"/>
          </p:nvPr>
        </p:nvSpPr>
        <p:spPr/>
        <p:txBody>
          <a:bodyPr/>
          <a:lstStyle/>
          <a:p>
            <a:r>
              <a:rPr lang="en-US" dirty="0"/>
              <a:t>Before training the models, I performed several data preprocessing steps to improve data quality and prepare the dataset for machine learning.</a:t>
            </a:r>
          </a:p>
          <a:p>
            <a:r>
              <a:rPr lang="en-US" dirty="0"/>
              <a:t>First, I removed duplicate records and handled missing values. I then created the three target categories based on IMDb scores and selected relevant input features.</a:t>
            </a:r>
          </a:p>
          <a:p>
            <a:r>
              <a:rPr lang="en-US" dirty="0"/>
              <a:t>Categorical variables were converted into numerical representations using One-Hot Encoding. Missing values were imputed, and numerical features were scaled where required.</a:t>
            </a:r>
          </a:p>
          <a:p>
            <a:r>
              <a:rPr lang="en-US" dirty="0"/>
              <a:t>Finally, I divided the dataset into 80% training data and 20% testing data using stratification. The training data was used to train the models, while the testing data was used to evaluate their performance.</a:t>
            </a:r>
          </a:p>
          <a:p>
            <a:r>
              <a:rPr lang="en-US" dirty="0"/>
              <a:t>The complete workflow moves from data collection and cleaning to EDA, preprocessing, model training, evaluation, and web application development.</a:t>
            </a:r>
          </a:p>
          <a:p>
            <a:endParaRPr lang="en-IN" dirty="0"/>
          </a:p>
        </p:txBody>
      </p:sp>
      <p:sp>
        <p:nvSpPr>
          <p:cNvPr id="4" name="Slide Number Placeholder 3">
            <a:extLst>
              <a:ext uri="{FF2B5EF4-FFF2-40B4-BE49-F238E27FC236}">
                <a16:creationId xmlns:a16="http://schemas.microsoft.com/office/drawing/2014/main" id="{5E54B652-A580-9140-A30F-75E870D50D38}"/>
              </a:ext>
            </a:extLst>
          </p:cNvPr>
          <p:cNvSpPr>
            <a:spLocks noGrp="1"/>
          </p:cNvSpPr>
          <p:nvPr>
            <p:ph type="sldNum" sz="quarter" idx="5"/>
          </p:nvPr>
        </p:nvSpPr>
        <p:spPr/>
        <p:txBody>
          <a:bodyPr/>
          <a:lstStyle/>
          <a:p>
            <a:fld id="{47FFB008-8E38-46F5-BCB9-8CFEF233CF3A}" type="slidenum">
              <a:rPr lang="en-IN" smtClean="0"/>
              <a:t>8</a:t>
            </a:fld>
            <a:endParaRPr lang="en-IN" dirty="0"/>
          </a:p>
        </p:txBody>
      </p:sp>
    </p:spTree>
    <p:extLst>
      <p:ext uri="{BB962C8B-B14F-4D97-AF65-F5344CB8AC3E}">
        <p14:creationId xmlns:p14="http://schemas.microsoft.com/office/powerpoint/2010/main" val="38810865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5C0ED-3729-13EC-8101-7C1515785A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D04F31-9804-FE7A-B8AF-785BD95F42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90449E-DAD0-C6A0-B818-828F6429548B}"/>
              </a:ext>
            </a:extLst>
          </p:cNvPr>
          <p:cNvSpPr>
            <a:spLocks noGrp="1"/>
          </p:cNvSpPr>
          <p:nvPr>
            <p:ph type="body" idx="1"/>
          </p:nvPr>
        </p:nvSpPr>
        <p:spPr/>
        <p:txBody>
          <a:bodyPr/>
          <a:lstStyle/>
          <a:p>
            <a:r>
              <a:rPr lang="en-US" dirty="0"/>
              <a:t>I compared five classification algorithms: Logistic Regression, Decision Tree, Random Forest, K-Nearest Neighbors, and </a:t>
            </a:r>
            <a:r>
              <a:rPr lang="en-US" dirty="0" err="1"/>
              <a:t>XGBoost</a:t>
            </a:r>
            <a:r>
              <a:rPr lang="en-US" dirty="0"/>
              <a:t>.</a:t>
            </a:r>
          </a:p>
          <a:p>
            <a:r>
              <a:rPr lang="en-US" dirty="0"/>
              <a:t>Each algorithm learns patterns in the data differently, so comparing multiple models helps us understand which approach performs best for this classification problem.</a:t>
            </a:r>
          </a:p>
          <a:p>
            <a:r>
              <a:rPr lang="en-US" dirty="0"/>
              <a:t>I evaluated the models using accuracy, Macro F1-score, and a confusion matrix.</a:t>
            </a:r>
          </a:p>
          <a:p>
            <a:r>
              <a:rPr lang="en-US" dirty="0"/>
              <a:t>Accuracy measures the proportion of correct predictions. Macro F1-score calculates the F1-score for each class and gives equal importance to all three classes. This is particularly useful when the dataset is imbalanced.</a:t>
            </a:r>
          </a:p>
          <a:p>
            <a:r>
              <a:rPr lang="en-US" dirty="0"/>
              <a:t>The confusion matrix helps identify which categories the model predicts correctly and which categories it confuses with one another.</a:t>
            </a:r>
          </a:p>
          <a:p>
            <a:endParaRPr lang="en-IN" dirty="0"/>
          </a:p>
        </p:txBody>
      </p:sp>
      <p:sp>
        <p:nvSpPr>
          <p:cNvPr id="4" name="Slide Number Placeholder 3">
            <a:extLst>
              <a:ext uri="{FF2B5EF4-FFF2-40B4-BE49-F238E27FC236}">
                <a16:creationId xmlns:a16="http://schemas.microsoft.com/office/drawing/2014/main" id="{F5E67EF2-006D-7917-939F-59825762FB90}"/>
              </a:ext>
            </a:extLst>
          </p:cNvPr>
          <p:cNvSpPr>
            <a:spLocks noGrp="1"/>
          </p:cNvSpPr>
          <p:nvPr>
            <p:ph type="sldNum" sz="quarter" idx="5"/>
          </p:nvPr>
        </p:nvSpPr>
        <p:spPr/>
        <p:txBody>
          <a:bodyPr/>
          <a:lstStyle/>
          <a:p>
            <a:fld id="{47FFB008-8E38-46F5-BCB9-8CFEF233CF3A}" type="slidenum">
              <a:rPr lang="en-IN" smtClean="0"/>
              <a:t>9</a:t>
            </a:fld>
            <a:endParaRPr lang="en-IN" dirty="0"/>
          </a:p>
        </p:txBody>
      </p:sp>
    </p:spTree>
    <p:extLst>
      <p:ext uri="{BB962C8B-B14F-4D97-AF65-F5344CB8AC3E}">
        <p14:creationId xmlns:p14="http://schemas.microsoft.com/office/powerpoint/2010/main" val="25298261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CA309-43CF-6BC2-053E-5A4F0B4001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D5A939-824E-10A9-A1F3-B01864C0B9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325488-6376-2DC8-CE1A-5B7E1D9F2885}"/>
              </a:ext>
            </a:extLst>
          </p:cNvPr>
          <p:cNvSpPr>
            <a:spLocks noGrp="1"/>
          </p:cNvSpPr>
          <p:nvPr>
            <p:ph type="body" idx="1"/>
          </p:nvPr>
        </p:nvSpPr>
        <p:spPr/>
        <p:txBody>
          <a:bodyPr/>
          <a:lstStyle/>
          <a:p>
            <a:r>
              <a:rPr lang="en-US" dirty="0"/>
              <a:t>This slide presents the performance of all five classification algorithms on the test dataset.</a:t>
            </a:r>
          </a:p>
          <a:p>
            <a:r>
              <a:rPr lang="en-US" dirty="0" err="1"/>
              <a:t>XGBoost</a:t>
            </a:r>
            <a:r>
              <a:rPr lang="en-US" dirty="0"/>
              <a:t> achieved the highest accuracy of 79.3% and the highest Macro F1-score of 48.48%.</a:t>
            </a:r>
          </a:p>
          <a:p>
            <a:r>
              <a:rPr lang="en-US" dirty="0"/>
              <a:t>Random Forest achieved an accuracy of 74.6% and a Macro F1-score of 45.76%. KNN, Decision Tree, and Logistic Regression achieved lower accuracy scores than </a:t>
            </a:r>
            <a:r>
              <a:rPr lang="en-US" dirty="0" err="1"/>
              <a:t>XGBoost</a:t>
            </a:r>
            <a:r>
              <a:rPr lang="en-US" dirty="0"/>
              <a:t>.</a:t>
            </a:r>
          </a:p>
          <a:p>
            <a:r>
              <a:rPr lang="en-US" dirty="0"/>
              <a:t>Although </a:t>
            </a:r>
            <a:r>
              <a:rPr lang="en-US" dirty="0" err="1"/>
              <a:t>XGBoost</a:t>
            </a:r>
            <a:r>
              <a:rPr lang="en-US" dirty="0"/>
              <a:t> performed best according to both metrics shown in the comparison, I selected Random Forest for the final implementation.</a:t>
            </a:r>
          </a:p>
          <a:p>
            <a:r>
              <a:rPr lang="en-US" dirty="0"/>
              <a:t>The Random Forest model achieved 74.6% accuracy, with a Macro F1-score of 45.76% and a balanced accuracy of 45.83%.</a:t>
            </a:r>
          </a:p>
          <a:p>
            <a:r>
              <a:rPr lang="en-US" dirty="0"/>
              <a:t>These results show why we need to evaluate not only overall accuracy but also how effectively a model handles each category.</a:t>
            </a:r>
          </a:p>
          <a:p>
            <a:endParaRPr lang="en-IN" dirty="0"/>
          </a:p>
        </p:txBody>
      </p:sp>
      <p:sp>
        <p:nvSpPr>
          <p:cNvPr id="4" name="Slide Number Placeholder 3">
            <a:extLst>
              <a:ext uri="{FF2B5EF4-FFF2-40B4-BE49-F238E27FC236}">
                <a16:creationId xmlns:a16="http://schemas.microsoft.com/office/drawing/2014/main" id="{EAE82A64-9B0E-B7CC-65D0-7F64190ABACE}"/>
              </a:ext>
            </a:extLst>
          </p:cNvPr>
          <p:cNvSpPr>
            <a:spLocks noGrp="1"/>
          </p:cNvSpPr>
          <p:nvPr>
            <p:ph type="sldNum" sz="quarter" idx="5"/>
          </p:nvPr>
        </p:nvSpPr>
        <p:spPr/>
        <p:txBody>
          <a:bodyPr/>
          <a:lstStyle/>
          <a:p>
            <a:fld id="{47FFB008-8E38-46F5-BCB9-8CFEF233CF3A}" type="slidenum">
              <a:rPr lang="en-IN" smtClean="0"/>
              <a:t>10</a:t>
            </a:fld>
            <a:endParaRPr lang="en-IN" dirty="0"/>
          </a:p>
        </p:txBody>
      </p:sp>
    </p:spTree>
    <p:extLst>
      <p:ext uri="{BB962C8B-B14F-4D97-AF65-F5344CB8AC3E}">
        <p14:creationId xmlns:p14="http://schemas.microsoft.com/office/powerpoint/2010/main" val="41043858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46CE66-3D9C-7540-CCDC-2491813C7A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DE8814-5CC2-EF68-87D6-E6E5B95905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53387D-FC04-73A8-3D58-277273EA483C}"/>
              </a:ext>
            </a:extLst>
          </p:cNvPr>
          <p:cNvSpPr>
            <a:spLocks noGrp="1"/>
          </p:cNvSpPr>
          <p:nvPr>
            <p:ph type="body" idx="1"/>
          </p:nvPr>
        </p:nvSpPr>
        <p:spPr/>
        <p:txBody>
          <a:bodyPr/>
          <a:lstStyle/>
          <a:p>
            <a:r>
              <a:rPr lang="en-US" dirty="0"/>
              <a:t>This slide explains how the movie prediction system works.</a:t>
            </a:r>
          </a:p>
          <a:p>
            <a:r>
              <a:rPr lang="en-US" dirty="0"/>
              <a:t>The application uses React for the frontend, </a:t>
            </a:r>
            <a:r>
              <a:rPr lang="en-US" dirty="0" err="1"/>
              <a:t>FastAPI</a:t>
            </a:r>
            <a:r>
              <a:rPr lang="en-US" dirty="0"/>
              <a:t> for the backend, and the trained Random Forest model for making predictions.</a:t>
            </a:r>
          </a:p>
          <a:p>
            <a:r>
              <a:rPr lang="en-US" dirty="0"/>
              <a:t>The user first enters the required movie details through the interface. These details are sent to the backend, which processes the input and passes it to the trained model.</a:t>
            </a:r>
          </a:p>
          <a:p>
            <a:r>
              <a:rPr lang="en-US" dirty="0"/>
              <a:t>The model then predicts one of three categories: Hit, Average, or Flop. The application displays the predicted category to the user.</a:t>
            </a:r>
          </a:p>
          <a:p>
            <a:r>
              <a:rPr lang="en-US" dirty="0"/>
              <a:t>The main advantage of this approach is that users can interact with the machine learning model through a web interface without needing to run the model directly in a Python environment.</a:t>
            </a:r>
          </a:p>
          <a:p>
            <a:endParaRPr lang="en-IN" dirty="0"/>
          </a:p>
        </p:txBody>
      </p:sp>
      <p:sp>
        <p:nvSpPr>
          <p:cNvPr id="4" name="Slide Number Placeholder 3">
            <a:extLst>
              <a:ext uri="{FF2B5EF4-FFF2-40B4-BE49-F238E27FC236}">
                <a16:creationId xmlns:a16="http://schemas.microsoft.com/office/drawing/2014/main" id="{2D83F9AC-4E0A-91A5-7569-CCFB41D3F8EB}"/>
              </a:ext>
            </a:extLst>
          </p:cNvPr>
          <p:cNvSpPr>
            <a:spLocks noGrp="1"/>
          </p:cNvSpPr>
          <p:nvPr>
            <p:ph type="sldNum" sz="quarter" idx="5"/>
          </p:nvPr>
        </p:nvSpPr>
        <p:spPr/>
        <p:txBody>
          <a:bodyPr/>
          <a:lstStyle/>
          <a:p>
            <a:fld id="{47FFB008-8E38-46F5-BCB9-8CFEF233CF3A}" type="slidenum">
              <a:rPr lang="en-IN" smtClean="0"/>
              <a:t>11</a:t>
            </a:fld>
            <a:endParaRPr lang="en-IN" dirty="0"/>
          </a:p>
        </p:txBody>
      </p:sp>
    </p:spTree>
    <p:extLst>
      <p:ext uri="{BB962C8B-B14F-4D97-AF65-F5344CB8AC3E}">
        <p14:creationId xmlns:p14="http://schemas.microsoft.com/office/powerpoint/2010/main" val="40240200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addition to the movie prediction system, I developed an AI-powered movie research assistant to make the platform more interactive.</a:t>
            </a:r>
          </a:p>
          <a:p>
            <a:r>
              <a:rPr lang="en-US" dirty="0"/>
              <a:t>It has three main functions.</a:t>
            </a:r>
          </a:p>
          <a:p>
            <a:r>
              <a:rPr lang="en-US" dirty="0"/>
              <a:t>The General Movie Assistant answers questions about movies, actors, directors, and genres using the Gemini API.</a:t>
            </a:r>
          </a:p>
          <a:p>
            <a:r>
              <a:rPr lang="en-US" dirty="0"/>
              <a:t>The Dataset Researcher answers questions about the project's dataset and uses Python and Pandas to calculate statistics, such as average IMDb scores by genre.</a:t>
            </a:r>
          </a:p>
          <a:p>
            <a:r>
              <a:rPr lang="en-US" dirty="0"/>
              <a:t>The AI Prediction Explainer helps users understand the model's predictions by combining prediction outputs, available feature analysis, and historical statistics with explanations generated using Gemini.</a:t>
            </a:r>
          </a:p>
          <a:p>
            <a:r>
              <a:rPr lang="en-US" dirty="0"/>
              <a:t>The overall goal is to combine machine learning, data analysis, and conversational AI in a single platform for movie research.</a:t>
            </a:r>
          </a:p>
          <a:p>
            <a:endParaRPr lang="en-US" dirty="0"/>
          </a:p>
        </p:txBody>
      </p:sp>
      <p:sp>
        <p:nvSpPr>
          <p:cNvPr id="4" name="Slide Number Placeholder 3"/>
          <p:cNvSpPr>
            <a:spLocks noGrp="1"/>
          </p:cNvSpPr>
          <p:nvPr>
            <p:ph type="sldNum" sz="quarter" idx="5"/>
          </p:nvPr>
        </p:nvSpPr>
        <p:spPr/>
        <p:txBody>
          <a:bodyPr/>
          <a:lstStyle/>
          <a:p>
            <a:fld id="{47FFB008-8E38-46F5-BCB9-8CFEF233CF3A}" type="slidenum">
              <a:rPr lang="en-IN" smtClean="0"/>
              <a:pPr/>
              <a:t>12</a:t>
            </a:fld>
            <a:endParaRPr lang="en-IN" dirty="0"/>
          </a:p>
        </p:txBody>
      </p:sp>
    </p:spTree>
    <p:extLst>
      <p:ext uri="{BB962C8B-B14F-4D97-AF65-F5344CB8AC3E}">
        <p14:creationId xmlns:p14="http://schemas.microsoft.com/office/powerpoint/2010/main" val="33362684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interface of the AI-powered movie research assistant.</a:t>
            </a:r>
          </a:p>
          <a:p>
            <a:r>
              <a:rPr lang="en-US" dirty="0"/>
              <a:t>Users can select an assistant mode, enter a question, and receive a response through the chat interface.</a:t>
            </a:r>
          </a:p>
          <a:p>
            <a:r>
              <a:rPr lang="en-US" dirty="0"/>
              <a:t>For example, a user can ask the Dataset Researcher to identify the five genres with the highest average IMDb scores. The system can calculate the relevant statistics from the dataset and present the results in a readable format.</a:t>
            </a:r>
          </a:p>
          <a:p>
            <a:r>
              <a:rPr lang="en-US" dirty="0"/>
              <a:t>This makes the dataset easier to explore without requiring users to write Python code or manually calculate the statistics.</a:t>
            </a:r>
          </a:p>
          <a:p>
            <a:r>
              <a:rPr lang="en-US" dirty="0"/>
              <a:t>The screenshot demonstrates how the analytical capabilities of the project can be presented through a conversational interface.</a:t>
            </a:r>
          </a:p>
          <a:p>
            <a:endParaRPr lang="en-US" dirty="0"/>
          </a:p>
        </p:txBody>
      </p:sp>
      <p:sp>
        <p:nvSpPr>
          <p:cNvPr id="4" name="Slide Number Placeholder 3"/>
          <p:cNvSpPr>
            <a:spLocks noGrp="1"/>
          </p:cNvSpPr>
          <p:nvPr>
            <p:ph type="sldNum" sz="quarter" idx="5"/>
          </p:nvPr>
        </p:nvSpPr>
        <p:spPr/>
        <p:txBody>
          <a:bodyPr/>
          <a:lstStyle/>
          <a:p>
            <a:fld id="{47FFB008-8E38-46F5-BCB9-8CFEF233CF3A}" type="slidenum">
              <a:rPr lang="en-IN" smtClean="0"/>
              <a:pPr/>
              <a:t>13</a:t>
            </a:fld>
            <a:endParaRPr lang="en-IN" dirty="0"/>
          </a:p>
        </p:txBody>
      </p:sp>
    </p:spTree>
    <p:extLst>
      <p:ext uri="{BB962C8B-B14F-4D97-AF65-F5344CB8AC3E}">
        <p14:creationId xmlns:p14="http://schemas.microsoft.com/office/powerpoint/2010/main" val="26824599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3A721-4597-03B5-20A1-E739775607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5F9CE7-99A6-C4B0-0CCD-64FD1564F0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67346D-1517-217D-7333-98FA26322105}"/>
              </a:ext>
            </a:extLst>
          </p:cNvPr>
          <p:cNvSpPr>
            <a:spLocks noGrp="1"/>
          </p:cNvSpPr>
          <p:nvPr>
            <p:ph type="body" idx="1"/>
          </p:nvPr>
        </p:nvSpPr>
        <p:spPr/>
        <p:txBody>
          <a:bodyPr/>
          <a:lstStyle/>
          <a:p>
            <a:r>
              <a:rPr lang="en-US" dirty="0"/>
              <a:t>Although the project demonstrates the application of machine learning to movie data, it has several limitations.</a:t>
            </a:r>
          </a:p>
          <a:p>
            <a:r>
              <a:rPr lang="en-US" dirty="0"/>
              <a:t>First, the dataset is imbalanced, with significantly fewer Flop movies than Hit and Average movies. This makes it difficult for the model to learn the Flop category effectively.</a:t>
            </a:r>
          </a:p>
          <a:p>
            <a:r>
              <a:rPr lang="en-US" dirty="0"/>
              <a:t>Second, the model's predictions depend on the available movie metadata. Missing values, inconsistent data, and limited features can affect prediction quality.</a:t>
            </a:r>
          </a:p>
          <a:p>
            <a:r>
              <a:rPr lang="en-US" dirty="0"/>
              <a:t>Another important limitation is that the target categories are based on IMDb ratings rather than actual box-office performance. Therefore, a predicted Hit does not necessarily mean that a movie will be commercially successful.</a:t>
            </a:r>
          </a:p>
          <a:p>
            <a:r>
              <a:rPr lang="en-US" dirty="0"/>
              <a:t>Finally, the model's performance on new movies may differ from its performance on the test dataset.</a:t>
            </a:r>
          </a:p>
          <a:p>
            <a:r>
              <a:rPr lang="en-US" dirty="0"/>
              <a:t>These limitations highlight areas where the system can be improved.</a:t>
            </a:r>
          </a:p>
          <a:p>
            <a:endParaRPr lang="en-IN" dirty="0"/>
          </a:p>
        </p:txBody>
      </p:sp>
      <p:sp>
        <p:nvSpPr>
          <p:cNvPr id="4" name="Slide Number Placeholder 3">
            <a:extLst>
              <a:ext uri="{FF2B5EF4-FFF2-40B4-BE49-F238E27FC236}">
                <a16:creationId xmlns:a16="http://schemas.microsoft.com/office/drawing/2014/main" id="{49DD4063-9244-7F2A-C441-D6949EF4EE23}"/>
              </a:ext>
            </a:extLst>
          </p:cNvPr>
          <p:cNvSpPr>
            <a:spLocks noGrp="1"/>
          </p:cNvSpPr>
          <p:nvPr>
            <p:ph type="sldNum" sz="quarter" idx="5"/>
          </p:nvPr>
        </p:nvSpPr>
        <p:spPr/>
        <p:txBody>
          <a:bodyPr/>
          <a:lstStyle/>
          <a:p>
            <a:fld id="{47FFB008-8E38-46F5-BCB9-8CFEF233CF3A}" type="slidenum">
              <a:rPr lang="en-IN" smtClean="0"/>
              <a:t>14</a:t>
            </a:fld>
            <a:endParaRPr lang="en-IN" dirty="0"/>
          </a:p>
        </p:txBody>
      </p:sp>
    </p:spTree>
    <p:extLst>
      <p:ext uri="{BB962C8B-B14F-4D97-AF65-F5344CB8AC3E}">
        <p14:creationId xmlns:p14="http://schemas.microsoft.com/office/powerpoint/2010/main" val="38743184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A312F-C415-92BC-CA31-49852B372F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09770B-2793-2DDE-F473-AE71FDDD7F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031DDA-A9AB-888E-D09C-54B3AA0D9ABB}"/>
              </a:ext>
            </a:extLst>
          </p:cNvPr>
          <p:cNvSpPr>
            <a:spLocks noGrp="1"/>
          </p:cNvSpPr>
          <p:nvPr>
            <p:ph type="body" idx="1"/>
          </p:nvPr>
        </p:nvSpPr>
        <p:spPr/>
        <p:txBody>
          <a:bodyPr/>
          <a:lstStyle/>
          <a:p>
            <a:r>
              <a:rPr lang="en-US" dirty="0"/>
              <a:t>To conclude, this project demonstrates how data analysis and machine learning can be applied to movie metadata to classify movies into Hit, Average, and Flop categories.</a:t>
            </a:r>
          </a:p>
          <a:p>
            <a:r>
              <a:rPr lang="en-US" dirty="0"/>
              <a:t>I performed exploratory data analysis using Power BI, prepared the dataset for machine learning, and compared five classification algorithms.</a:t>
            </a:r>
          </a:p>
          <a:p>
            <a:r>
              <a:rPr lang="en-US" dirty="0" err="1"/>
              <a:t>XGBoost</a:t>
            </a:r>
            <a:r>
              <a:rPr lang="en-US" dirty="0"/>
              <a:t> achieved the highest accuracy of 79.3%, while Random Forest was selected for the final implementation, achieving an accuracy of 74.6%.</a:t>
            </a:r>
          </a:p>
          <a:p>
            <a:r>
              <a:rPr lang="en-US" dirty="0"/>
              <a:t>The project also incorporates a web-based prediction system and an AI-powered movie research assistant to make the analysis more accessible and interactive.</a:t>
            </a:r>
          </a:p>
          <a:p>
            <a:r>
              <a:rPr lang="en-US" dirty="0"/>
              <a:t>For future improvements, I plan to address class imbalance, improve the prediction of Flop movies, explore additional features and model optimization, and further test the web application.</a:t>
            </a:r>
          </a:p>
          <a:p>
            <a:r>
              <a:rPr lang="en-US" dirty="0"/>
              <a:t>Overall, this project demonstrates the potential of combining machine learning, data visualization, web development, and conversational AI in a single application.</a:t>
            </a:r>
          </a:p>
          <a:p>
            <a:endParaRPr lang="en-IN" dirty="0"/>
          </a:p>
        </p:txBody>
      </p:sp>
      <p:sp>
        <p:nvSpPr>
          <p:cNvPr id="4" name="Slide Number Placeholder 3">
            <a:extLst>
              <a:ext uri="{FF2B5EF4-FFF2-40B4-BE49-F238E27FC236}">
                <a16:creationId xmlns:a16="http://schemas.microsoft.com/office/drawing/2014/main" id="{44F82B5D-C462-D3DD-F183-B65AA9A9CFD7}"/>
              </a:ext>
            </a:extLst>
          </p:cNvPr>
          <p:cNvSpPr>
            <a:spLocks noGrp="1"/>
          </p:cNvSpPr>
          <p:nvPr>
            <p:ph type="sldNum" sz="quarter" idx="5"/>
          </p:nvPr>
        </p:nvSpPr>
        <p:spPr/>
        <p:txBody>
          <a:bodyPr/>
          <a:lstStyle/>
          <a:p>
            <a:fld id="{47FFB008-8E38-46F5-BCB9-8CFEF233CF3A}" type="slidenum">
              <a:rPr lang="en-IN" smtClean="0"/>
              <a:t>15</a:t>
            </a:fld>
            <a:endParaRPr lang="en-IN" dirty="0"/>
          </a:p>
        </p:txBody>
      </p:sp>
    </p:spTree>
    <p:extLst>
      <p:ext uri="{BB962C8B-B14F-4D97-AF65-F5344CB8AC3E}">
        <p14:creationId xmlns:p14="http://schemas.microsoft.com/office/powerpoint/2010/main" val="3309436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brings me to the end of my presentation.</a:t>
            </a:r>
          </a:p>
          <a:p>
            <a:r>
              <a:rPr lang="en-US" dirty="0"/>
              <a:t>Thank you for your time and attention. I'm happy to answer any questions you may have about the project, the dataset, the machine learning models, or the application.</a:t>
            </a:r>
          </a:p>
          <a:p>
            <a:endParaRPr lang="en-US" dirty="0"/>
          </a:p>
        </p:txBody>
      </p:sp>
      <p:sp>
        <p:nvSpPr>
          <p:cNvPr id="4" name="Slide Number Placeholder 3"/>
          <p:cNvSpPr>
            <a:spLocks noGrp="1"/>
          </p:cNvSpPr>
          <p:nvPr>
            <p:ph type="sldNum" sz="quarter" idx="5"/>
          </p:nvPr>
        </p:nvSpPr>
        <p:spPr/>
        <p:txBody>
          <a:bodyPr/>
          <a:lstStyle/>
          <a:p>
            <a:fld id="{47FFB008-8E38-46F5-BCB9-8CFEF233CF3A}" type="slidenum">
              <a:rPr lang="en-IN" smtClean="0"/>
              <a:pPr/>
              <a:t>16</a:t>
            </a:fld>
            <a:endParaRPr lang="en-IN" dirty="0"/>
          </a:p>
        </p:txBody>
      </p:sp>
    </p:spTree>
    <p:extLst>
      <p:ext uri="{BB962C8B-B14F-4D97-AF65-F5344CB8AC3E}">
        <p14:creationId xmlns:p14="http://schemas.microsoft.com/office/powerpoint/2010/main" val="8867969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Thank you, everyone, for listening to my presentation.</a:t>
            </a:r>
          </a:p>
          <a:p>
            <a:endParaRPr lang="en-US" dirty="0"/>
          </a:p>
        </p:txBody>
      </p:sp>
      <p:sp>
        <p:nvSpPr>
          <p:cNvPr id="4" name="Slide Number Placeholder 3"/>
          <p:cNvSpPr>
            <a:spLocks noGrp="1"/>
          </p:cNvSpPr>
          <p:nvPr>
            <p:ph type="sldNum" sz="quarter" idx="5"/>
          </p:nvPr>
        </p:nvSpPr>
        <p:spPr/>
        <p:txBody>
          <a:bodyPr/>
          <a:lstStyle/>
          <a:p>
            <a:fld id="{47FFB008-8E38-46F5-BCB9-8CFEF233CF3A}" type="slidenum">
              <a:rPr lang="en-IN" smtClean="0"/>
              <a:pPr/>
              <a:t>17</a:t>
            </a:fld>
            <a:endParaRPr lang="en-IN" dirty="0"/>
          </a:p>
        </p:txBody>
      </p:sp>
    </p:spTree>
    <p:extLst>
      <p:ext uri="{BB962C8B-B14F-4D97-AF65-F5344CB8AC3E}">
        <p14:creationId xmlns:p14="http://schemas.microsoft.com/office/powerpoint/2010/main" val="421706387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latin typeface="Times New Roman" panose="02020603050405020304" pitchFamily="18" charset="0"/>
            </a:endParaRPr>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latin typeface="Times New Roman" panose="02020603050405020304" pitchFamily="18" charset="0"/>
            </a:endParaRPr>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latin typeface="Times New Roman" panose="02020603050405020304" pitchFamily="18" charset="0"/>
            </a:endParaRPr>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latin typeface="Times New Roman" panose="02020603050405020304" pitchFamily="18" charset="0"/>
            </a:endParaRP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Times New Roman" panose="02020603050405020304" pitchFamily="18"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Times New Roman" panose="02020603050405020304" pitchFamily="18" charset="0"/>
              </a:rPr>
              <a:t>Click to edit Master title style</a:t>
            </a:r>
          </a:p>
        </p:txBody>
      </p:sp>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latin typeface="Times New Roman" panose="02020603050405020304" pitchFamily="18" charset="0"/>
            </a:endParaRPr>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Times New Roman" panose="02020603050405020304" pitchFamily="18"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latin typeface="Times New Roman" panose="02020603050405020304" pitchFamily="18" charset="0"/>
            </a:endParaRPr>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latin typeface="Times New Roman" panose="02020603050405020304" pitchFamily="18" charset="0"/>
              </a:rPr>
              <a:t>CONFIDENTIAL</a:t>
            </a:r>
            <a:r>
              <a:rPr lang="en-US" sz="1100" dirty="0">
                <a:solidFill>
                  <a:schemeClr val="bg2">
                    <a:lumMod val="75000"/>
                  </a:schemeClr>
                </a:solidFill>
                <a:latin typeface="Times New Roman" panose="02020603050405020304" pitchFamily="18" charset="0"/>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Times New Roman" panose="02020603050405020304"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1" y="3295185"/>
            <a:ext cx="12192000" cy="8115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latin typeface="Times New Roman" panose="02020603050405020304" pitchFamily="18" charset="0"/>
              </a:rPr>
              <a:t>Predicting Movie Success</a:t>
            </a:r>
          </a:p>
          <a:p>
            <a:pPr algn="ctr"/>
            <a:r>
              <a:rPr lang="en-US" b="1" dirty="0">
                <a:latin typeface="Times New Roman" panose="02020603050405020304" pitchFamily="18" charset="0"/>
              </a:rPr>
              <a:t>Presented by : Dhanush Krishnan A U</a:t>
            </a:r>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3" name="Network line"/>
          <p:cNvCxnSpPr/>
          <p:nvPr/>
        </p:nvCxnSpPr>
        <p:spPr>
          <a:xfrm flipV="1">
            <a:off x="10388498" y="457200"/>
            <a:ext cx="405994" cy="402336"/>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4" name="Network line"/>
          <p:cNvCxnSpPr/>
          <p:nvPr/>
        </p:nvCxnSpPr>
        <p:spPr>
          <a:xfrm>
            <a:off x="10794492" y="457200"/>
            <a:ext cx="372160" cy="347472"/>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5" name="Network line"/>
          <p:cNvCxnSpPr/>
          <p:nvPr/>
        </p:nvCxnSpPr>
        <p:spPr>
          <a:xfrm flipV="1">
            <a:off x="11166652" y="365760"/>
            <a:ext cx="439827" cy="438912"/>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6" name="Network line"/>
          <p:cNvCxnSpPr/>
          <p:nvPr/>
        </p:nvCxnSpPr>
        <p:spPr>
          <a:xfrm>
            <a:off x="11606479" y="365760"/>
            <a:ext cx="270662" cy="310896"/>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7" name="Network line"/>
          <p:cNvCxnSpPr/>
          <p:nvPr/>
        </p:nvCxnSpPr>
        <p:spPr>
          <a:xfrm flipV="1">
            <a:off x="11166652" y="676656"/>
            <a:ext cx="710489" cy="128016"/>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8" name="Network line"/>
          <p:cNvCxnSpPr/>
          <p:nvPr/>
        </p:nvCxnSpPr>
        <p:spPr>
          <a:xfrm flipH="1">
            <a:off x="11132820" y="804672"/>
            <a:ext cx="33832" cy="283464"/>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9" name="Network line"/>
          <p:cNvCxnSpPr/>
          <p:nvPr/>
        </p:nvCxnSpPr>
        <p:spPr>
          <a:xfrm flipH="1" flipV="1">
            <a:off x="10591495" y="246888"/>
            <a:ext cx="202997" cy="210312"/>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10" name="Network line"/>
          <p:cNvCxnSpPr/>
          <p:nvPr/>
        </p:nvCxnSpPr>
        <p:spPr>
          <a:xfrm flipV="1">
            <a:off x="10388498" y="804672"/>
            <a:ext cx="778154" cy="54864"/>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11" name="Network line"/>
          <p:cNvCxnSpPr/>
          <p:nvPr/>
        </p:nvCxnSpPr>
        <p:spPr>
          <a:xfrm flipH="1">
            <a:off x="11504980" y="676656"/>
            <a:ext cx="372161" cy="347472"/>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12" name="Network line"/>
          <p:cNvCxnSpPr/>
          <p:nvPr/>
        </p:nvCxnSpPr>
        <p:spPr>
          <a:xfrm flipV="1">
            <a:off x="11132820" y="1024128"/>
            <a:ext cx="372160" cy="64008"/>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sp>
        <p:nvSpPr>
          <p:cNvPr id="13" name="Network node"/>
          <p:cNvSpPr/>
          <p:nvPr/>
        </p:nvSpPr>
        <p:spPr>
          <a:xfrm>
            <a:off x="10342778" y="813815"/>
            <a:ext cx="91440" cy="91440"/>
          </a:xfrm>
          <a:prstGeom prst="ellipse">
            <a:avLst/>
          </a:prstGeom>
          <a:solidFill>
            <a:srgbClr val="67D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Network node"/>
          <p:cNvSpPr/>
          <p:nvPr/>
        </p:nvSpPr>
        <p:spPr>
          <a:xfrm>
            <a:off x="10748772" y="411480"/>
            <a:ext cx="91440" cy="91440"/>
          </a:xfrm>
          <a:prstGeom prst="ellipse">
            <a:avLst/>
          </a:prstGeom>
          <a:solidFill>
            <a:srgbClr val="67D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Network node"/>
          <p:cNvSpPr/>
          <p:nvPr/>
        </p:nvSpPr>
        <p:spPr>
          <a:xfrm>
            <a:off x="11102644" y="740664"/>
            <a:ext cx="128016" cy="128016"/>
          </a:xfrm>
          <a:prstGeom prst="ellipse">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Network node"/>
          <p:cNvSpPr/>
          <p:nvPr/>
        </p:nvSpPr>
        <p:spPr>
          <a:xfrm>
            <a:off x="11542471" y="301752"/>
            <a:ext cx="128016" cy="128016"/>
          </a:xfrm>
          <a:prstGeom prst="ellipse">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Network node"/>
          <p:cNvSpPr/>
          <p:nvPr/>
        </p:nvSpPr>
        <p:spPr>
          <a:xfrm>
            <a:off x="11831421" y="630936"/>
            <a:ext cx="91440" cy="91440"/>
          </a:xfrm>
          <a:prstGeom prst="ellipse">
            <a:avLst/>
          </a:prstGeom>
          <a:solidFill>
            <a:srgbClr val="67D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Network node"/>
          <p:cNvSpPr/>
          <p:nvPr/>
        </p:nvSpPr>
        <p:spPr>
          <a:xfrm>
            <a:off x="11087100" y="1042415"/>
            <a:ext cx="91440" cy="91440"/>
          </a:xfrm>
          <a:prstGeom prst="ellipse">
            <a:avLst/>
          </a:prstGeom>
          <a:solidFill>
            <a:srgbClr val="67D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Network node"/>
          <p:cNvSpPr/>
          <p:nvPr/>
        </p:nvSpPr>
        <p:spPr>
          <a:xfrm>
            <a:off x="10545775" y="201168"/>
            <a:ext cx="91440" cy="91440"/>
          </a:xfrm>
          <a:prstGeom prst="ellipse">
            <a:avLst/>
          </a:prstGeom>
          <a:solidFill>
            <a:srgbClr val="67D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Network node"/>
          <p:cNvSpPr/>
          <p:nvPr/>
        </p:nvSpPr>
        <p:spPr>
          <a:xfrm>
            <a:off x="11459260" y="978408"/>
            <a:ext cx="91440" cy="91440"/>
          </a:xfrm>
          <a:prstGeom prst="ellipse">
            <a:avLst/>
          </a:prstGeom>
          <a:solidFill>
            <a:srgbClr val="67D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a:extLst>
              <a:ext uri="{FF2B5EF4-FFF2-40B4-BE49-F238E27FC236}">
                <a16:creationId xmlns:a16="http://schemas.microsoft.com/office/drawing/2014/main" id="{C938B360-A630-EE21-210D-844E85048949}"/>
              </a:ext>
            </a:extLst>
          </p:cNvPr>
          <p:cNvSpPr>
            <a:spLocks noGrp="1"/>
          </p:cNvSpPr>
          <p:nvPr>
            <p:ph type="title"/>
          </p:nvPr>
        </p:nvSpPr>
        <p:spPr>
          <a:xfrm>
            <a:off x="548640" y="347472"/>
            <a:ext cx="9509760" cy="731520"/>
          </a:xfrm>
        </p:spPr>
        <p:txBody>
          <a:bodyPr wrap="square" lIns="0" tIns="0" rIns="0" bIns="0" anchor="ctr">
            <a:noAutofit/>
          </a:bodyPr>
          <a:lstStyle/>
          <a:p>
            <a:pPr marL="0" indent="0" algn="l">
              <a:buNone/>
            </a:pPr>
            <a:r>
              <a:rPr lang="en-US" sz="3200" b="1" dirty="0">
                <a:solidFill>
                  <a:srgbClr val="0B1F3A"/>
                </a:solidFill>
                <a:latin typeface="Calibri"/>
              </a:rPr>
              <a:t>Agenda</a:t>
            </a:r>
            <a:endParaRPr lang="en-IN" dirty="0"/>
          </a:p>
        </p:txBody>
      </p:sp>
      <p:sp>
        <p:nvSpPr>
          <p:cNvPr id="21" name="Agenda card"/>
          <p:cNvSpPr/>
          <p:nvPr/>
        </p:nvSpPr>
        <p:spPr>
          <a:xfrm>
            <a:off x="548640" y="1417320"/>
            <a:ext cx="5440680" cy="621792"/>
          </a:xfrm>
          <a:prstGeom prst="rect">
            <a:avLst/>
          </a:prstGeom>
          <a:solidFill>
            <a:srgbClr val="F3F7FB"/>
          </a:solidFill>
          <a:ln w="9525">
            <a:solidFill>
              <a:srgbClr val="DCE5EE"/>
            </a:solidFill>
          </a:ln>
          <a:effectLst>
            <a:outerShdw blurRad="76200" dist="19050" dir="5400000" algn="t" rotWithShape="0">
              <a:srgbClr val="0B1F3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Marker"/>
          <p:cNvSpPr/>
          <p:nvPr/>
        </p:nvSpPr>
        <p:spPr>
          <a:xfrm>
            <a:off x="786384" y="1636776"/>
            <a:ext cx="182880" cy="182880"/>
          </a:xfrm>
          <a:prstGeom prst="ellipse">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Agenda item"/>
          <p:cNvSpPr txBox="1"/>
          <p:nvPr/>
        </p:nvSpPr>
        <p:spPr>
          <a:xfrm>
            <a:off x="1234440" y="1417320"/>
            <a:ext cx="4572000" cy="621792"/>
          </a:xfrm>
          <a:prstGeom prst="rect">
            <a:avLst/>
          </a:prstGeom>
          <a:noFill/>
        </p:spPr>
        <p:txBody>
          <a:bodyPr wrap="square" lIns="0" tIns="0" rIns="0" bIns="0" anchor="ctr">
            <a:spAutoFit/>
          </a:bodyPr>
          <a:lstStyle/>
          <a:p>
            <a:pPr>
              <a:spcAft>
                <a:spcPts val="0"/>
              </a:spcAft>
            </a:pPr>
            <a:r>
              <a:rPr sz="1800" b="0">
                <a:solidFill>
                  <a:srgbClr val="1E293B"/>
                </a:solidFill>
                <a:latin typeface="Calibri"/>
              </a:rPr>
              <a:t>Introduction</a:t>
            </a:r>
          </a:p>
        </p:txBody>
      </p:sp>
      <p:sp>
        <p:nvSpPr>
          <p:cNvPr id="24" name="Agenda card"/>
          <p:cNvSpPr/>
          <p:nvPr/>
        </p:nvSpPr>
        <p:spPr>
          <a:xfrm>
            <a:off x="548640" y="2148840"/>
            <a:ext cx="5440680" cy="621792"/>
          </a:xfrm>
          <a:prstGeom prst="rect">
            <a:avLst/>
          </a:prstGeom>
          <a:solidFill>
            <a:srgbClr val="F3F7FB"/>
          </a:solidFill>
          <a:ln w="9525">
            <a:solidFill>
              <a:srgbClr val="DCE5EE"/>
            </a:solidFill>
          </a:ln>
          <a:effectLst>
            <a:outerShdw blurRad="76200" dist="19050" dir="5400000" algn="t" rotWithShape="0">
              <a:srgbClr val="0B1F3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Marker"/>
          <p:cNvSpPr/>
          <p:nvPr/>
        </p:nvSpPr>
        <p:spPr>
          <a:xfrm>
            <a:off x="786384" y="2368296"/>
            <a:ext cx="182880" cy="182880"/>
          </a:xfrm>
          <a:prstGeom prst="ellipse">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Agenda item"/>
          <p:cNvSpPr txBox="1"/>
          <p:nvPr/>
        </p:nvSpPr>
        <p:spPr>
          <a:xfrm>
            <a:off x="1234440" y="2148840"/>
            <a:ext cx="4572000" cy="621792"/>
          </a:xfrm>
          <a:prstGeom prst="rect">
            <a:avLst/>
          </a:prstGeom>
          <a:noFill/>
        </p:spPr>
        <p:txBody>
          <a:bodyPr wrap="square" lIns="0" tIns="0" rIns="0" bIns="0" anchor="ctr">
            <a:spAutoFit/>
          </a:bodyPr>
          <a:lstStyle/>
          <a:p>
            <a:pPr>
              <a:spcAft>
                <a:spcPts val="0"/>
              </a:spcAft>
            </a:pPr>
            <a:r>
              <a:rPr sz="1800" b="0">
                <a:solidFill>
                  <a:srgbClr val="1E293B"/>
                </a:solidFill>
                <a:latin typeface="Calibri"/>
              </a:rPr>
              <a:t>Problem Statement</a:t>
            </a:r>
          </a:p>
        </p:txBody>
      </p:sp>
      <p:sp>
        <p:nvSpPr>
          <p:cNvPr id="27" name="Agenda card"/>
          <p:cNvSpPr/>
          <p:nvPr/>
        </p:nvSpPr>
        <p:spPr>
          <a:xfrm>
            <a:off x="548640" y="2880360"/>
            <a:ext cx="5440680" cy="621792"/>
          </a:xfrm>
          <a:prstGeom prst="rect">
            <a:avLst/>
          </a:prstGeom>
          <a:solidFill>
            <a:srgbClr val="F3F7FB"/>
          </a:solidFill>
          <a:ln w="9525">
            <a:solidFill>
              <a:srgbClr val="DCE5EE"/>
            </a:solidFill>
          </a:ln>
          <a:effectLst>
            <a:outerShdw blurRad="76200" dist="19050" dir="5400000" algn="t" rotWithShape="0">
              <a:srgbClr val="0B1F3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Marker"/>
          <p:cNvSpPr/>
          <p:nvPr/>
        </p:nvSpPr>
        <p:spPr>
          <a:xfrm>
            <a:off x="786384" y="3099816"/>
            <a:ext cx="182880" cy="182880"/>
          </a:xfrm>
          <a:prstGeom prst="ellipse">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Agenda item"/>
          <p:cNvSpPr txBox="1"/>
          <p:nvPr/>
        </p:nvSpPr>
        <p:spPr>
          <a:xfrm>
            <a:off x="1234440" y="2880360"/>
            <a:ext cx="4572000" cy="621792"/>
          </a:xfrm>
          <a:prstGeom prst="rect">
            <a:avLst/>
          </a:prstGeom>
          <a:noFill/>
        </p:spPr>
        <p:txBody>
          <a:bodyPr wrap="square" lIns="0" tIns="0" rIns="0" bIns="0" anchor="ctr">
            <a:spAutoFit/>
          </a:bodyPr>
          <a:lstStyle/>
          <a:p>
            <a:pPr>
              <a:spcAft>
                <a:spcPts val="0"/>
              </a:spcAft>
            </a:pPr>
            <a:r>
              <a:rPr sz="1800" b="0">
                <a:solidFill>
                  <a:srgbClr val="1E293B"/>
                </a:solidFill>
                <a:latin typeface="Calibri"/>
              </a:rPr>
              <a:t>Project Objectives</a:t>
            </a:r>
          </a:p>
        </p:txBody>
      </p:sp>
      <p:sp>
        <p:nvSpPr>
          <p:cNvPr id="30" name="Agenda card"/>
          <p:cNvSpPr/>
          <p:nvPr/>
        </p:nvSpPr>
        <p:spPr>
          <a:xfrm>
            <a:off x="548640" y="3611880"/>
            <a:ext cx="5440680" cy="621792"/>
          </a:xfrm>
          <a:prstGeom prst="rect">
            <a:avLst/>
          </a:prstGeom>
          <a:solidFill>
            <a:srgbClr val="F3F7FB"/>
          </a:solidFill>
          <a:ln w="9525">
            <a:solidFill>
              <a:srgbClr val="DCE5EE"/>
            </a:solidFill>
          </a:ln>
          <a:effectLst>
            <a:outerShdw blurRad="76200" dist="19050" dir="5400000" algn="t" rotWithShape="0">
              <a:srgbClr val="0B1F3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Marker"/>
          <p:cNvSpPr/>
          <p:nvPr/>
        </p:nvSpPr>
        <p:spPr>
          <a:xfrm>
            <a:off x="786384" y="3831336"/>
            <a:ext cx="182880" cy="182880"/>
          </a:xfrm>
          <a:prstGeom prst="ellipse">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Agenda item"/>
          <p:cNvSpPr txBox="1"/>
          <p:nvPr/>
        </p:nvSpPr>
        <p:spPr>
          <a:xfrm>
            <a:off x="1234440" y="3611880"/>
            <a:ext cx="4572000" cy="621792"/>
          </a:xfrm>
          <a:prstGeom prst="rect">
            <a:avLst/>
          </a:prstGeom>
          <a:noFill/>
        </p:spPr>
        <p:txBody>
          <a:bodyPr wrap="square" lIns="0" tIns="0" rIns="0" bIns="0" anchor="ctr">
            <a:spAutoFit/>
          </a:bodyPr>
          <a:lstStyle/>
          <a:p>
            <a:pPr>
              <a:spcAft>
                <a:spcPts val="0"/>
              </a:spcAft>
            </a:pPr>
            <a:r>
              <a:rPr sz="1800" b="0">
                <a:solidFill>
                  <a:srgbClr val="1E293B"/>
                </a:solidFill>
                <a:latin typeface="Calibri"/>
              </a:rPr>
              <a:t>Dataset Overview</a:t>
            </a:r>
          </a:p>
        </p:txBody>
      </p:sp>
      <p:sp>
        <p:nvSpPr>
          <p:cNvPr id="33" name="Agenda card"/>
          <p:cNvSpPr/>
          <p:nvPr/>
        </p:nvSpPr>
        <p:spPr>
          <a:xfrm>
            <a:off x="548640" y="4343400"/>
            <a:ext cx="5440680" cy="621792"/>
          </a:xfrm>
          <a:prstGeom prst="rect">
            <a:avLst/>
          </a:prstGeom>
          <a:solidFill>
            <a:srgbClr val="F3F7FB"/>
          </a:solidFill>
          <a:ln w="9525">
            <a:solidFill>
              <a:srgbClr val="DCE5EE"/>
            </a:solidFill>
          </a:ln>
          <a:effectLst>
            <a:outerShdw blurRad="76200" dist="19050" dir="5400000" algn="t" rotWithShape="0">
              <a:srgbClr val="0B1F3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Marker"/>
          <p:cNvSpPr/>
          <p:nvPr/>
        </p:nvSpPr>
        <p:spPr>
          <a:xfrm>
            <a:off x="786384" y="4562856"/>
            <a:ext cx="182880" cy="182880"/>
          </a:xfrm>
          <a:prstGeom prst="ellipse">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Agenda item"/>
          <p:cNvSpPr txBox="1"/>
          <p:nvPr/>
        </p:nvSpPr>
        <p:spPr>
          <a:xfrm>
            <a:off x="1234440" y="4343400"/>
            <a:ext cx="4572000" cy="621792"/>
          </a:xfrm>
          <a:prstGeom prst="rect">
            <a:avLst/>
          </a:prstGeom>
          <a:noFill/>
        </p:spPr>
        <p:txBody>
          <a:bodyPr wrap="square" lIns="0" tIns="0" rIns="0" bIns="0" anchor="ctr">
            <a:spAutoFit/>
          </a:bodyPr>
          <a:lstStyle/>
          <a:p>
            <a:pPr>
              <a:spcAft>
                <a:spcPts val="0"/>
              </a:spcAft>
            </a:pPr>
            <a:r>
              <a:rPr sz="1800" b="0">
                <a:solidFill>
                  <a:srgbClr val="1E293B"/>
                </a:solidFill>
                <a:latin typeface="Calibri"/>
              </a:rPr>
              <a:t>Exploratory Data Analysis (EDA)</a:t>
            </a:r>
          </a:p>
        </p:txBody>
      </p:sp>
      <p:sp>
        <p:nvSpPr>
          <p:cNvPr id="36" name="Agenda card"/>
          <p:cNvSpPr/>
          <p:nvPr/>
        </p:nvSpPr>
        <p:spPr>
          <a:xfrm>
            <a:off x="548640" y="5074920"/>
            <a:ext cx="5440680" cy="621792"/>
          </a:xfrm>
          <a:prstGeom prst="rect">
            <a:avLst/>
          </a:prstGeom>
          <a:solidFill>
            <a:srgbClr val="F3F7FB"/>
          </a:solidFill>
          <a:ln w="9525">
            <a:solidFill>
              <a:srgbClr val="DCE5EE"/>
            </a:solidFill>
          </a:ln>
          <a:effectLst>
            <a:outerShdw blurRad="76200" dist="19050" dir="5400000" algn="t" rotWithShape="0">
              <a:srgbClr val="0B1F3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Marker"/>
          <p:cNvSpPr/>
          <p:nvPr/>
        </p:nvSpPr>
        <p:spPr>
          <a:xfrm>
            <a:off x="786384" y="5294376"/>
            <a:ext cx="182880" cy="182880"/>
          </a:xfrm>
          <a:prstGeom prst="ellipse">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Agenda item"/>
          <p:cNvSpPr txBox="1"/>
          <p:nvPr/>
        </p:nvSpPr>
        <p:spPr>
          <a:xfrm>
            <a:off x="1234440" y="5074920"/>
            <a:ext cx="4572000" cy="621792"/>
          </a:xfrm>
          <a:prstGeom prst="rect">
            <a:avLst/>
          </a:prstGeom>
          <a:noFill/>
        </p:spPr>
        <p:txBody>
          <a:bodyPr wrap="square" lIns="0" tIns="0" rIns="0" bIns="0" anchor="ctr">
            <a:spAutoFit/>
          </a:bodyPr>
          <a:lstStyle/>
          <a:p>
            <a:pPr>
              <a:spcAft>
                <a:spcPts val="0"/>
              </a:spcAft>
            </a:pPr>
            <a:r>
              <a:rPr sz="1800" b="0">
                <a:solidFill>
                  <a:srgbClr val="1E293B"/>
                </a:solidFill>
                <a:latin typeface="Calibri"/>
              </a:rPr>
              <a:t>Data Preprocessing</a:t>
            </a:r>
          </a:p>
        </p:txBody>
      </p:sp>
      <p:sp>
        <p:nvSpPr>
          <p:cNvPr id="39" name="Agenda card"/>
          <p:cNvSpPr/>
          <p:nvPr/>
        </p:nvSpPr>
        <p:spPr>
          <a:xfrm>
            <a:off x="6199631" y="1417320"/>
            <a:ext cx="5440680" cy="621792"/>
          </a:xfrm>
          <a:prstGeom prst="rect">
            <a:avLst/>
          </a:prstGeom>
          <a:solidFill>
            <a:srgbClr val="F3F7FB"/>
          </a:solidFill>
          <a:ln w="9525">
            <a:solidFill>
              <a:srgbClr val="DCE5EE"/>
            </a:solidFill>
          </a:ln>
          <a:effectLst>
            <a:outerShdw blurRad="76200" dist="19050" dir="5400000" algn="t" rotWithShape="0">
              <a:srgbClr val="0B1F3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Marker"/>
          <p:cNvSpPr/>
          <p:nvPr/>
        </p:nvSpPr>
        <p:spPr>
          <a:xfrm>
            <a:off x="6437376" y="1636776"/>
            <a:ext cx="182880" cy="182880"/>
          </a:xfrm>
          <a:prstGeom prst="ellipse">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Agenda item"/>
          <p:cNvSpPr txBox="1"/>
          <p:nvPr/>
        </p:nvSpPr>
        <p:spPr>
          <a:xfrm>
            <a:off x="6885431" y="1417320"/>
            <a:ext cx="4572000" cy="621792"/>
          </a:xfrm>
          <a:prstGeom prst="rect">
            <a:avLst/>
          </a:prstGeom>
          <a:noFill/>
        </p:spPr>
        <p:txBody>
          <a:bodyPr wrap="square" lIns="0" tIns="0" rIns="0" bIns="0" anchor="ctr">
            <a:spAutoFit/>
          </a:bodyPr>
          <a:lstStyle/>
          <a:p>
            <a:pPr>
              <a:spcAft>
                <a:spcPts val="0"/>
              </a:spcAft>
            </a:pPr>
            <a:r>
              <a:rPr sz="1800" b="0">
                <a:solidFill>
                  <a:srgbClr val="1E293B"/>
                </a:solidFill>
                <a:latin typeface="Calibri"/>
              </a:rPr>
              <a:t>Proposed Methodology</a:t>
            </a:r>
          </a:p>
        </p:txBody>
      </p:sp>
      <p:sp>
        <p:nvSpPr>
          <p:cNvPr id="42" name="Agenda card"/>
          <p:cNvSpPr/>
          <p:nvPr/>
        </p:nvSpPr>
        <p:spPr>
          <a:xfrm>
            <a:off x="6199631" y="2148840"/>
            <a:ext cx="5440680" cy="621792"/>
          </a:xfrm>
          <a:prstGeom prst="rect">
            <a:avLst/>
          </a:prstGeom>
          <a:solidFill>
            <a:srgbClr val="F3F7FB"/>
          </a:solidFill>
          <a:ln w="9525">
            <a:solidFill>
              <a:srgbClr val="DCE5EE"/>
            </a:solidFill>
          </a:ln>
          <a:effectLst>
            <a:outerShdw blurRad="76200" dist="19050" dir="5400000" algn="t" rotWithShape="0">
              <a:srgbClr val="0B1F3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Marker"/>
          <p:cNvSpPr/>
          <p:nvPr/>
        </p:nvSpPr>
        <p:spPr>
          <a:xfrm>
            <a:off x="6437376" y="2368296"/>
            <a:ext cx="182880" cy="182880"/>
          </a:xfrm>
          <a:prstGeom prst="ellipse">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Agenda item"/>
          <p:cNvSpPr txBox="1"/>
          <p:nvPr/>
        </p:nvSpPr>
        <p:spPr>
          <a:xfrm>
            <a:off x="6885431" y="2148840"/>
            <a:ext cx="4572000" cy="621792"/>
          </a:xfrm>
          <a:prstGeom prst="rect">
            <a:avLst/>
          </a:prstGeom>
          <a:noFill/>
        </p:spPr>
        <p:txBody>
          <a:bodyPr wrap="square" lIns="0" tIns="0" rIns="0" bIns="0" anchor="ctr">
            <a:spAutoFit/>
          </a:bodyPr>
          <a:lstStyle/>
          <a:p>
            <a:pPr>
              <a:spcAft>
                <a:spcPts val="0"/>
              </a:spcAft>
            </a:pPr>
            <a:r>
              <a:rPr sz="1800" b="0">
                <a:solidFill>
                  <a:srgbClr val="1E293B"/>
                </a:solidFill>
                <a:latin typeface="Calibri"/>
              </a:rPr>
              <a:t>Machine Learning Models</a:t>
            </a:r>
          </a:p>
        </p:txBody>
      </p:sp>
      <p:sp>
        <p:nvSpPr>
          <p:cNvPr id="45" name="Agenda card"/>
          <p:cNvSpPr/>
          <p:nvPr/>
        </p:nvSpPr>
        <p:spPr>
          <a:xfrm>
            <a:off x="6199631" y="2880360"/>
            <a:ext cx="5440680" cy="621792"/>
          </a:xfrm>
          <a:prstGeom prst="rect">
            <a:avLst/>
          </a:prstGeom>
          <a:solidFill>
            <a:srgbClr val="F3F7FB"/>
          </a:solidFill>
          <a:ln w="9525">
            <a:solidFill>
              <a:srgbClr val="DCE5EE"/>
            </a:solidFill>
          </a:ln>
          <a:effectLst>
            <a:outerShdw blurRad="76200" dist="19050" dir="5400000" algn="t" rotWithShape="0">
              <a:srgbClr val="0B1F3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Marker"/>
          <p:cNvSpPr/>
          <p:nvPr/>
        </p:nvSpPr>
        <p:spPr>
          <a:xfrm>
            <a:off x="6437376" y="3099816"/>
            <a:ext cx="182880" cy="182880"/>
          </a:xfrm>
          <a:prstGeom prst="ellipse">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Agenda item"/>
          <p:cNvSpPr txBox="1"/>
          <p:nvPr/>
        </p:nvSpPr>
        <p:spPr>
          <a:xfrm>
            <a:off x="6885431" y="2880360"/>
            <a:ext cx="4572000" cy="621792"/>
          </a:xfrm>
          <a:prstGeom prst="rect">
            <a:avLst/>
          </a:prstGeom>
          <a:noFill/>
        </p:spPr>
        <p:txBody>
          <a:bodyPr wrap="square" lIns="0" tIns="0" rIns="0" bIns="0" anchor="ctr">
            <a:spAutoFit/>
          </a:bodyPr>
          <a:lstStyle/>
          <a:p>
            <a:pPr>
              <a:spcAft>
                <a:spcPts val="0"/>
              </a:spcAft>
            </a:pPr>
            <a:r>
              <a:rPr sz="1800" b="0">
                <a:solidFill>
                  <a:srgbClr val="1E293B"/>
                </a:solidFill>
                <a:latin typeface="Calibri"/>
              </a:rPr>
              <a:t>Model Evaluation and Results</a:t>
            </a:r>
          </a:p>
        </p:txBody>
      </p:sp>
      <p:sp>
        <p:nvSpPr>
          <p:cNvPr id="48" name="Agenda card"/>
          <p:cNvSpPr/>
          <p:nvPr/>
        </p:nvSpPr>
        <p:spPr>
          <a:xfrm>
            <a:off x="6199631" y="3611880"/>
            <a:ext cx="5440680" cy="621792"/>
          </a:xfrm>
          <a:prstGeom prst="rect">
            <a:avLst/>
          </a:prstGeom>
          <a:solidFill>
            <a:srgbClr val="F3F7FB"/>
          </a:solidFill>
          <a:ln w="9525">
            <a:solidFill>
              <a:srgbClr val="DCE5EE"/>
            </a:solidFill>
          </a:ln>
          <a:effectLst>
            <a:outerShdw blurRad="76200" dist="19050" dir="5400000" algn="t" rotWithShape="0">
              <a:srgbClr val="0B1F3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Marker"/>
          <p:cNvSpPr/>
          <p:nvPr/>
        </p:nvSpPr>
        <p:spPr>
          <a:xfrm>
            <a:off x="6437376" y="3831336"/>
            <a:ext cx="182880" cy="182880"/>
          </a:xfrm>
          <a:prstGeom prst="ellipse">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Agenda item"/>
          <p:cNvSpPr txBox="1"/>
          <p:nvPr/>
        </p:nvSpPr>
        <p:spPr>
          <a:xfrm>
            <a:off x="6885431" y="3611880"/>
            <a:ext cx="4572000" cy="621792"/>
          </a:xfrm>
          <a:prstGeom prst="rect">
            <a:avLst/>
          </a:prstGeom>
          <a:noFill/>
        </p:spPr>
        <p:txBody>
          <a:bodyPr wrap="square" lIns="0" tIns="0" rIns="0" bIns="0" anchor="ctr">
            <a:spAutoFit/>
          </a:bodyPr>
          <a:lstStyle/>
          <a:p>
            <a:pPr>
              <a:spcAft>
                <a:spcPts val="0"/>
              </a:spcAft>
            </a:pPr>
            <a:r>
              <a:rPr sz="1800" b="0">
                <a:solidFill>
                  <a:srgbClr val="1E293B"/>
                </a:solidFill>
                <a:latin typeface="Calibri"/>
              </a:rPr>
              <a:t>Web Application Development</a:t>
            </a:r>
          </a:p>
        </p:txBody>
      </p:sp>
      <p:sp>
        <p:nvSpPr>
          <p:cNvPr id="51" name="Agenda card"/>
          <p:cNvSpPr/>
          <p:nvPr/>
        </p:nvSpPr>
        <p:spPr>
          <a:xfrm>
            <a:off x="6199631" y="4343400"/>
            <a:ext cx="5440680" cy="621792"/>
          </a:xfrm>
          <a:prstGeom prst="rect">
            <a:avLst/>
          </a:prstGeom>
          <a:solidFill>
            <a:srgbClr val="F3F7FB"/>
          </a:solidFill>
          <a:ln w="9525">
            <a:solidFill>
              <a:srgbClr val="DCE5EE"/>
            </a:solidFill>
          </a:ln>
          <a:effectLst>
            <a:outerShdw blurRad="76200" dist="19050" dir="5400000" algn="t" rotWithShape="0">
              <a:srgbClr val="0B1F3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Marker"/>
          <p:cNvSpPr/>
          <p:nvPr/>
        </p:nvSpPr>
        <p:spPr>
          <a:xfrm>
            <a:off x="6437376" y="4562856"/>
            <a:ext cx="182880" cy="182880"/>
          </a:xfrm>
          <a:prstGeom prst="ellipse">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Agenda item"/>
          <p:cNvSpPr txBox="1"/>
          <p:nvPr/>
        </p:nvSpPr>
        <p:spPr>
          <a:xfrm>
            <a:off x="6885431" y="4343400"/>
            <a:ext cx="4572000" cy="621792"/>
          </a:xfrm>
          <a:prstGeom prst="rect">
            <a:avLst/>
          </a:prstGeom>
          <a:noFill/>
        </p:spPr>
        <p:txBody>
          <a:bodyPr wrap="square" lIns="0" tIns="0" rIns="0" bIns="0" anchor="ctr">
            <a:spAutoFit/>
          </a:bodyPr>
          <a:lstStyle/>
          <a:p>
            <a:pPr>
              <a:spcAft>
                <a:spcPts val="0"/>
              </a:spcAft>
            </a:pPr>
            <a:r>
              <a:rPr sz="1800" b="0">
                <a:solidFill>
                  <a:srgbClr val="1E293B"/>
                </a:solidFill>
                <a:latin typeface="Calibri"/>
              </a:rPr>
              <a:t>Limitations and Future Enhancements</a:t>
            </a:r>
          </a:p>
        </p:txBody>
      </p:sp>
      <p:sp>
        <p:nvSpPr>
          <p:cNvPr id="54" name="Agenda card"/>
          <p:cNvSpPr/>
          <p:nvPr/>
        </p:nvSpPr>
        <p:spPr>
          <a:xfrm>
            <a:off x="6199631" y="5074920"/>
            <a:ext cx="5440680" cy="621792"/>
          </a:xfrm>
          <a:prstGeom prst="rect">
            <a:avLst/>
          </a:prstGeom>
          <a:solidFill>
            <a:srgbClr val="F3F7FB"/>
          </a:solidFill>
          <a:ln w="9525">
            <a:solidFill>
              <a:srgbClr val="DCE5EE"/>
            </a:solidFill>
          </a:ln>
          <a:effectLst>
            <a:outerShdw blurRad="76200" dist="19050" dir="5400000" algn="t" rotWithShape="0">
              <a:srgbClr val="0B1F3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Marker"/>
          <p:cNvSpPr/>
          <p:nvPr/>
        </p:nvSpPr>
        <p:spPr>
          <a:xfrm>
            <a:off x="6437376" y="5294376"/>
            <a:ext cx="182880" cy="182880"/>
          </a:xfrm>
          <a:prstGeom prst="ellipse">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Agenda item"/>
          <p:cNvSpPr txBox="1"/>
          <p:nvPr/>
        </p:nvSpPr>
        <p:spPr>
          <a:xfrm>
            <a:off x="6885431" y="5074920"/>
            <a:ext cx="4572000" cy="621792"/>
          </a:xfrm>
          <a:prstGeom prst="rect">
            <a:avLst/>
          </a:prstGeom>
          <a:noFill/>
        </p:spPr>
        <p:txBody>
          <a:bodyPr wrap="square" lIns="0" tIns="0" rIns="0" bIns="0" anchor="ctr">
            <a:spAutoFit/>
          </a:bodyPr>
          <a:lstStyle/>
          <a:p>
            <a:pPr>
              <a:spcAft>
                <a:spcPts val="0"/>
              </a:spcAft>
            </a:pPr>
            <a:r>
              <a:rPr sz="1800" b="0">
                <a:solidFill>
                  <a:srgbClr val="1E293B"/>
                </a:solidFill>
                <a:latin typeface="Calibri"/>
              </a:rPr>
              <a:t>Conclusion and References</a:t>
            </a:r>
          </a:p>
        </p:txBody>
      </p:sp>
    </p:spTree>
    <p:extLst>
      <p:ext uri="{BB962C8B-B14F-4D97-AF65-F5344CB8AC3E}">
        <p14:creationId xmlns:p14="http://schemas.microsoft.com/office/powerpoint/2010/main" val="19538045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3" name="Network line"/>
          <p:cNvCxnSpPr/>
          <p:nvPr/>
        </p:nvCxnSpPr>
        <p:spPr>
          <a:xfrm flipV="1">
            <a:off x="10388498" y="457200"/>
            <a:ext cx="405994" cy="402336"/>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4" name="Network line"/>
          <p:cNvCxnSpPr/>
          <p:nvPr/>
        </p:nvCxnSpPr>
        <p:spPr>
          <a:xfrm>
            <a:off x="10794492" y="457200"/>
            <a:ext cx="372160" cy="347472"/>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5" name="Network line"/>
          <p:cNvCxnSpPr/>
          <p:nvPr/>
        </p:nvCxnSpPr>
        <p:spPr>
          <a:xfrm flipV="1">
            <a:off x="11166652" y="365760"/>
            <a:ext cx="439827" cy="438912"/>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6" name="Network line"/>
          <p:cNvCxnSpPr/>
          <p:nvPr/>
        </p:nvCxnSpPr>
        <p:spPr>
          <a:xfrm>
            <a:off x="11606479" y="365760"/>
            <a:ext cx="270662" cy="310896"/>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7" name="Network line"/>
          <p:cNvCxnSpPr/>
          <p:nvPr/>
        </p:nvCxnSpPr>
        <p:spPr>
          <a:xfrm flipV="1">
            <a:off x="11166652" y="676656"/>
            <a:ext cx="710489" cy="128016"/>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8" name="Network line"/>
          <p:cNvCxnSpPr/>
          <p:nvPr/>
        </p:nvCxnSpPr>
        <p:spPr>
          <a:xfrm flipH="1">
            <a:off x="11132820" y="804672"/>
            <a:ext cx="33832" cy="283464"/>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9" name="Network line"/>
          <p:cNvCxnSpPr/>
          <p:nvPr/>
        </p:nvCxnSpPr>
        <p:spPr>
          <a:xfrm flipH="1" flipV="1">
            <a:off x="10591495" y="246888"/>
            <a:ext cx="202997" cy="210312"/>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10" name="Network line"/>
          <p:cNvCxnSpPr/>
          <p:nvPr/>
        </p:nvCxnSpPr>
        <p:spPr>
          <a:xfrm flipV="1">
            <a:off x="10388498" y="804672"/>
            <a:ext cx="778154" cy="54864"/>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11" name="Network line"/>
          <p:cNvCxnSpPr/>
          <p:nvPr/>
        </p:nvCxnSpPr>
        <p:spPr>
          <a:xfrm flipH="1">
            <a:off x="11504980" y="676656"/>
            <a:ext cx="372161" cy="347472"/>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12" name="Network line"/>
          <p:cNvCxnSpPr/>
          <p:nvPr/>
        </p:nvCxnSpPr>
        <p:spPr>
          <a:xfrm flipV="1">
            <a:off x="11132820" y="1024128"/>
            <a:ext cx="372160" cy="64008"/>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sp>
        <p:nvSpPr>
          <p:cNvPr id="13" name="Network node"/>
          <p:cNvSpPr/>
          <p:nvPr/>
        </p:nvSpPr>
        <p:spPr>
          <a:xfrm>
            <a:off x="10342778" y="813815"/>
            <a:ext cx="91440" cy="91440"/>
          </a:xfrm>
          <a:prstGeom prst="ellipse">
            <a:avLst/>
          </a:prstGeom>
          <a:solidFill>
            <a:srgbClr val="67D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Network node"/>
          <p:cNvSpPr/>
          <p:nvPr/>
        </p:nvSpPr>
        <p:spPr>
          <a:xfrm>
            <a:off x="10748772" y="411480"/>
            <a:ext cx="91440" cy="91440"/>
          </a:xfrm>
          <a:prstGeom prst="ellipse">
            <a:avLst/>
          </a:prstGeom>
          <a:solidFill>
            <a:srgbClr val="67D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Network node"/>
          <p:cNvSpPr/>
          <p:nvPr/>
        </p:nvSpPr>
        <p:spPr>
          <a:xfrm>
            <a:off x="11102644" y="740664"/>
            <a:ext cx="128016" cy="128016"/>
          </a:xfrm>
          <a:prstGeom prst="ellipse">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Network node"/>
          <p:cNvSpPr/>
          <p:nvPr/>
        </p:nvSpPr>
        <p:spPr>
          <a:xfrm>
            <a:off x="11542471" y="301752"/>
            <a:ext cx="128016" cy="128016"/>
          </a:xfrm>
          <a:prstGeom prst="ellipse">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Network node"/>
          <p:cNvSpPr/>
          <p:nvPr/>
        </p:nvSpPr>
        <p:spPr>
          <a:xfrm>
            <a:off x="11831421" y="630936"/>
            <a:ext cx="91440" cy="91440"/>
          </a:xfrm>
          <a:prstGeom prst="ellipse">
            <a:avLst/>
          </a:prstGeom>
          <a:solidFill>
            <a:srgbClr val="67D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Network node"/>
          <p:cNvSpPr/>
          <p:nvPr/>
        </p:nvSpPr>
        <p:spPr>
          <a:xfrm>
            <a:off x="11087100" y="1042415"/>
            <a:ext cx="91440" cy="91440"/>
          </a:xfrm>
          <a:prstGeom prst="ellipse">
            <a:avLst/>
          </a:prstGeom>
          <a:solidFill>
            <a:srgbClr val="67D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Network node"/>
          <p:cNvSpPr/>
          <p:nvPr/>
        </p:nvSpPr>
        <p:spPr>
          <a:xfrm>
            <a:off x="10545775" y="201168"/>
            <a:ext cx="91440" cy="91440"/>
          </a:xfrm>
          <a:prstGeom prst="ellipse">
            <a:avLst/>
          </a:prstGeom>
          <a:solidFill>
            <a:srgbClr val="67D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Network node"/>
          <p:cNvSpPr/>
          <p:nvPr/>
        </p:nvSpPr>
        <p:spPr>
          <a:xfrm>
            <a:off x="11459260" y="978408"/>
            <a:ext cx="91440" cy="91440"/>
          </a:xfrm>
          <a:prstGeom prst="ellipse">
            <a:avLst/>
          </a:prstGeom>
          <a:solidFill>
            <a:srgbClr val="67D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a:xfrm>
            <a:off x="548640" y="347472"/>
            <a:ext cx="9509760" cy="731520"/>
          </a:xfrm>
        </p:spPr>
        <p:txBody>
          <a:bodyPr wrap="square" lIns="0" tIns="0" rIns="0" bIns="0" anchor="ctr">
            <a:noAutofit/>
          </a:bodyPr>
          <a:lstStyle/>
          <a:p>
            <a:pPr marL="0" indent="0" algn="l">
              <a:buNone/>
            </a:pPr>
            <a:r>
              <a:rPr lang="en-US" sz="3200" b="1" dirty="0">
                <a:solidFill>
                  <a:srgbClr val="0B1F3A"/>
                </a:solidFill>
                <a:latin typeface="Calibri" panose="02020603050405020304" pitchFamily="18" charset="0"/>
              </a:rPr>
              <a:t>Introduction</a:t>
            </a:r>
            <a:endParaRPr lang="en-IN" dirty="0">
              <a:latin typeface="Times New Roman" panose="02020603050405020304" pitchFamily="18" charset="0"/>
              <a:cs typeface="Times New Roman" panose="02020603050405020304" pitchFamily="18" charset="0"/>
            </a:endParaRPr>
          </a:p>
        </p:txBody>
      </p:sp>
      <p:sp>
        <p:nvSpPr>
          <p:cNvPr id="21" name="Intro card"/>
          <p:cNvSpPr/>
          <p:nvPr/>
        </p:nvSpPr>
        <p:spPr>
          <a:xfrm>
            <a:off x="548640" y="1417320"/>
            <a:ext cx="4846320" cy="4434840"/>
          </a:xfrm>
          <a:prstGeom prst="rect">
            <a:avLst/>
          </a:prstGeom>
          <a:solidFill>
            <a:srgbClr val="0B1F3A"/>
          </a:solidFill>
          <a:ln>
            <a:noFill/>
          </a:ln>
          <a:effectLst>
            <a:outerShdw blurRad="76200" dist="19050" dir="5400000" algn="t" rotWithShape="0">
              <a:srgbClr val="0B1F3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Introduction text"/>
          <p:cNvSpPr txBox="1"/>
          <p:nvPr/>
        </p:nvSpPr>
        <p:spPr>
          <a:xfrm>
            <a:off x="868680" y="1737360"/>
            <a:ext cx="4206240" cy="3840480"/>
          </a:xfrm>
          <a:prstGeom prst="rect">
            <a:avLst/>
          </a:prstGeom>
          <a:noFill/>
        </p:spPr>
        <p:txBody>
          <a:bodyPr wrap="square" lIns="0" tIns="0" rIns="0" bIns="0" anchor="t">
            <a:spAutoFit/>
          </a:bodyPr>
          <a:lstStyle/>
          <a:p>
            <a:pPr>
              <a:spcAft>
                <a:spcPts val="1800"/>
              </a:spcAft>
            </a:pPr>
            <a:r>
              <a:rPr sz="2000" b="0">
                <a:solidFill>
                  <a:srgbClr val="FFFFFF"/>
                </a:solidFill>
                <a:latin typeface="Calibri"/>
              </a:rPr>
              <a:t>The movie industry involves uncertainty when evaluating a film's potential performance. Machine learning can analyze historical movie data to identify patterns and classify movies into different categories.</a:t>
            </a:r>
          </a:p>
          <a:p>
            <a:pPr>
              <a:spcAft>
                <a:spcPts val="1800"/>
              </a:spcAft>
            </a:pPr>
            <a:r>
              <a:rPr sz="2000" b="0">
                <a:solidFill>
                  <a:srgbClr val="FFFFFF"/>
                </a:solidFill>
                <a:latin typeface="Calibri"/>
              </a:rPr>
              <a:t>This project develops a machine-learning system that predicts a movie's success category based on selected movie metadata.</a:t>
            </a:r>
          </a:p>
        </p:txBody>
      </p:sp>
      <p:sp>
        <p:nvSpPr>
          <p:cNvPr id="23" name="Objectives heading"/>
          <p:cNvSpPr txBox="1"/>
          <p:nvPr/>
        </p:nvSpPr>
        <p:spPr>
          <a:xfrm>
            <a:off x="5760720" y="1371600"/>
            <a:ext cx="5852160" cy="457200"/>
          </a:xfrm>
          <a:prstGeom prst="rect">
            <a:avLst/>
          </a:prstGeom>
          <a:noFill/>
        </p:spPr>
        <p:txBody>
          <a:bodyPr wrap="square" lIns="0" tIns="0" rIns="0" bIns="0" anchor="ctr">
            <a:spAutoFit/>
          </a:bodyPr>
          <a:lstStyle/>
          <a:p>
            <a:pPr>
              <a:spcAft>
                <a:spcPts val="0"/>
              </a:spcAft>
            </a:pPr>
            <a:r>
              <a:rPr sz="2400" b="1">
                <a:solidFill>
                  <a:srgbClr val="0B1F3A"/>
                </a:solidFill>
                <a:latin typeface="Calibri"/>
              </a:rPr>
              <a:t>Objectives</a:t>
            </a:r>
          </a:p>
        </p:txBody>
      </p:sp>
      <p:sp>
        <p:nvSpPr>
          <p:cNvPr id="24" name="Objective card"/>
          <p:cNvSpPr/>
          <p:nvPr/>
        </p:nvSpPr>
        <p:spPr>
          <a:xfrm>
            <a:off x="5760720" y="1938528"/>
            <a:ext cx="5879592" cy="566928"/>
          </a:xfrm>
          <a:prstGeom prst="rect">
            <a:avLst/>
          </a:prstGeom>
          <a:solidFill>
            <a:srgbClr val="F3F7FB"/>
          </a:solidFill>
          <a:ln w="9525">
            <a:solidFill>
              <a:srgbClr val="DCE5EE"/>
            </a:solidFill>
          </a:ln>
          <a:effectLst>
            <a:outerShdw blurRad="76200" dist="19050" dir="5400000" algn="t" rotWithShape="0">
              <a:srgbClr val="0B1F3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Marker"/>
          <p:cNvSpPr/>
          <p:nvPr/>
        </p:nvSpPr>
        <p:spPr>
          <a:xfrm>
            <a:off x="5952744" y="2139696"/>
            <a:ext cx="164592" cy="164592"/>
          </a:xfrm>
          <a:prstGeom prst="ellipse">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bjective"/>
          <p:cNvSpPr txBox="1"/>
          <p:nvPr/>
        </p:nvSpPr>
        <p:spPr>
          <a:xfrm>
            <a:off x="6309360" y="1938528"/>
            <a:ext cx="5212080" cy="566928"/>
          </a:xfrm>
          <a:prstGeom prst="rect">
            <a:avLst/>
          </a:prstGeom>
          <a:noFill/>
        </p:spPr>
        <p:txBody>
          <a:bodyPr wrap="square" lIns="0" tIns="0" rIns="0" bIns="0" anchor="ctr">
            <a:spAutoFit/>
          </a:bodyPr>
          <a:lstStyle/>
          <a:p>
            <a:pPr>
              <a:spcAft>
                <a:spcPts val="0"/>
              </a:spcAft>
            </a:pPr>
            <a:r>
              <a:rPr sz="1600" b="0">
                <a:solidFill>
                  <a:srgbClr val="1E293B"/>
                </a:solidFill>
                <a:latin typeface="Calibri"/>
              </a:rPr>
              <a:t>Analyze the movie dataset and identify important patterns.</a:t>
            </a:r>
          </a:p>
        </p:txBody>
      </p:sp>
      <p:sp>
        <p:nvSpPr>
          <p:cNvPr id="27" name="Objective card"/>
          <p:cNvSpPr/>
          <p:nvPr/>
        </p:nvSpPr>
        <p:spPr>
          <a:xfrm>
            <a:off x="5760720" y="2578608"/>
            <a:ext cx="5879592" cy="566928"/>
          </a:xfrm>
          <a:prstGeom prst="rect">
            <a:avLst/>
          </a:prstGeom>
          <a:solidFill>
            <a:srgbClr val="F3F7FB"/>
          </a:solidFill>
          <a:ln w="9525">
            <a:solidFill>
              <a:srgbClr val="DCE5EE"/>
            </a:solidFill>
          </a:ln>
          <a:effectLst>
            <a:outerShdw blurRad="76200" dist="19050" dir="5400000" algn="t" rotWithShape="0">
              <a:srgbClr val="0B1F3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Marker"/>
          <p:cNvSpPr/>
          <p:nvPr/>
        </p:nvSpPr>
        <p:spPr>
          <a:xfrm>
            <a:off x="5952744" y="2779776"/>
            <a:ext cx="164592" cy="164592"/>
          </a:xfrm>
          <a:prstGeom prst="ellipse">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bjective"/>
          <p:cNvSpPr txBox="1"/>
          <p:nvPr/>
        </p:nvSpPr>
        <p:spPr>
          <a:xfrm>
            <a:off x="6309360" y="2578608"/>
            <a:ext cx="5212080" cy="566928"/>
          </a:xfrm>
          <a:prstGeom prst="rect">
            <a:avLst/>
          </a:prstGeom>
          <a:noFill/>
        </p:spPr>
        <p:txBody>
          <a:bodyPr wrap="square" lIns="0" tIns="0" rIns="0" bIns="0" anchor="ctr">
            <a:spAutoFit/>
          </a:bodyPr>
          <a:lstStyle/>
          <a:p>
            <a:pPr>
              <a:spcAft>
                <a:spcPts val="0"/>
              </a:spcAft>
            </a:pPr>
            <a:r>
              <a:rPr sz="1600" b="0">
                <a:solidFill>
                  <a:srgbClr val="1E293B"/>
                </a:solidFill>
                <a:latin typeface="Calibri"/>
              </a:rPr>
              <a:t>Perform exploratory data analysis and data preprocessing.</a:t>
            </a:r>
          </a:p>
        </p:txBody>
      </p:sp>
      <p:sp>
        <p:nvSpPr>
          <p:cNvPr id="30" name="Objective card"/>
          <p:cNvSpPr/>
          <p:nvPr/>
        </p:nvSpPr>
        <p:spPr>
          <a:xfrm>
            <a:off x="5760720" y="3218688"/>
            <a:ext cx="5879592" cy="566928"/>
          </a:xfrm>
          <a:prstGeom prst="rect">
            <a:avLst/>
          </a:prstGeom>
          <a:solidFill>
            <a:srgbClr val="F3F7FB"/>
          </a:solidFill>
          <a:ln w="9525">
            <a:solidFill>
              <a:srgbClr val="DCE5EE"/>
            </a:solidFill>
          </a:ln>
          <a:effectLst>
            <a:outerShdw blurRad="76200" dist="19050" dir="5400000" algn="t" rotWithShape="0">
              <a:srgbClr val="0B1F3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Marker"/>
          <p:cNvSpPr/>
          <p:nvPr/>
        </p:nvSpPr>
        <p:spPr>
          <a:xfrm>
            <a:off x="5952744" y="3419856"/>
            <a:ext cx="164592" cy="164592"/>
          </a:xfrm>
          <a:prstGeom prst="ellipse">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bjective"/>
          <p:cNvSpPr txBox="1"/>
          <p:nvPr/>
        </p:nvSpPr>
        <p:spPr>
          <a:xfrm>
            <a:off x="6309360" y="3218688"/>
            <a:ext cx="5212080" cy="566928"/>
          </a:xfrm>
          <a:prstGeom prst="rect">
            <a:avLst/>
          </a:prstGeom>
          <a:noFill/>
        </p:spPr>
        <p:txBody>
          <a:bodyPr wrap="square" lIns="0" tIns="0" rIns="0" bIns="0" anchor="ctr">
            <a:spAutoFit/>
          </a:bodyPr>
          <a:lstStyle/>
          <a:p>
            <a:pPr>
              <a:spcAft>
                <a:spcPts val="0"/>
              </a:spcAft>
            </a:pPr>
            <a:r>
              <a:rPr sz="1600" b="0">
                <a:solidFill>
                  <a:srgbClr val="1E293B"/>
                </a:solidFill>
                <a:latin typeface="Calibri"/>
              </a:rPr>
              <a:t>Classify movies into Flop, Average, and Hit categories using IMDb scores.</a:t>
            </a:r>
          </a:p>
        </p:txBody>
      </p:sp>
      <p:sp>
        <p:nvSpPr>
          <p:cNvPr id="33" name="Objective card"/>
          <p:cNvSpPr/>
          <p:nvPr/>
        </p:nvSpPr>
        <p:spPr>
          <a:xfrm>
            <a:off x="5760720" y="3858768"/>
            <a:ext cx="5879592" cy="566928"/>
          </a:xfrm>
          <a:prstGeom prst="rect">
            <a:avLst/>
          </a:prstGeom>
          <a:solidFill>
            <a:srgbClr val="F3F7FB"/>
          </a:solidFill>
          <a:ln w="9525">
            <a:solidFill>
              <a:srgbClr val="DCE5EE"/>
            </a:solidFill>
          </a:ln>
          <a:effectLst>
            <a:outerShdw blurRad="76200" dist="19050" dir="5400000" algn="t" rotWithShape="0">
              <a:srgbClr val="0B1F3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Marker"/>
          <p:cNvSpPr/>
          <p:nvPr/>
        </p:nvSpPr>
        <p:spPr>
          <a:xfrm>
            <a:off x="5952744" y="4059935"/>
            <a:ext cx="164592" cy="164592"/>
          </a:xfrm>
          <a:prstGeom prst="ellipse">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bjective"/>
          <p:cNvSpPr txBox="1"/>
          <p:nvPr/>
        </p:nvSpPr>
        <p:spPr>
          <a:xfrm>
            <a:off x="6309360" y="3858768"/>
            <a:ext cx="5212080" cy="566928"/>
          </a:xfrm>
          <a:prstGeom prst="rect">
            <a:avLst/>
          </a:prstGeom>
          <a:noFill/>
        </p:spPr>
        <p:txBody>
          <a:bodyPr wrap="square" lIns="0" tIns="0" rIns="0" bIns="0" anchor="ctr">
            <a:spAutoFit/>
          </a:bodyPr>
          <a:lstStyle/>
          <a:p>
            <a:pPr>
              <a:spcAft>
                <a:spcPts val="0"/>
              </a:spcAft>
            </a:pPr>
            <a:r>
              <a:rPr sz="1600" b="0">
                <a:solidFill>
                  <a:srgbClr val="1E293B"/>
                </a:solidFill>
                <a:latin typeface="Calibri"/>
              </a:rPr>
              <a:t>Compare five machine-learning classification algorithms.</a:t>
            </a:r>
          </a:p>
        </p:txBody>
      </p:sp>
      <p:sp>
        <p:nvSpPr>
          <p:cNvPr id="36" name="Objective card"/>
          <p:cNvSpPr/>
          <p:nvPr/>
        </p:nvSpPr>
        <p:spPr>
          <a:xfrm>
            <a:off x="5760720" y="4498848"/>
            <a:ext cx="5879592" cy="566928"/>
          </a:xfrm>
          <a:prstGeom prst="rect">
            <a:avLst/>
          </a:prstGeom>
          <a:solidFill>
            <a:srgbClr val="F3F7FB"/>
          </a:solidFill>
          <a:ln w="9525">
            <a:solidFill>
              <a:srgbClr val="DCE5EE"/>
            </a:solidFill>
          </a:ln>
          <a:effectLst>
            <a:outerShdw blurRad="76200" dist="19050" dir="5400000" algn="t" rotWithShape="0">
              <a:srgbClr val="0B1F3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Marker"/>
          <p:cNvSpPr/>
          <p:nvPr/>
        </p:nvSpPr>
        <p:spPr>
          <a:xfrm>
            <a:off x="5952744" y="4700016"/>
            <a:ext cx="164592" cy="164592"/>
          </a:xfrm>
          <a:prstGeom prst="ellipse">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bjective"/>
          <p:cNvSpPr txBox="1"/>
          <p:nvPr/>
        </p:nvSpPr>
        <p:spPr>
          <a:xfrm>
            <a:off x="6309360" y="4498848"/>
            <a:ext cx="5212080" cy="566928"/>
          </a:xfrm>
          <a:prstGeom prst="rect">
            <a:avLst/>
          </a:prstGeom>
          <a:noFill/>
        </p:spPr>
        <p:txBody>
          <a:bodyPr wrap="square" lIns="0" tIns="0" rIns="0" bIns="0" anchor="ctr">
            <a:spAutoFit/>
          </a:bodyPr>
          <a:lstStyle/>
          <a:p>
            <a:pPr>
              <a:spcAft>
                <a:spcPts val="0"/>
              </a:spcAft>
            </a:pPr>
            <a:r>
              <a:rPr sz="1600" b="0">
                <a:solidFill>
                  <a:srgbClr val="1E293B"/>
                </a:solidFill>
                <a:latin typeface="Calibri"/>
              </a:rPr>
              <a:t>Evaluate model performance using appropriate classification metrics.</a:t>
            </a:r>
          </a:p>
        </p:txBody>
      </p:sp>
      <p:sp>
        <p:nvSpPr>
          <p:cNvPr id="39" name="Objective card"/>
          <p:cNvSpPr/>
          <p:nvPr/>
        </p:nvSpPr>
        <p:spPr>
          <a:xfrm>
            <a:off x="5760720" y="5138928"/>
            <a:ext cx="5879592" cy="566928"/>
          </a:xfrm>
          <a:prstGeom prst="rect">
            <a:avLst/>
          </a:prstGeom>
          <a:solidFill>
            <a:srgbClr val="F3F7FB"/>
          </a:solidFill>
          <a:ln w="9525">
            <a:solidFill>
              <a:srgbClr val="DCE5EE"/>
            </a:solidFill>
          </a:ln>
          <a:effectLst>
            <a:outerShdw blurRad="76200" dist="19050" dir="5400000" algn="t" rotWithShape="0">
              <a:srgbClr val="0B1F3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Marker"/>
          <p:cNvSpPr/>
          <p:nvPr/>
        </p:nvSpPr>
        <p:spPr>
          <a:xfrm>
            <a:off x="5952744" y="5340096"/>
            <a:ext cx="164592" cy="164592"/>
          </a:xfrm>
          <a:prstGeom prst="ellipse">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bjective"/>
          <p:cNvSpPr txBox="1"/>
          <p:nvPr/>
        </p:nvSpPr>
        <p:spPr>
          <a:xfrm>
            <a:off x="6309360" y="5138928"/>
            <a:ext cx="5212080" cy="566928"/>
          </a:xfrm>
          <a:prstGeom prst="rect">
            <a:avLst/>
          </a:prstGeom>
          <a:noFill/>
        </p:spPr>
        <p:txBody>
          <a:bodyPr wrap="square" lIns="0" tIns="0" rIns="0" bIns="0" anchor="ctr">
            <a:spAutoFit/>
          </a:bodyPr>
          <a:lstStyle/>
          <a:p>
            <a:pPr>
              <a:spcAft>
                <a:spcPts val="0"/>
              </a:spcAft>
            </a:pPr>
            <a:r>
              <a:rPr sz="1600" b="0">
                <a:solidFill>
                  <a:srgbClr val="1E293B"/>
                </a:solidFill>
                <a:latin typeface="Calibri"/>
              </a:rPr>
              <a:t>Develop an interactive web application using React and FastAPI.</a:t>
            </a:r>
          </a:p>
        </p:txBody>
      </p:sp>
    </p:spTree>
    <p:extLst>
      <p:ext uri="{BB962C8B-B14F-4D97-AF65-F5344CB8AC3E}">
        <p14:creationId xmlns:p14="http://schemas.microsoft.com/office/powerpoint/2010/main" val="22724594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05FA207-F462-4359-65DC-4A93BE59449B}"/>
              </a:ext>
            </a:extLst>
          </p:cNvPr>
          <p:cNvPicPr>
            <a:picLocks noChangeAspect="1"/>
          </p:cNvPicPr>
          <p:nvPr/>
        </p:nvPicPr>
        <p:blipFill>
          <a:blip r:embed="rId3"/>
          <a:stretch>
            <a:fillRect/>
          </a:stretch>
        </p:blipFill>
        <p:spPr>
          <a:xfrm>
            <a:off x="6940825" y="1465561"/>
            <a:ext cx="4598505" cy="3527224"/>
          </a:xfrm>
          <a:prstGeom prst="rect">
            <a:avLst/>
          </a:prstGeom>
        </p:spPr>
      </p:pic>
      <p:sp>
        <p:nvSpPr>
          <p:cNvPr id="4" name="Title 3">
            <a:extLst>
              <a:ext uri="{FF2B5EF4-FFF2-40B4-BE49-F238E27FC236}">
                <a16:creationId xmlns:a16="http://schemas.microsoft.com/office/drawing/2014/main" id="{F69DB3DB-2D6A-4800-21E5-71369CC117F1}"/>
              </a:ext>
            </a:extLst>
          </p:cNvPr>
          <p:cNvSpPr>
            <a:spLocks noGrp="1"/>
          </p:cNvSpPr>
          <p:nvPr>
            <p:ph type="title"/>
          </p:nvPr>
        </p:nvSpPr>
        <p:spPr>
          <a:xfrm>
            <a:off x="548640" y="347472"/>
            <a:ext cx="5212080" cy="731520"/>
          </a:xfrm>
        </p:spPr>
        <p:txBody>
          <a:bodyPr wrap="square" lIns="0" tIns="0" rIns="0" bIns="0" anchor="ctr">
            <a:noAutofit/>
          </a:bodyPr>
          <a:lstStyle/>
          <a:p>
            <a:pPr marL="0" indent="0" algn="l">
              <a:buNone/>
            </a:pPr>
            <a:r>
              <a:rPr lang="en-US" sz="3200" b="1" dirty="0">
                <a:solidFill>
                  <a:srgbClr val="0B1F3A"/>
                </a:solidFill>
                <a:latin typeface="Calibri" panose="02020603050405020304" pitchFamily="18" charset="0"/>
              </a:rPr>
              <a:t>Problem Statement</a:t>
            </a:r>
            <a:endParaRPr lang="en-IN" dirty="0">
              <a:latin typeface="Times New Roman" panose="02020603050405020304" pitchFamily="18" charset="0"/>
              <a:cs typeface="Times New Roman" panose="02020603050405020304" pitchFamily="18" charset="0"/>
            </a:endParaRPr>
          </a:p>
        </p:txBody>
      </p:sp>
      <p:sp>
        <p:nvSpPr>
          <p:cNvPr id="5" name="Problem card"/>
          <p:cNvSpPr/>
          <p:nvPr/>
        </p:nvSpPr>
        <p:spPr>
          <a:xfrm>
            <a:off x="548640" y="1371600"/>
            <a:ext cx="5120640" cy="1691640"/>
          </a:xfrm>
          <a:prstGeom prst="rect">
            <a:avLst/>
          </a:prstGeom>
          <a:solidFill>
            <a:srgbClr val="F3F7FB"/>
          </a:solidFill>
          <a:ln w="9525">
            <a:solidFill>
              <a:srgbClr val="DCE5EE"/>
            </a:solidFill>
          </a:ln>
          <a:effectLst>
            <a:outerShdw blurRad="76200" dist="19050" dir="5400000" algn="t" rotWithShape="0">
              <a:srgbClr val="0B1F3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Problem text"/>
          <p:cNvSpPr txBox="1"/>
          <p:nvPr/>
        </p:nvSpPr>
        <p:spPr>
          <a:xfrm>
            <a:off x="777240" y="1371600"/>
            <a:ext cx="4663440" cy="1691640"/>
          </a:xfrm>
          <a:prstGeom prst="rect">
            <a:avLst/>
          </a:prstGeom>
          <a:noFill/>
        </p:spPr>
        <p:txBody>
          <a:bodyPr wrap="square" lIns="0" tIns="0" rIns="0" bIns="0" anchor="ctr">
            <a:spAutoFit/>
          </a:bodyPr>
          <a:lstStyle/>
          <a:p>
            <a:pPr>
              <a:spcAft>
                <a:spcPts val="0"/>
              </a:spcAft>
            </a:pPr>
            <a:r>
              <a:rPr sz="1600" b="0">
                <a:solidFill>
                  <a:srgbClr val="1E293B"/>
                </a:solidFill>
                <a:latin typeface="Calibri"/>
              </a:rPr>
              <a:t>Analyzing movie metadata to identify patterns associated with different IMDb rating categories can be challenging because movie datasets contain numerical and categorical features, missing values, and imbalanced target classes.</a:t>
            </a:r>
          </a:p>
        </p:txBody>
      </p:sp>
      <p:sp>
        <p:nvSpPr>
          <p:cNvPr id="7" name="Problem card"/>
          <p:cNvSpPr/>
          <p:nvPr/>
        </p:nvSpPr>
        <p:spPr>
          <a:xfrm>
            <a:off x="548640" y="3200400"/>
            <a:ext cx="5120640" cy="1371600"/>
          </a:xfrm>
          <a:prstGeom prst="rect">
            <a:avLst/>
          </a:prstGeom>
          <a:solidFill>
            <a:srgbClr val="0B1F3A"/>
          </a:solidFill>
          <a:ln>
            <a:noFill/>
          </a:ln>
          <a:effectLst>
            <a:outerShdw blurRad="76200" dist="19050" dir="5400000" algn="t" rotWithShape="0">
              <a:srgbClr val="0B1F3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Problem text"/>
          <p:cNvSpPr txBox="1"/>
          <p:nvPr/>
        </p:nvSpPr>
        <p:spPr>
          <a:xfrm>
            <a:off x="777240" y="3200400"/>
            <a:ext cx="4663440" cy="1371600"/>
          </a:xfrm>
          <a:prstGeom prst="rect">
            <a:avLst/>
          </a:prstGeom>
          <a:noFill/>
        </p:spPr>
        <p:txBody>
          <a:bodyPr wrap="square" lIns="0" tIns="0" rIns="0" bIns="0" anchor="ctr">
            <a:spAutoFit/>
          </a:bodyPr>
          <a:lstStyle/>
          <a:p>
            <a:pPr>
              <a:spcAft>
                <a:spcPts val="0"/>
              </a:spcAft>
            </a:pPr>
            <a:r>
              <a:rPr sz="1600" b="0">
                <a:solidFill>
                  <a:srgbClr val="FFFFFF"/>
                </a:solidFill>
                <a:latin typeface="Calibri"/>
              </a:rPr>
              <a:t>The objective is to develop and evaluate a machine-learning classification system that categorizes movies as Flop, Average, or Hit based on predefined IMDb score ranges.</a:t>
            </a:r>
          </a:p>
        </p:txBody>
      </p:sp>
      <p:sp>
        <p:nvSpPr>
          <p:cNvPr id="9" name="Problem card"/>
          <p:cNvSpPr/>
          <p:nvPr/>
        </p:nvSpPr>
        <p:spPr>
          <a:xfrm>
            <a:off x="548640" y="4709160"/>
            <a:ext cx="5120640" cy="1188720"/>
          </a:xfrm>
          <a:prstGeom prst="rect">
            <a:avLst/>
          </a:prstGeom>
          <a:solidFill>
            <a:srgbClr val="F3F7FB"/>
          </a:solidFill>
          <a:ln w="9525">
            <a:solidFill>
              <a:srgbClr val="DCE5EE"/>
            </a:solidFill>
          </a:ln>
          <a:effectLst>
            <a:outerShdw blurRad="76200" dist="19050" dir="5400000" algn="t" rotWithShape="0">
              <a:srgbClr val="0B1F3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Problem text"/>
          <p:cNvSpPr txBox="1"/>
          <p:nvPr/>
        </p:nvSpPr>
        <p:spPr>
          <a:xfrm>
            <a:off x="777240" y="4709160"/>
            <a:ext cx="4663440" cy="1188720"/>
          </a:xfrm>
          <a:prstGeom prst="rect">
            <a:avLst/>
          </a:prstGeom>
          <a:noFill/>
        </p:spPr>
        <p:txBody>
          <a:bodyPr wrap="square" lIns="0" tIns="0" rIns="0" bIns="0" anchor="ctr">
            <a:spAutoFit/>
          </a:bodyPr>
          <a:lstStyle/>
          <a:p>
            <a:pPr>
              <a:spcAft>
                <a:spcPts val="0"/>
              </a:spcAft>
            </a:pPr>
            <a:r>
              <a:rPr sz="1600" b="0">
                <a:solidFill>
                  <a:srgbClr val="1E293B"/>
                </a:solidFill>
                <a:latin typeface="Calibri"/>
              </a:rPr>
              <a:t>The project also aims to provide an interactive interface through which users can explore the dataset and obtain model predictions.</a:t>
            </a:r>
          </a:p>
        </p:txBody>
      </p:sp>
    </p:spTree>
    <p:extLst>
      <p:ext uri="{BB962C8B-B14F-4D97-AF65-F5344CB8AC3E}">
        <p14:creationId xmlns:p14="http://schemas.microsoft.com/office/powerpoint/2010/main" val="13444202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A9559FE-4D64-9457-D2AD-9D55ADD1D399}"/>
            </a:ext>
          </a:extLst>
        </p:cNvPr>
        <p:cNvGrpSpPr/>
        <p:nvPr/>
      </p:nvGrpSpPr>
      <p:grpSpPr>
        <a:xfrm>
          <a:off x="0" y="0"/>
          <a:ext cx="0" cy="0"/>
          <a:chOff x="0" y="0"/>
          <a:chExt cx="0" cy="0"/>
        </a:xfrm>
      </p:grpSpPr>
      <p:cxnSp>
        <p:nvCxnSpPr>
          <p:cNvPr id="8" name="Network line"/>
          <p:cNvCxnSpPr/>
          <p:nvPr/>
        </p:nvCxnSpPr>
        <p:spPr>
          <a:xfrm flipV="1">
            <a:off x="10388498" y="457200"/>
            <a:ext cx="405994" cy="402336"/>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9" name="Network line"/>
          <p:cNvCxnSpPr/>
          <p:nvPr/>
        </p:nvCxnSpPr>
        <p:spPr>
          <a:xfrm>
            <a:off x="10794492" y="457200"/>
            <a:ext cx="372160" cy="347472"/>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10" name="Network line"/>
          <p:cNvCxnSpPr/>
          <p:nvPr/>
        </p:nvCxnSpPr>
        <p:spPr>
          <a:xfrm flipV="1">
            <a:off x="11166652" y="365760"/>
            <a:ext cx="439827" cy="438912"/>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11" name="Network line"/>
          <p:cNvCxnSpPr/>
          <p:nvPr/>
        </p:nvCxnSpPr>
        <p:spPr>
          <a:xfrm>
            <a:off x="11606479" y="365760"/>
            <a:ext cx="270662" cy="310896"/>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12" name="Network line"/>
          <p:cNvCxnSpPr/>
          <p:nvPr/>
        </p:nvCxnSpPr>
        <p:spPr>
          <a:xfrm flipV="1">
            <a:off x="11166652" y="676656"/>
            <a:ext cx="710489" cy="128016"/>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13" name="Network line"/>
          <p:cNvCxnSpPr/>
          <p:nvPr/>
        </p:nvCxnSpPr>
        <p:spPr>
          <a:xfrm flipH="1">
            <a:off x="11132820" y="804672"/>
            <a:ext cx="33832" cy="283464"/>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14" name="Network line"/>
          <p:cNvCxnSpPr/>
          <p:nvPr/>
        </p:nvCxnSpPr>
        <p:spPr>
          <a:xfrm flipH="1" flipV="1">
            <a:off x="10591495" y="246888"/>
            <a:ext cx="202997" cy="210312"/>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15" name="Network line"/>
          <p:cNvCxnSpPr/>
          <p:nvPr/>
        </p:nvCxnSpPr>
        <p:spPr>
          <a:xfrm flipV="1">
            <a:off x="10388498" y="804672"/>
            <a:ext cx="778154" cy="54864"/>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16" name="Network line"/>
          <p:cNvCxnSpPr/>
          <p:nvPr/>
        </p:nvCxnSpPr>
        <p:spPr>
          <a:xfrm flipH="1">
            <a:off x="11504980" y="676656"/>
            <a:ext cx="372161" cy="347472"/>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17" name="Network line"/>
          <p:cNvCxnSpPr/>
          <p:nvPr/>
        </p:nvCxnSpPr>
        <p:spPr>
          <a:xfrm flipV="1">
            <a:off x="11132820" y="1024128"/>
            <a:ext cx="372160" cy="64008"/>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sp>
        <p:nvSpPr>
          <p:cNvPr id="18" name="Network node"/>
          <p:cNvSpPr/>
          <p:nvPr/>
        </p:nvSpPr>
        <p:spPr>
          <a:xfrm>
            <a:off x="10342778" y="813815"/>
            <a:ext cx="91440" cy="91440"/>
          </a:xfrm>
          <a:prstGeom prst="ellipse">
            <a:avLst/>
          </a:prstGeom>
          <a:solidFill>
            <a:srgbClr val="67D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Network node"/>
          <p:cNvSpPr/>
          <p:nvPr/>
        </p:nvSpPr>
        <p:spPr>
          <a:xfrm>
            <a:off x="10748772" y="411480"/>
            <a:ext cx="91440" cy="91440"/>
          </a:xfrm>
          <a:prstGeom prst="ellipse">
            <a:avLst/>
          </a:prstGeom>
          <a:solidFill>
            <a:srgbClr val="67D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Network node"/>
          <p:cNvSpPr/>
          <p:nvPr/>
        </p:nvSpPr>
        <p:spPr>
          <a:xfrm>
            <a:off x="11102644" y="740664"/>
            <a:ext cx="128016" cy="128016"/>
          </a:xfrm>
          <a:prstGeom prst="ellipse">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Network node"/>
          <p:cNvSpPr/>
          <p:nvPr/>
        </p:nvSpPr>
        <p:spPr>
          <a:xfrm>
            <a:off x="11542471" y="301752"/>
            <a:ext cx="128016" cy="128016"/>
          </a:xfrm>
          <a:prstGeom prst="ellipse">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Network node"/>
          <p:cNvSpPr/>
          <p:nvPr/>
        </p:nvSpPr>
        <p:spPr>
          <a:xfrm>
            <a:off x="11831421" y="630936"/>
            <a:ext cx="91440" cy="91440"/>
          </a:xfrm>
          <a:prstGeom prst="ellipse">
            <a:avLst/>
          </a:prstGeom>
          <a:solidFill>
            <a:srgbClr val="67D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Network node"/>
          <p:cNvSpPr/>
          <p:nvPr/>
        </p:nvSpPr>
        <p:spPr>
          <a:xfrm>
            <a:off x="11087100" y="1042415"/>
            <a:ext cx="91440" cy="91440"/>
          </a:xfrm>
          <a:prstGeom prst="ellipse">
            <a:avLst/>
          </a:prstGeom>
          <a:solidFill>
            <a:srgbClr val="67D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Network node"/>
          <p:cNvSpPr/>
          <p:nvPr/>
        </p:nvSpPr>
        <p:spPr>
          <a:xfrm>
            <a:off x="10545775" y="201168"/>
            <a:ext cx="91440" cy="91440"/>
          </a:xfrm>
          <a:prstGeom prst="ellipse">
            <a:avLst/>
          </a:prstGeom>
          <a:solidFill>
            <a:srgbClr val="67D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Network node"/>
          <p:cNvSpPr/>
          <p:nvPr/>
        </p:nvSpPr>
        <p:spPr>
          <a:xfrm>
            <a:off x="11459260" y="978408"/>
            <a:ext cx="91440" cy="91440"/>
          </a:xfrm>
          <a:prstGeom prst="ellipse">
            <a:avLst/>
          </a:prstGeom>
          <a:solidFill>
            <a:srgbClr val="67D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a:extLst>
              <a:ext uri="{FF2B5EF4-FFF2-40B4-BE49-F238E27FC236}">
                <a16:creationId xmlns:a16="http://schemas.microsoft.com/office/drawing/2014/main" id="{7DF1B92F-9E08-E361-9B40-EB77DFB52382}"/>
              </a:ext>
            </a:extLst>
          </p:cNvPr>
          <p:cNvSpPr>
            <a:spLocks noGrp="1"/>
          </p:cNvSpPr>
          <p:nvPr>
            <p:ph type="title"/>
          </p:nvPr>
        </p:nvSpPr>
        <p:spPr>
          <a:xfrm>
            <a:off x="548640" y="347472"/>
            <a:ext cx="9509760" cy="731520"/>
          </a:xfrm>
        </p:spPr>
        <p:txBody>
          <a:bodyPr wrap="square" lIns="0" tIns="0" rIns="0" bIns="0" anchor="ctr">
            <a:noAutofit/>
          </a:bodyPr>
          <a:lstStyle/>
          <a:p>
            <a:pPr marL="0" indent="0" algn="l">
              <a:buNone/>
            </a:pPr>
            <a:r>
              <a:rPr lang="en-US" sz="3200" b="1" dirty="0">
                <a:solidFill>
                  <a:srgbClr val="0B1F3A"/>
                </a:solidFill>
                <a:latin typeface="Calibri" panose="02020603050405020304" pitchFamily="18" charset="0"/>
              </a:rPr>
              <a:t>Dataset</a:t>
            </a:r>
            <a:r>
              <a:rPr lang="en-US" sz="3200" b="1" dirty="0">
                <a:solidFill>
                  <a:srgbClr val="0B1F3A"/>
                </a:solidFill>
                <a:latin typeface="Calibri"/>
              </a:rPr>
              <a:t> Overview</a:t>
            </a:r>
            <a:endParaRPr lang="en-IN" dirty="0"/>
          </a:p>
        </p:txBody>
      </p:sp>
      <p:sp>
        <p:nvSpPr>
          <p:cNvPr id="26" name="Dataset card"/>
          <p:cNvSpPr/>
          <p:nvPr/>
        </p:nvSpPr>
        <p:spPr>
          <a:xfrm>
            <a:off x="548640" y="1371600"/>
            <a:ext cx="6035040" cy="2423160"/>
          </a:xfrm>
          <a:prstGeom prst="rect">
            <a:avLst/>
          </a:prstGeom>
          <a:solidFill>
            <a:srgbClr val="F3F7FB"/>
          </a:solidFill>
          <a:ln w="9525">
            <a:solidFill>
              <a:srgbClr val="DCE5EE"/>
            </a:solidFill>
          </a:ln>
          <a:effectLst>
            <a:outerShdw blurRad="76200" dist="19050" dir="5400000" algn="t" rotWithShape="0">
              <a:srgbClr val="0B1F3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Dataset facts"/>
          <p:cNvSpPr txBox="1"/>
          <p:nvPr/>
        </p:nvSpPr>
        <p:spPr>
          <a:xfrm>
            <a:off x="822960" y="1371600"/>
            <a:ext cx="5532120" cy="2423160"/>
          </a:xfrm>
          <a:prstGeom prst="rect">
            <a:avLst/>
          </a:prstGeom>
          <a:noFill/>
        </p:spPr>
        <p:txBody>
          <a:bodyPr wrap="square" lIns="0" tIns="0" rIns="0" bIns="0" anchor="ctr">
            <a:spAutoFit/>
          </a:bodyPr>
          <a:lstStyle/>
          <a:p>
            <a:pPr>
              <a:spcAft>
                <a:spcPts val="800"/>
              </a:spcAft>
            </a:pPr>
            <a:r>
              <a:rPr sz="1800" b="1">
                <a:solidFill>
                  <a:srgbClr val="0E7490"/>
                </a:solidFill>
                <a:latin typeface="Calibri"/>
              </a:rPr>
              <a:t>Dataset:</a:t>
            </a:r>
            <a:r>
              <a:rPr sz="1800" b="0">
                <a:solidFill>
                  <a:srgbClr val="1E293B"/>
                </a:solidFill>
                <a:latin typeface="Calibri"/>
              </a:rPr>
              <a:t> Movie Metadata</a:t>
            </a:r>
          </a:p>
          <a:p>
            <a:pPr>
              <a:spcAft>
                <a:spcPts val="800"/>
              </a:spcAft>
            </a:pPr>
            <a:r>
              <a:rPr sz="1800" b="1">
                <a:solidFill>
                  <a:srgbClr val="0E7490"/>
                </a:solidFill>
                <a:latin typeface="Calibri"/>
              </a:rPr>
              <a:t>Original records:</a:t>
            </a:r>
            <a:r>
              <a:rPr sz="1800" b="0">
                <a:solidFill>
                  <a:srgbClr val="1E293B"/>
                </a:solidFill>
                <a:latin typeface="Calibri"/>
              </a:rPr>
              <a:t> 5,043 movies</a:t>
            </a:r>
          </a:p>
          <a:p>
            <a:pPr>
              <a:spcAft>
                <a:spcPts val="800"/>
              </a:spcAft>
            </a:pPr>
            <a:r>
              <a:rPr sz="1800" b="1">
                <a:solidFill>
                  <a:srgbClr val="0E7490"/>
                </a:solidFill>
                <a:latin typeface="Calibri"/>
              </a:rPr>
              <a:t>Features:</a:t>
            </a:r>
            <a:r>
              <a:rPr sz="1800" b="0">
                <a:solidFill>
                  <a:srgbClr val="1E293B"/>
                </a:solidFill>
                <a:latin typeface="Calibri"/>
              </a:rPr>
              <a:t> 28 columns containing movie metadata</a:t>
            </a:r>
          </a:p>
          <a:p>
            <a:pPr>
              <a:spcAft>
                <a:spcPts val="800"/>
              </a:spcAft>
            </a:pPr>
            <a:r>
              <a:rPr sz="1800" b="1">
                <a:solidFill>
                  <a:srgbClr val="0E7490"/>
                </a:solidFill>
                <a:latin typeface="Calibri"/>
              </a:rPr>
              <a:t>Key features:</a:t>
            </a:r>
            <a:r>
              <a:rPr sz="1800" b="0">
                <a:solidFill>
                  <a:srgbClr val="1E293B"/>
                </a:solidFill>
                <a:latin typeface="Calibri"/>
              </a:rPr>
              <a:t> Genre, budget, duration, director, cast, release year, and IMDb score</a:t>
            </a:r>
          </a:p>
        </p:txBody>
      </p:sp>
      <p:sp>
        <p:nvSpPr>
          <p:cNvPr id="28" name="Target heading"/>
          <p:cNvSpPr txBox="1"/>
          <p:nvPr/>
        </p:nvSpPr>
        <p:spPr>
          <a:xfrm>
            <a:off x="548640" y="3977639"/>
            <a:ext cx="6035040" cy="457200"/>
          </a:xfrm>
          <a:prstGeom prst="rect">
            <a:avLst/>
          </a:prstGeom>
          <a:noFill/>
        </p:spPr>
        <p:txBody>
          <a:bodyPr wrap="square" lIns="0" tIns="0" rIns="0" bIns="0" anchor="ctr">
            <a:spAutoFit/>
          </a:bodyPr>
          <a:lstStyle/>
          <a:p>
            <a:pPr>
              <a:spcAft>
                <a:spcPts val="0"/>
              </a:spcAft>
            </a:pPr>
            <a:r>
              <a:rPr sz="2200" b="1">
                <a:solidFill>
                  <a:srgbClr val="0B1F3A"/>
                </a:solidFill>
                <a:latin typeface="Calibri"/>
              </a:rPr>
              <a:t>Target Categories</a:t>
            </a:r>
          </a:p>
        </p:txBody>
      </p:sp>
      <p:sp>
        <p:nvSpPr>
          <p:cNvPr id="29" name="Category card"/>
          <p:cNvSpPr/>
          <p:nvPr/>
        </p:nvSpPr>
        <p:spPr>
          <a:xfrm>
            <a:off x="548640" y="4526280"/>
            <a:ext cx="1901952" cy="1325880"/>
          </a:xfrm>
          <a:prstGeom prst="rect">
            <a:avLst/>
          </a:prstGeom>
          <a:solidFill>
            <a:srgbClr val="F3F7FB"/>
          </a:solidFill>
          <a:ln w="9525">
            <a:solidFill>
              <a:srgbClr val="DCE5EE"/>
            </a:solidFill>
          </a:ln>
          <a:effectLst>
            <a:outerShdw blurRad="76200" dist="19050" dir="5400000" algn="t" rotWithShape="0">
              <a:srgbClr val="0B1F3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Marker"/>
          <p:cNvSpPr/>
          <p:nvPr/>
        </p:nvSpPr>
        <p:spPr>
          <a:xfrm>
            <a:off x="722375" y="4745736"/>
            <a:ext cx="201168" cy="201168"/>
          </a:xfrm>
          <a:prstGeom prst="ellipse">
            <a:avLst/>
          </a:prstGeom>
          <a:solidFill>
            <a:srgbClr val="E548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Category"/>
          <p:cNvSpPr txBox="1"/>
          <p:nvPr/>
        </p:nvSpPr>
        <p:spPr>
          <a:xfrm>
            <a:off x="731520" y="5074920"/>
            <a:ext cx="1600200" cy="731520"/>
          </a:xfrm>
          <a:prstGeom prst="rect">
            <a:avLst/>
          </a:prstGeom>
          <a:noFill/>
        </p:spPr>
        <p:txBody>
          <a:bodyPr wrap="square" lIns="0" tIns="0" rIns="0" bIns="0" anchor="t">
            <a:spAutoFit/>
          </a:bodyPr>
          <a:lstStyle/>
          <a:p>
            <a:pPr>
              <a:spcAft>
                <a:spcPts val="0"/>
              </a:spcAft>
            </a:pPr>
            <a:r>
              <a:rPr sz="1600" b="0">
                <a:solidFill>
                  <a:srgbClr val="1E293B"/>
                </a:solidFill>
                <a:latin typeface="Calibri"/>
              </a:rPr>
              <a:t>Flop: IMDb score ≤ 3</a:t>
            </a:r>
          </a:p>
        </p:txBody>
      </p:sp>
      <p:sp>
        <p:nvSpPr>
          <p:cNvPr id="32" name="Category card"/>
          <p:cNvSpPr/>
          <p:nvPr/>
        </p:nvSpPr>
        <p:spPr>
          <a:xfrm>
            <a:off x="2615184" y="4526280"/>
            <a:ext cx="1901952" cy="1325880"/>
          </a:xfrm>
          <a:prstGeom prst="rect">
            <a:avLst/>
          </a:prstGeom>
          <a:solidFill>
            <a:srgbClr val="F3F7FB"/>
          </a:solidFill>
          <a:ln w="9525">
            <a:solidFill>
              <a:srgbClr val="DCE5EE"/>
            </a:solidFill>
          </a:ln>
          <a:effectLst>
            <a:outerShdw blurRad="76200" dist="19050" dir="5400000" algn="t" rotWithShape="0">
              <a:srgbClr val="0B1F3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Marker"/>
          <p:cNvSpPr/>
          <p:nvPr/>
        </p:nvSpPr>
        <p:spPr>
          <a:xfrm>
            <a:off x="2788920" y="4745736"/>
            <a:ext cx="201168" cy="201168"/>
          </a:xfrm>
          <a:prstGeom prst="ellipse">
            <a:avLst/>
          </a:prstGeom>
          <a:solidFill>
            <a:srgbClr val="F5B8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Category"/>
          <p:cNvSpPr txBox="1"/>
          <p:nvPr/>
        </p:nvSpPr>
        <p:spPr>
          <a:xfrm>
            <a:off x="2798064" y="5074920"/>
            <a:ext cx="1600200" cy="731520"/>
          </a:xfrm>
          <a:prstGeom prst="rect">
            <a:avLst/>
          </a:prstGeom>
          <a:noFill/>
        </p:spPr>
        <p:txBody>
          <a:bodyPr wrap="square" lIns="0" tIns="0" rIns="0" bIns="0" anchor="t">
            <a:spAutoFit/>
          </a:bodyPr>
          <a:lstStyle/>
          <a:p>
            <a:pPr>
              <a:spcAft>
                <a:spcPts val="0"/>
              </a:spcAft>
            </a:pPr>
            <a:r>
              <a:rPr sz="1600" b="0">
                <a:solidFill>
                  <a:srgbClr val="1E293B"/>
                </a:solidFill>
                <a:latin typeface="Calibri"/>
              </a:rPr>
              <a:t>Average: IMDb score &gt; 3 and ≤ 6</a:t>
            </a:r>
          </a:p>
        </p:txBody>
      </p:sp>
      <p:sp>
        <p:nvSpPr>
          <p:cNvPr id="35" name="Category card"/>
          <p:cNvSpPr/>
          <p:nvPr/>
        </p:nvSpPr>
        <p:spPr>
          <a:xfrm>
            <a:off x="4681727" y="4526280"/>
            <a:ext cx="1901952" cy="1325880"/>
          </a:xfrm>
          <a:prstGeom prst="rect">
            <a:avLst/>
          </a:prstGeom>
          <a:solidFill>
            <a:srgbClr val="F3F7FB"/>
          </a:solidFill>
          <a:ln w="9525">
            <a:solidFill>
              <a:srgbClr val="DCE5EE"/>
            </a:solidFill>
          </a:ln>
          <a:effectLst>
            <a:outerShdw blurRad="76200" dist="19050" dir="5400000" algn="t" rotWithShape="0">
              <a:srgbClr val="0B1F3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Marker"/>
          <p:cNvSpPr/>
          <p:nvPr/>
        </p:nvSpPr>
        <p:spPr>
          <a:xfrm>
            <a:off x="4855463" y="4745736"/>
            <a:ext cx="201168" cy="201168"/>
          </a:xfrm>
          <a:prstGeom prst="ellipse">
            <a:avLst/>
          </a:prstGeom>
          <a:solidFill>
            <a:srgbClr val="22C5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Category"/>
          <p:cNvSpPr txBox="1"/>
          <p:nvPr/>
        </p:nvSpPr>
        <p:spPr>
          <a:xfrm>
            <a:off x="4864607" y="5074920"/>
            <a:ext cx="1600200" cy="731520"/>
          </a:xfrm>
          <a:prstGeom prst="rect">
            <a:avLst/>
          </a:prstGeom>
          <a:noFill/>
        </p:spPr>
        <p:txBody>
          <a:bodyPr wrap="square" lIns="0" tIns="0" rIns="0" bIns="0" anchor="t">
            <a:spAutoFit/>
          </a:bodyPr>
          <a:lstStyle/>
          <a:p>
            <a:pPr>
              <a:spcAft>
                <a:spcPts val="0"/>
              </a:spcAft>
            </a:pPr>
            <a:r>
              <a:rPr sz="1600" b="0">
                <a:solidFill>
                  <a:srgbClr val="1E293B"/>
                </a:solidFill>
                <a:latin typeface="Calibri"/>
              </a:rPr>
              <a:t>Hit: IMDb score &gt; 6</a:t>
            </a:r>
          </a:p>
        </p:txBody>
      </p:sp>
      <p:sp>
        <p:nvSpPr>
          <p:cNvPr id="38" name="Chart panel"/>
          <p:cNvSpPr/>
          <p:nvPr/>
        </p:nvSpPr>
        <p:spPr>
          <a:xfrm>
            <a:off x="6949440" y="1371600"/>
            <a:ext cx="4690872" cy="4480560"/>
          </a:xfrm>
          <a:prstGeom prst="rect">
            <a:avLst/>
          </a:prstGeom>
          <a:solidFill>
            <a:srgbClr val="0B1F3A"/>
          </a:solidFill>
          <a:ln>
            <a:noFill/>
          </a:ln>
          <a:effectLst>
            <a:outerShdw blurRad="76200" dist="19050" dir="5400000" algn="t" rotWithShape="0">
              <a:srgbClr val="0B1F3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a:extLst>
              <a:ext uri="{FF2B5EF4-FFF2-40B4-BE49-F238E27FC236}">
                <a16:creationId xmlns:a16="http://schemas.microsoft.com/office/drawing/2014/main" id="{B59BFDDD-90F0-4DCB-5152-4680560D45FF}"/>
              </a:ext>
            </a:extLst>
          </p:cNvPr>
          <p:cNvPicPr>
            <a:picLocks noChangeAspect="1"/>
          </p:cNvPicPr>
          <p:nvPr/>
        </p:nvPicPr>
        <p:blipFill>
          <a:blip r:embed="rId3"/>
          <a:stretch>
            <a:fillRect/>
          </a:stretch>
        </p:blipFill>
        <p:spPr>
          <a:xfrm>
            <a:off x="7237475" y="2232329"/>
            <a:ext cx="4114800" cy="2759101"/>
          </a:xfrm>
          <a:prstGeom prst="rect">
            <a:avLst/>
          </a:prstGeom>
        </p:spPr>
      </p:pic>
    </p:spTree>
    <p:extLst>
      <p:ext uri="{BB962C8B-B14F-4D97-AF65-F5344CB8AC3E}">
        <p14:creationId xmlns:p14="http://schemas.microsoft.com/office/powerpoint/2010/main" val="15577275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5" name="Network line"/>
          <p:cNvCxnSpPr/>
          <p:nvPr/>
        </p:nvCxnSpPr>
        <p:spPr>
          <a:xfrm flipV="1">
            <a:off x="10388498" y="457200"/>
            <a:ext cx="405994" cy="402336"/>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6" name="Network line"/>
          <p:cNvCxnSpPr/>
          <p:nvPr/>
        </p:nvCxnSpPr>
        <p:spPr>
          <a:xfrm>
            <a:off x="10794492" y="457200"/>
            <a:ext cx="372160" cy="347472"/>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7" name="Network line"/>
          <p:cNvCxnSpPr/>
          <p:nvPr/>
        </p:nvCxnSpPr>
        <p:spPr>
          <a:xfrm flipV="1">
            <a:off x="11166652" y="365760"/>
            <a:ext cx="439827" cy="438912"/>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8" name="Network line"/>
          <p:cNvCxnSpPr/>
          <p:nvPr/>
        </p:nvCxnSpPr>
        <p:spPr>
          <a:xfrm>
            <a:off x="11606479" y="365760"/>
            <a:ext cx="270662" cy="310896"/>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9" name="Network line"/>
          <p:cNvCxnSpPr/>
          <p:nvPr/>
        </p:nvCxnSpPr>
        <p:spPr>
          <a:xfrm flipV="1">
            <a:off x="11166652" y="676656"/>
            <a:ext cx="710489" cy="128016"/>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10" name="Network line"/>
          <p:cNvCxnSpPr/>
          <p:nvPr/>
        </p:nvCxnSpPr>
        <p:spPr>
          <a:xfrm flipH="1">
            <a:off x="11132820" y="804672"/>
            <a:ext cx="33832" cy="283464"/>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11" name="Network line"/>
          <p:cNvCxnSpPr/>
          <p:nvPr/>
        </p:nvCxnSpPr>
        <p:spPr>
          <a:xfrm flipH="1" flipV="1">
            <a:off x="10591495" y="246888"/>
            <a:ext cx="202997" cy="210312"/>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12" name="Network line"/>
          <p:cNvCxnSpPr/>
          <p:nvPr/>
        </p:nvCxnSpPr>
        <p:spPr>
          <a:xfrm flipV="1">
            <a:off x="10388498" y="804672"/>
            <a:ext cx="778154" cy="54864"/>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13" name="Network line"/>
          <p:cNvCxnSpPr/>
          <p:nvPr/>
        </p:nvCxnSpPr>
        <p:spPr>
          <a:xfrm flipH="1">
            <a:off x="11504980" y="676656"/>
            <a:ext cx="372161" cy="347472"/>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14" name="Network line"/>
          <p:cNvCxnSpPr/>
          <p:nvPr/>
        </p:nvCxnSpPr>
        <p:spPr>
          <a:xfrm flipV="1">
            <a:off x="11132820" y="1024128"/>
            <a:ext cx="372160" cy="64008"/>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sp>
        <p:nvSpPr>
          <p:cNvPr id="15" name="Network node"/>
          <p:cNvSpPr/>
          <p:nvPr/>
        </p:nvSpPr>
        <p:spPr>
          <a:xfrm>
            <a:off x="10342778" y="813815"/>
            <a:ext cx="91440" cy="91440"/>
          </a:xfrm>
          <a:prstGeom prst="ellipse">
            <a:avLst/>
          </a:prstGeom>
          <a:solidFill>
            <a:srgbClr val="67D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Network node"/>
          <p:cNvSpPr/>
          <p:nvPr/>
        </p:nvSpPr>
        <p:spPr>
          <a:xfrm>
            <a:off x="10748772" y="411480"/>
            <a:ext cx="91440" cy="91440"/>
          </a:xfrm>
          <a:prstGeom prst="ellipse">
            <a:avLst/>
          </a:prstGeom>
          <a:solidFill>
            <a:srgbClr val="67D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Network node"/>
          <p:cNvSpPr/>
          <p:nvPr/>
        </p:nvSpPr>
        <p:spPr>
          <a:xfrm>
            <a:off x="11102644" y="740664"/>
            <a:ext cx="128016" cy="128016"/>
          </a:xfrm>
          <a:prstGeom prst="ellipse">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Network node"/>
          <p:cNvSpPr/>
          <p:nvPr/>
        </p:nvSpPr>
        <p:spPr>
          <a:xfrm>
            <a:off x="11542471" y="301752"/>
            <a:ext cx="128016" cy="128016"/>
          </a:xfrm>
          <a:prstGeom prst="ellipse">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Network node"/>
          <p:cNvSpPr/>
          <p:nvPr/>
        </p:nvSpPr>
        <p:spPr>
          <a:xfrm>
            <a:off x="11831421" y="630936"/>
            <a:ext cx="91440" cy="91440"/>
          </a:xfrm>
          <a:prstGeom prst="ellipse">
            <a:avLst/>
          </a:prstGeom>
          <a:solidFill>
            <a:srgbClr val="67D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Network node"/>
          <p:cNvSpPr/>
          <p:nvPr/>
        </p:nvSpPr>
        <p:spPr>
          <a:xfrm>
            <a:off x="11087100" y="1042415"/>
            <a:ext cx="91440" cy="91440"/>
          </a:xfrm>
          <a:prstGeom prst="ellipse">
            <a:avLst/>
          </a:prstGeom>
          <a:solidFill>
            <a:srgbClr val="67D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Network node"/>
          <p:cNvSpPr/>
          <p:nvPr/>
        </p:nvSpPr>
        <p:spPr>
          <a:xfrm>
            <a:off x="10545775" y="201168"/>
            <a:ext cx="91440" cy="91440"/>
          </a:xfrm>
          <a:prstGeom prst="ellipse">
            <a:avLst/>
          </a:prstGeom>
          <a:solidFill>
            <a:srgbClr val="67D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Network node"/>
          <p:cNvSpPr/>
          <p:nvPr/>
        </p:nvSpPr>
        <p:spPr>
          <a:xfrm>
            <a:off x="11459260" y="978408"/>
            <a:ext cx="91440" cy="91440"/>
          </a:xfrm>
          <a:prstGeom prst="ellipse">
            <a:avLst/>
          </a:prstGeom>
          <a:solidFill>
            <a:srgbClr val="67D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a:xfrm>
            <a:off x="548640" y="347472"/>
            <a:ext cx="9509760" cy="731520"/>
          </a:xfrm>
        </p:spPr>
        <p:txBody>
          <a:bodyPr wrap="square" lIns="0" tIns="0" rIns="0" bIns="0" anchor="ctr">
            <a:noAutofit/>
          </a:bodyPr>
          <a:lstStyle/>
          <a:p>
            <a:pPr marL="0" indent="0" algn="l">
              <a:buNone/>
            </a:pPr>
            <a:r>
              <a:rPr lang="en-US" sz="3200" b="1" dirty="0">
                <a:solidFill>
                  <a:srgbClr val="0B1F3A"/>
                </a:solidFill>
                <a:latin typeface="Calibri"/>
              </a:rPr>
              <a:t>Exploratory Data Analysis</a:t>
            </a:r>
          </a:p>
        </p:txBody>
      </p:sp>
      <p:sp>
        <p:nvSpPr>
          <p:cNvPr id="23" name="Intro banner"/>
          <p:cNvSpPr/>
          <p:nvPr/>
        </p:nvSpPr>
        <p:spPr>
          <a:xfrm>
            <a:off x="548640" y="1371600"/>
            <a:ext cx="11091672" cy="868680"/>
          </a:xfrm>
          <a:prstGeom prst="rect">
            <a:avLst/>
          </a:prstGeom>
          <a:solidFill>
            <a:srgbClr val="0B1F3A"/>
          </a:solidFill>
          <a:ln>
            <a:noFill/>
          </a:ln>
          <a:effectLst>
            <a:outerShdw blurRad="76200" dist="19050" dir="5400000" algn="t" rotWithShape="0">
              <a:srgbClr val="0B1F3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EDA intro"/>
          <p:cNvSpPr txBox="1"/>
          <p:nvPr/>
        </p:nvSpPr>
        <p:spPr>
          <a:xfrm>
            <a:off x="868680" y="1371600"/>
            <a:ext cx="10515600" cy="868680"/>
          </a:xfrm>
          <a:prstGeom prst="rect">
            <a:avLst/>
          </a:prstGeom>
          <a:noFill/>
        </p:spPr>
        <p:txBody>
          <a:bodyPr wrap="square" lIns="0" tIns="0" rIns="0" bIns="0" anchor="ctr">
            <a:spAutoFit/>
          </a:bodyPr>
          <a:lstStyle/>
          <a:p>
            <a:pPr>
              <a:spcAft>
                <a:spcPts val="0"/>
              </a:spcAft>
            </a:pPr>
            <a:r>
              <a:rPr sz="1800" b="0">
                <a:solidFill>
                  <a:srgbClr val="FFFFFF"/>
                </a:solidFill>
                <a:latin typeface="Calibri"/>
              </a:rPr>
              <a:t>Power BI was used to explore movie metadata and identify patterns in IMDb ratings.</a:t>
            </a:r>
          </a:p>
        </p:txBody>
      </p:sp>
      <p:sp>
        <p:nvSpPr>
          <p:cNvPr id="25" name="Key analyses card"/>
          <p:cNvSpPr/>
          <p:nvPr/>
        </p:nvSpPr>
        <p:spPr>
          <a:xfrm>
            <a:off x="548640" y="2423160"/>
            <a:ext cx="5943600" cy="3429000"/>
          </a:xfrm>
          <a:prstGeom prst="rect">
            <a:avLst/>
          </a:prstGeom>
          <a:solidFill>
            <a:srgbClr val="F3F7FB"/>
          </a:solidFill>
          <a:ln w="9525">
            <a:solidFill>
              <a:srgbClr val="DCE5EE"/>
            </a:solidFill>
          </a:ln>
          <a:effectLst>
            <a:outerShdw blurRad="76200" dist="19050" dir="5400000" algn="t" rotWithShape="0">
              <a:srgbClr val="0B1F3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Key analyses heading"/>
          <p:cNvSpPr txBox="1"/>
          <p:nvPr/>
        </p:nvSpPr>
        <p:spPr>
          <a:xfrm>
            <a:off x="868680" y="2560320"/>
            <a:ext cx="5394960" cy="457200"/>
          </a:xfrm>
          <a:prstGeom prst="rect">
            <a:avLst/>
          </a:prstGeom>
          <a:noFill/>
        </p:spPr>
        <p:txBody>
          <a:bodyPr wrap="square" lIns="0" tIns="0" rIns="0" bIns="0" anchor="ctr">
            <a:spAutoFit/>
          </a:bodyPr>
          <a:lstStyle/>
          <a:p>
            <a:pPr>
              <a:spcAft>
                <a:spcPts val="0"/>
              </a:spcAft>
            </a:pPr>
            <a:r>
              <a:rPr sz="2200" b="1">
                <a:solidFill>
                  <a:srgbClr val="0E7490"/>
                </a:solidFill>
                <a:latin typeface="Calibri"/>
              </a:rPr>
              <a:t>Key analyses</a:t>
            </a:r>
          </a:p>
        </p:txBody>
      </p:sp>
      <p:sp>
        <p:nvSpPr>
          <p:cNvPr id="27" name="Key analyses list"/>
          <p:cNvSpPr txBox="1"/>
          <p:nvPr/>
        </p:nvSpPr>
        <p:spPr>
          <a:xfrm>
            <a:off x="868680" y="3154680"/>
            <a:ext cx="5394960" cy="2606040"/>
          </a:xfrm>
          <a:prstGeom prst="rect">
            <a:avLst/>
          </a:prstGeom>
          <a:noFill/>
        </p:spPr>
        <p:txBody>
          <a:bodyPr wrap="square" lIns="0" tIns="0" rIns="0" bIns="0" anchor="t">
            <a:spAutoFit/>
          </a:bodyPr>
          <a:lstStyle/>
          <a:p>
            <a:pPr marL="274320" indent="-274320">
              <a:spcAft>
                <a:spcPts val="1000"/>
              </a:spcAft>
              <a:buClr>
                <a:srgbClr val="0E7490"/>
              </a:buClr>
              <a:buFont typeface="Arial"/>
              <a:buChar char="•"/>
            </a:pPr>
            <a:r>
              <a:rPr sz="1800" b="0">
                <a:solidFill>
                  <a:srgbClr val="1E293B"/>
                </a:solidFill>
                <a:latin typeface="Calibri"/>
              </a:rPr>
              <a:t>IMDb score distribution</a:t>
            </a:r>
          </a:p>
          <a:p>
            <a:pPr marL="274320" indent="-274320">
              <a:spcAft>
                <a:spcPts val="1000"/>
              </a:spcAft>
              <a:buClr>
                <a:srgbClr val="0E7490"/>
              </a:buClr>
              <a:buFont typeface="Arial"/>
              <a:buChar char="•"/>
            </a:pPr>
            <a:r>
              <a:rPr sz="1800" b="0">
                <a:solidFill>
                  <a:srgbClr val="1E293B"/>
                </a:solidFill>
                <a:latin typeface="Calibri"/>
              </a:rPr>
              <a:t>Most frequent movie genres</a:t>
            </a:r>
          </a:p>
          <a:p>
            <a:pPr marL="274320" indent="-274320">
              <a:spcAft>
                <a:spcPts val="1000"/>
              </a:spcAft>
              <a:buClr>
                <a:srgbClr val="0E7490"/>
              </a:buClr>
              <a:buFont typeface="Arial"/>
              <a:buChar char="•"/>
            </a:pPr>
            <a:r>
              <a:rPr sz="1800" b="0">
                <a:solidFill>
                  <a:srgbClr val="1E293B"/>
                </a:solidFill>
                <a:latin typeface="Calibri"/>
              </a:rPr>
              <a:t>Average IMDb score by genre</a:t>
            </a:r>
          </a:p>
          <a:p>
            <a:pPr marL="274320" indent="-274320">
              <a:spcAft>
                <a:spcPts val="1000"/>
              </a:spcAft>
              <a:buClr>
                <a:srgbClr val="0E7490"/>
              </a:buClr>
              <a:buFont typeface="Arial"/>
              <a:buChar char="•"/>
            </a:pPr>
            <a:r>
              <a:rPr sz="1800" b="0">
                <a:solidFill>
                  <a:srgbClr val="1E293B"/>
                </a:solidFill>
                <a:latin typeface="Calibri"/>
              </a:rPr>
              <a:t>Movie budget versus IMDb score</a:t>
            </a:r>
          </a:p>
          <a:p>
            <a:pPr marL="274320" indent="-274320">
              <a:spcAft>
                <a:spcPts val="1000"/>
              </a:spcAft>
              <a:buClr>
                <a:srgbClr val="0E7490"/>
              </a:buClr>
              <a:buFont typeface="Arial"/>
              <a:buChar char="•"/>
            </a:pPr>
            <a:r>
              <a:rPr sz="1800" b="0">
                <a:solidFill>
                  <a:srgbClr val="1E293B"/>
                </a:solidFill>
                <a:latin typeface="Calibri"/>
              </a:rPr>
              <a:t>Movie release trends over time</a:t>
            </a:r>
          </a:p>
          <a:p>
            <a:pPr marL="274320" indent="-274320">
              <a:spcAft>
                <a:spcPts val="1000"/>
              </a:spcAft>
              <a:buClr>
                <a:srgbClr val="0E7490"/>
              </a:buClr>
              <a:buFont typeface="Arial"/>
              <a:buChar char="•"/>
            </a:pPr>
            <a:r>
              <a:rPr sz="1800" b="0">
                <a:solidFill>
                  <a:srgbClr val="1E293B"/>
                </a:solidFill>
                <a:latin typeface="Calibri"/>
              </a:rPr>
              <a:t>Distribution of Flop, Average, and Hit categories</a:t>
            </a:r>
          </a:p>
        </p:txBody>
      </p:sp>
      <p:sp>
        <p:nvSpPr>
          <p:cNvPr id="28" name="Observations card"/>
          <p:cNvSpPr/>
          <p:nvPr/>
        </p:nvSpPr>
        <p:spPr>
          <a:xfrm>
            <a:off x="6675120" y="2423160"/>
            <a:ext cx="4965192" cy="3429000"/>
          </a:xfrm>
          <a:prstGeom prst="rect">
            <a:avLst/>
          </a:prstGeom>
          <a:solidFill>
            <a:srgbClr val="F3F7FB"/>
          </a:solidFill>
          <a:ln w="9525">
            <a:solidFill>
              <a:srgbClr val="DCE5EE"/>
            </a:solidFill>
          </a:ln>
          <a:effectLst>
            <a:outerShdw blurRad="76200" dist="19050" dir="5400000" algn="t" rotWithShape="0">
              <a:srgbClr val="0B1F3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bservations heading"/>
          <p:cNvSpPr txBox="1"/>
          <p:nvPr/>
        </p:nvSpPr>
        <p:spPr>
          <a:xfrm>
            <a:off x="6995160" y="2560320"/>
            <a:ext cx="4389120" cy="457200"/>
          </a:xfrm>
          <a:prstGeom prst="rect">
            <a:avLst/>
          </a:prstGeom>
          <a:noFill/>
        </p:spPr>
        <p:txBody>
          <a:bodyPr wrap="square" lIns="0" tIns="0" rIns="0" bIns="0" anchor="ctr">
            <a:spAutoFit/>
          </a:bodyPr>
          <a:lstStyle/>
          <a:p>
            <a:pPr>
              <a:spcAft>
                <a:spcPts val="0"/>
              </a:spcAft>
            </a:pPr>
            <a:r>
              <a:rPr sz="2200" b="1">
                <a:solidFill>
                  <a:srgbClr val="0E7490"/>
                </a:solidFill>
                <a:latin typeface="Calibri"/>
              </a:rPr>
              <a:t>Initial observations</a:t>
            </a:r>
          </a:p>
        </p:txBody>
      </p:sp>
      <p:sp>
        <p:nvSpPr>
          <p:cNvPr id="30" name="Observations list"/>
          <p:cNvSpPr txBox="1"/>
          <p:nvPr/>
        </p:nvSpPr>
        <p:spPr>
          <a:xfrm>
            <a:off x="6995160" y="3154680"/>
            <a:ext cx="4343400" cy="2606040"/>
          </a:xfrm>
          <a:prstGeom prst="rect">
            <a:avLst/>
          </a:prstGeom>
          <a:noFill/>
        </p:spPr>
        <p:txBody>
          <a:bodyPr wrap="square" lIns="0" tIns="0" rIns="0" bIns="0" anchor="t">
            <a:spAutoFit/>
          </a:bodyPr>
          <a:lstStyle/>
          <a:p>
            <a:pPr marL="274320" indent="-274320">
              <a:spcAft>
                <a:spcPts val="1200"/>
              </a:spcAft>
              <a:buClr>
                <a:srgbClr val="0E7490"/>
              </a:buClr>
              <a:buFont typeface="Arial"/>
              <a:buChar char="•"/>
            </a:pPr>
            <a:r>
              <a:rPr sz="1800" b="0">
                <a:solidFill>
                  <a:srgbClr val="1E293B"/>
                </a:solidFill>
                <a:latin typeface="Calibri"/>
              </a:rPr>
              <a:t>Hit movies outnumber Flop movies in the dataset.</a:t>
            </a:r>
          </a:p>
          <a:p>
            <a:pPr marL="274320" indent="-274320">
              <a:spcAft>
                <a:spcPts val="1200"/>
              </a:spcAft>
              <a:buClr>
                <a:srgbClr val="0E7490"/>
              </a:buClr>
              <a:buFont typeface="Arial"/>
              <a:buChar char="•"/>
            </a:pPr>
            <a:r>
              <a:rPr sz="1800" b="0">
                <a:solidFill>
                  <a:srgbClr val="1E293B"/>
                </a:solidFill>
                <a:latin typeface="Calibri"/>
              </a:rPr>
              <a:t>Movie budgets do not show an obvious strong relationship with IMDb scores in the scatter plot.</a:t>
            </a:r>
          </a:p>
          <a:p>
            <a:pPr marL="274320" indent="-274320">
              <a:spcAft>
                <a:spcPts val="1200"/>
              </a:spcAft>
              <a:buClr>
                <a:srgbClr val="0E7490"/>
              </a:buClr>
              <a:buFont typeface="Arial"/>
              <a:buChar char="•"/>
            </a:pPr>
            <a:r>
              <a:rPr sz="1800" b="0">
                <a:solidFill>
                  <a:srgbClr val="1E293B"/>
                </a:solidFill>
                <a:latin typeface="Calibri"/>
              </a:rPr>
              <a:t>IMDb ratings vary across genres.</a:t>
            </a:r>
          </a:p>
        </p:txBody>
      </p:sp>
    </p:spTree>
    <p:extLst>
      <p:ext uri="{BB962C8B-B14F-4D97-AF65-F5344CB8AC3E}">
        <p14:creationId xmlns:p14="http://schemas.microsoft.com/office/powerpoint/2010/main" val="28459924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867D912-DCE0-97AD-225E-58EDA3B7551D}"/>
            </a:ext>
          </a:extLst>
        </p:cNvPr>
        <p:cNvGrpSpPr/>
        <p:nvPr/>
      </p:nvGrpSpPr>
      <p:grpSpPr>
        <a:xfrm>
          <a:off x="0" y="0"/>
          <a:ext cx="0" cy="0"/>
          <a:chOff x="0" y="0"/>
          <a:chExt cx="0" cy="0"/>
        </a:xfrm>
      </p:grpSpPr>
      <p:sp>
        <p:nvSpPr>
          <p:cNvPr id="6" name="Screenshot frame"/>
          <p:cNvSpPr/>
          <p:nvPr/>
        </p:nvSpPr>
        <p:spPr>
          <a:xfrm>
            <a:off x="865560" y="411480"/>
            <a:ext cx="10460573" cy="5532120"/>
          </a:xfrm>
          <a:prstGeom prst="rect">
            <a:avLst/>
          </a:prstGeom>
          <a:solidFill>
            <a:srgbClr val="0B1F3A"/>
          </a:solidFill>
          <a:ln>
            <a:noFill/>
          </a:ln>
          <a:effectLst>
            <a:outerShdw blurRad="76200" dist="19050" dir="5400000" algn="t" rotWithShape="0">
              <a:srgbClr val="0B1F3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Content Placeholder 4">
            <a:extLst>
              <a:ext uri="{FF2B5EF4-FFF2-40B4-BE49-F238E27FC236}">
                <a16:creationId xmlns:a16="http://schemas.microsoft.com/office/drawing/2014/main" id="{895F15AF-B46D-9944-F854-FF12F0A5FFF0}"/>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975288" y="521208"/>
            <a:ext cx="10241117" cy="5312664"/>
          </a:xfrm>
          <a:prstGeom prst="rect">
            <a:avLst/>
          </a:prstGeom>
        </p:spPr>
      </p:pic>
    </p:spTree>
    <p:extLst>
      <p:ext uri="{BB962C8B-B14F-4D97-AF65-F5344CB8AC3E}">
        <p14:creationId xmlns:p14="http://schemas.microsoft.com/office/powerpoint/2010/main" val="30175950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D6F3E5A-C997-338B-DC40-5D43D4671D96}"/>
            </a:ext>
          </a:extLst>
        </p:cNvPr>
        <p:cNvGrpSpPr/>
        <p:nvPr/>
      </p:nvGrpSpPr>
      <p:grpSpPr>
        <a:xfrm>
          <a:off x="0" y="0"/>
          <a:ext cx="0" cy="0"/>
          <a:chOff x="0" y="0"/>
          <a:chExt cx="0" cy="0"/>
        </a:xfrm>
      </p:grpSpPr>
      <p:cxnSp>
        <p:nvCxnSpPr>
          <p:cNvPr id="5" name="Network line"/>
          <p:cNvCxnSpPr/>
          <p:nvPr/>
        </p:nvCxnSpPr>
        <p:spPr>
          <a:xfrm flipV="1">
            <a:off x="10388498" y="457200"/>
            <a:ext cx="405994" cy="402336"/>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6" name="Network line"/>
          <p:cNvCxnSpPr/>
          <p:nvPr/>
        </p:nvCxnSpPr>
        <p:spPr>
          <a:xfrm>
            <a:off x="10794492" y="457200"/>
            <a:ext cx="372160" cy="347472"/>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7" name="Network line"/>
          <p:cNvCxnSpPr/>
          <p:nvPr/>
        </p:nvCxnSpPr>
        <p:spPr>
          <a:xfrm flipV="1">
            <a:off x="11166652" y="365760"/>
            <a:ext cx="439827" cy="438912"/>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8" name="Network line"/>
          <p:cNvCxnSpPr/>
          <p:nvPr/>
        </p:nvCxnSpPr>
        <p:spPr>
          <a:xfrm>
            <a:off x="11606479" y="365760"/>
            <a:ext cx="270662" cy="310896"/>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9" name="Network line"/>
          <p:cNvCxnSpPr/>
          <p:nvPr/>
        </p:nvCxnSpPr>
        <p:spPr>
          <a:xfrm flipV="1">
            <a:off x="11166652" y="676656"/>
            <a:ext cx="710489" cy="128016"/>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10" name="Network line"/>
          <p:cNvCxnSpPr/>
          <p:nvPr/>
        </p:nvCxnSpPr>
        <p:spPr>
          <a:xfrm flipH="1">
            <a:off x="11132820" y="804672"/>
            <a:ext cx="33832" cy="283464"/>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11" name="Network line"/>
          <p:cNvCxnSpPr/>
          <p:nvPr/>
        </p:nvCxnSpPr>
        <p:spPr>
          <a:xfrm flipH="1" flipV="1">
            <a:off x="10591495" y="246888"/>
            <a:ext cx="202997" cy="210312"/>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12" name="Network line"/>
          <p:cNvCxnSpPr/>
          <p:nvPr/>
        </p:nvCxnSpPr>
        <p:spPr>
          <a:xfrm flipV="1">
            <a:off x="10388498" y="804672"/>
            <a:ext cx="778154" cy="54864"/>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13" name="Network line"/>
          <p:cNvCxnSpPr/>
          <p:nvPr/>
        </p:nvCxnSpPr>
        <p:spPr>
          <a:xfrm flipH="1">
            <a:off x="11504980" y="676656"/>
            <a:ext cx="372161" cy="347472"/>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14" name="Network line"/>
          <p:cNvCxnSpPr/>
          <p:nvPr/>
        </p:nvCxnSpPr>
        <p:spPr>
          <a:xfrm flipV="1">
            <a:off x="11132820" y="1024128"/>
            <a:ext cx="372160" cy="64008"/>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sp>
        <p:nvSpPr>
          <p:cNvPr id="15" name="Network node"/>
          <p:cNvSpPr/>
          <p:nvPr/>
        </p:nvSpPr>
        <p:spPr>
          <a:xfrm>
            <a:off x="10342778" y="813815"/>
            <a:ext cx="91440" cy="91440"/>
          </a:xfrm>
          <a:prstGeom prst="ellipse">
            <a:avLst/>
          </a:prstGeom>
          <a:solidFill>
            <a:srgbClr val="67D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Network node"/>
          <p:cNvSpPr/>
          <p:nvPr/>
        </p:nvSpPr>
        <p:spPr>
          <a:xfrm>
            <a:off x="10748772" y="411480"/>
            <a:ext cx="91440" cy="91440"/>
          </a:xfrm>
          <a:prstGeom prst="ellipse">
            <a:avLst/>
          </a:prstGeom>
          <a:solidFill>
            <a:srgbClr val="67D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Network node"/>
          <p:cNvSpPr/>
          <p:nvPr/>
        </p:nvSpPr>
        <p:spPr>
          <a:xfrm>
            <a:off x="11102644" y="740664"/>
            <a:ext cx="128016" cy="128016"/>
          </a:xfrm>
          <a:prstGeom prst="ellipse">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Network node"/>
          <p:cNvSpPr/>
          <p:nvPr/>
        </p:nvSpPr>
        <p:spPr>
          <a:xfrm>
            <a:off x="11542471" y="301752"/>
            <a:ext cx="128016" cy="128016"/>
          </a:xfrm>
          <a:prstGeom prst="ellipse">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Network node"/>
          <p:cNvSpPr/>
          <p:nvPr/>
        </p:nvSpPr>
        <p:spPr>
          <a:xfrm>
            <a:off x="11831421" y="630936"/>
            <a:ext cx="91440" cy="91440"/>
          </a:xfrm>
          <a:prstGeom prst="ellipse">
            <a:avLst/>
          </a:prstGeom>
          <a:solidFill>
            <a:srgbClr val="67D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Network node"/>
          <p:cNvSpPr/>
          <p:nvPr/>
        </p:nvSpPr>
        <p:spPr>
          <a:xfrm>
            <a:off x="11087100" y="1042415"/>
            <a:ext cx="91440" cy="91440"/>
          </a:xfrm>
          <a:prstGeom prst="ellipse">
            <a:avLst/>
          </a:prstGeom>
          <a:solidFill>
            <a:srgbClr val="67D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Network node"/>
          <p:cNvSpPr/>
          <p:nvPr/>
        </p:nvSpPr>
        <p:spPr>
          <a:xfrm>
            <a:off x="10545775" y="201168"/>
            <a:ext cx="91440" cy="91440"/>
          </a:xfrm>
          <a:prstGeom prst="ellipse">
            <a:avLst/>
          </a:prstGeom>
          <a:solidFill>
            <a:srgbClr val="67D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Network node"/>
          <p:cNvSpPr/>
          <p:nvPr/>
        </p:nvSpPr>
        <p:spPr>
          <a:xfrm>
            <a:off x="11459260" y="978408"/>
            <a:ext cx="91440" cy="91440"/>
          </a:xfrm>
          <a:prstGeom prst="ellipse">
            <a:avLst/>
          </a:prstGeom>
          <a:solidFill>
            <a:srgbClr val="67D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itle 3">
            <a:extLst>
              <a:ext uri="{FF2B5EF4-FFF2-40B4-BE49-F238E27FC236}">
                <a16:creationId xmlns:a16="http://schemas.microsoft.com/office/drawing/2014/main" id="{448EEB53-26BC-8BB7-8B34-5F200BD37545}"/>
              </a:ext>
            </a:extLst>
          </p:cNvPr>
          <p:cNvSpPr>
            <a:spLocks noGrp="1"/>
          </p:cNvSpPr>
          <p:nvPr>
            <p:ph type="title"/>
          </p:nvPr>
        </p:nvSpPr>
        <p:spPr>
          <a:xfrm>
            <a:off x="548640" y="347472"/>
            <a:ext cx="9509760" cy="731520"/>
          </a:xfrm>
        </p:spPr>
        <p:txBody>
          <a:bodyPr wrap="square" lIns="0" tIns="0" rIns="0" bIns="0" anchor="ctr">
            <a:noAutofit/>
          </a:bodyPr>
          <a:lstStyle/>
          <a:p>
            <a:pPr marL="0" indent="0" algn="l">
              <a:buNone/>
            </a:pPr>
            <a:r>
              <a:rPr lang="en-US" sz="3200" b="1" dirty="0">
                <a:solidFill>
                  <a:srgbClr val="0B1F3A"/>
                </a:solidFill>
                <a:latin typeface="Calibri"/>
              </a:rPr>
              <a:t>Data Preprocessing &amp; Methodology</a:t>
            </a:r>
          </a:p>
        </p:txBody>
      </p:sp>
      <p:sp>
        <p:nvSpPr>
          <p:cNvPr id="23" name="Step card"/>
          <p:cNvSpPr/>
          <p:nvPr/>
        </p:nvSpPr>
        <p:spPr>
          <a:xfrm>
            <a:off x="548640" y="1371600"/>
            <a:ext cx="5440680" cy="658368"/>
          </a:xfrm>
          <a:prstGeom prst="rect">
            <a:avLst/>
          </a:prstGeom>
          <a:solidFill>
            <a:srgbClr val="F3F7FB"/>
          </a:solidFill>
          <a:ln w="9525">
            <a:solidFill>
              <a:srgbClr val="DCE5EE"/>
            </a:solidFill>
          </a:ln>
          <a:effectLst>
            <a:outerShdw blurRad="76200" dist="19050" dir="5400000" algn="t" rotWithShape="0">
              <a:srgbClr val="0B1F3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Marker"/>
          <p:cNvSpPr/>
          <p:nvPr/>
        </p:nvSpPr>
        <p:spPr>
          <a:xfrm>
            <a:off x="768096" y="1609343"/>
            <a:ext cx="182880" cy="182880"/>
          </a:xfrm>
          <a:prstGeom prst="ellipse">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Step"/>
          <p:cNvSpPr txBox="1"/>
          <p:nvPr/>
        </p:nvSpPr>
        <p:spPr>
          <a:xfrm>
            <a:off x="1188719" y="1371600"/>
            <a:ext cx="4663440" cy="658368"/>
          </a:xfrm>
          <a:prstGeom prst="rect">
            <a:avLst/>
          </a:prstGeom>
          <a:noFill/>
        </p:spPr>
        <p:txBody>
          <a:bodyPr wrap="square" lIns="0" tIns="0" rIns="0" bIns="0" anchor="ctr">
            <a:spAutoFit/>
          </a:bodyPr>
          <a:lstStyle/>
          <a:p>
            <a:pPr>
              <a:spcAft>
                <a:spcPts val="0"/>
              </a:spcAft>
            </a:pPr>
            <a:r>
              <a:rPr sz="1600" b="0">
                <a:solidFill>
                  <a:srgbClr val="1E293B"/>
                </a:solidFill>
                <a:latin typeface="Calibri"/>
              </a:rPr>
              <a:t>Removed duplicate records.</a:t>
            </a:r>
          </a:p>
        </p:txBody>
      </p:sp>
      <p:sp>
        <p:nvSpPr>
          <p:cNvPr id="26" name="Step card"/>
          <p:cNvSpPr/>
          <p:nvPr/>
        </p:nvSpPr>
        <p:spPr>
          <a:xfrm>
            <a:off x="548640" y="2121408"/>
            <a:ext cx="5440680" cy="658368"/>
          </a:xfrm>
          <a:prstGeom prst="rect">
            <a:avLst/>
          </a:prstGeom>
          <a:solidFill>
            <a:srgbClr val="F3F7FB"/>
          </a:solidFill>
          <a:ln w="9525">
            <a:solidFill>
              <a:srgbClr val="DCE5EE"/>
            </a:solidFill>
          </a:ln>
          <a:effectLst>
            <a:outerShdw blurRad="76200" dist="19050" dir="5400000" algn="t" rotWithShape="0">
              <a:srgbClr val="0B1F3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Marker"/>
          <p:cNvSpPr/>
          <p:nvPr/>
        </p:nvSpPr>
        <p:spPr>
          <a:xfrm>
            <a:off x="768096" y="2359151"/>
            <a:ext cx="182880" cy="182880"/>
          </a:xfrm>
          <a:prstGeom prst="ellipse">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Step"/>
          <p:cNvSpPr txBox="1"/>
          <p:nvPr/>
        </p:nvSpPr>
        <p:spPr>
          <a:xfrm>
            <a:off x="1188719" y="2121408"/>
            <a:ext cx="4663440" cy="658368"/>
          </a:xfrm>
          <a:prstGeom prst="rect">
            <a:avLst/>
          </a:prstGeom>
          <a:noFill/>
        </p:spPr>
        <p:txBody>
          <a:bodyPr wrap="square" lIns="0" tIns="0" rIns="0" bIns="0" anchor="ctr">
            <a:spAutoFit/>
          </a:bodyPr>
          <a:lstStyle/>
          <a:p>
            <a:pPr>
              <a:spcAft>
                <a:spcPts val="0"/>
              </a:spcAft>
            </a:pPr>
            <a:r>
              <a:rPr sz="1600" b="0">
                <a:solidFill>
                  <a:srgbClr val="1E293B"/>
                </a:solidFill>
                <a:latin typeface="Calibri"/>
              </a:rPr>
              <a:t>Handled missing values.</a:t>
            </a:r>
          </a:p>
        </p:txBody>
      </p:sp>
      <p:sp>
        <p:nvSpPr>
          <p:cNvPr id="29" name="Step card"/>
          <p:cNvSpPr/>
          <p:nvPr/>
        </p:nvSpPr>
        <p:spPr>
          <a:xfrm>
            <a:off x="548640" y="2871215"/>
            <a:ext cx="5440680" cy="658368"/>
          </a:xfrm>
          <a:prstGeom prst="rect">
            <a:avLst/>
          </a:prstGeom>
          <a:solidFill>
            <a:srgbClr val="F3F7FB"/>
          </a:solidFill>
          <a:ln w="9525">
            <a:solidFill>
              <a:srgbClr val="DCE5EE"/>
            </a:solidFill>
          </a:ln>
          <a:effectLst>
            <a:outerShdw blurRad="76200" dist="19050" dir="5400000" algn="t" rotWithShape="0">
              <a:srgbClr val="0B1F3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Marker"/>
          <p:cNvSpPr/>
          <p:nvPr/>
        </p:nvSpPr>
        <p:spPr>
          <a:xfrm>
            <a:off x="768096" y="3108959"/>
            <a:ext cx="182880" cy="182880"/>
          </a:xfrm>
          <a:prstGeom prst="ellipse">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Step"/>
          <p:cNvSpPr txBox="1"/>
          <p:nvPr/>
        </p:nvSpPr>
        <p:spPr>
          <a:xfrm>
            <a:off x="1188719" y="2871215"/>
            <a:ext cx="4663440" cy="658368"/>
          </a:xfrm>
          <a:prstGeom prst="rect">
            <a:avLst/>
          </a:prstGeom>
          <a:noFill/>
        </p:spPr>
        <p:txBody>
          <a:bodyPr wrap="square" lIns="0" tIns="0" rIns="0" bIns="0" anchor="ctr">
            <a:spAutoFit/>
          </a:bodyPr>
          <a:lstStyle/>
          <a:p>
            <a:pPr>
              <a:spcAft>
                <a:spcPts val="0"/>
              </a:spcAft>
            </a:pPr>
            <a:r>
              <a:rPr sz="1600" b="0">
                <a:solidFill>
                  <a:srgbClr val="1E293B"/>
                </a:solidFill>
                <a:latin typeface="Calibri"/>
              </a:rPr>
              <a:t>Created three IMDb-based target categories.</a:t>
            </a:r>
          </a:p>
        </p:txBody>
      </p:sp>
      <p:sp>
        <p:nvSpPr>
          <p:cNvPr id="32" name="Step card"/>
          <p:cNvSpPr/>
          <p:nvPr/>
        </p:nvSpPr>
        <p:spPr>
          <a:xfrm>
            <a:off x="548640" y="3621024"/>
            <a:ext cx="5440680" cy="658368"/>
          </a:xfrm>
          <a:prstGeom prst="rect">
            <a:avLst/>
          </a:prstGeom>
          <a:solidFill>
            <a:srgbClr val="F3F7FB"/>
          </a:solidFill>
          <a:ln w="9525">
            <a:solidFill>
              <a:srgbClr val="DCE5EE"/>
            </a:solidFill>
          </a:ln>
          <a:effectLst>
            <a:outerShdw blurRad="76200" dist="19050" dir="5400000" algn="t" rotWithShape="0">
              <a:srgbClr val="0B1F3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Marker"/>
          <p:cNvSpPr/>
          <p:nvPr/>
        </p:nvSpPr>
        <p:spPr>
          <a:xfrm>
            <a:off x="768096" y="3858768"/>
            <a:ext cx="182880" cy="182880"/>
          </a:xfrm>
          <a:prstGeom prst="ellipse">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Step"/>
          <p:cNvSpPr txBox="1"/>
          <p:nvPr/>
        </p:nvSpPr>
        <p:spPr>
          <a:xfrm>
            <a:off x="1188719" y="3621024"/>
            <a:ext cx="4663440" cy="658368"/>
          </a:xfrm>
          <a:prstGeom prst="rect">
            <a:avLst/>
          </a:prstGeom>
          <a:noFill/>
        </p:spPr>
        <p:txBody>
          <a:bodyPr wrap="square" lIns="0" tIns="0" rIns="0" bIns="0" anchor="ctr">
            <a:spAutoFit/>
          </a:bodyPr>
          <a:lstStyle/>
          <a:p>
            <a:pPr>
              <a:spcAft>
                <a:spcPts val="0"/>
              </a:spcAft>
            </a:pPr>
            <a:r>
              <a:rPr sz="1600" b="0">
                <a:solidFill>
                  <a:srgbClr val="1E293B"/>
                </a:solidFill>
                <a:latin typeface="Calibri"/>
              </a:rPr>
              <a:t>Selected relevant input features.</a:t>
            </a:r>
          </a:p>
        </p:txBody>
      </p:sp>
      <p:sp>
        <p:nvSpPr>
          <p:cNvPr id="35" name="Step card"/>
          <p:cNvSpPr/>
          <p:nvPr/>
        </p:nvSpPr>
        <p:spPr>
          <a:xfrm>
            <a:off x="6199631" y="1371600"/>
            <a:ext cx="5440680" cy="658368"/>
          </a:xfrm>
          <a:prstGeom prst="rect">
            <a:avLst/>
          </a:prstGeom>
          <a:solidFill>
            <a:srgbClr val="F3F7FB"/>
          </a:solidFill>
          <a:ln w="9525">
            <a:solidFill>
              <a:srgbClr val="DCE5EE"/>
            </a:solidFill>
          </a:ln>
          <a:effectLst>
            <a:outerShdw blurRad="76200" dist="19050" dir="5400000" algn="t" rotWithShape="0">
              <a:srgbClr val="0B1F3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Marker"/>
          <p:cNvSpPr/>
          <p:nvPr/>
        </p:nvSpPr>
        <p:spPr>
          <a:xfrm>
            <a:off x="6419088" y="1609343"/>
            <a:ext cx="182880" cy="182880"/>
          </a:xfrm>
          <a:prstGeom prst="ellipse">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Step"/>
          <p:cNvSpPr txBox="1"/>
          <p:nvPr/>
        </p:nvSpPr>
        <p:spPr>
          <a:xfrm>
            <a:off x="6839712" y="1371600"/>
            <a:ext cx="4663440" cy="658368"/>
          </a:xfrm>
          <a:prstGeom prst="rect">
            <a:avLst/>
          </a:prstGeom>
          <a:noFill/>
        </p:spPr>
        <p:txBody>
          <a:bodyPr wrap="square" lIns="0" tIns="0" rIns="0" bIns="0" anchor="ctr">
            <a:spAutoFit/>
          </a:bodyPr>
          <a:lstStyle/>
          <a:p>
            <a:pPr>
              <a:spcAft>
                <a:spcPts val="0"/>
              </a:spcAft>
            </a:pPr>
            <a:r>
              <a:rPr sz="1600" b="0">
                <a:solidFill>
                  <a:srgbClr val="1E293B"/>
                </a:solidFill>
                <a:latin typeface="Calibri"/>
              </a:rPr>
              <a:t>Encoded categorical variables using One-Hot Encoding.</a:t>
            </a:r>
          </a:p>
        </p:txBody>
      </p:sp>
      <p:sp>
        <p:nvSpPr>
          <p:cNvPr id="38" name="Step card"/>
          <p:cNvSpPr/>
          <p:nvPr/>
        </p:nvSpPr>
        <p:spPr>
          <a:xfrm>
            <a:off x="6199631" y="2121408"/>
            <a:ext cx="5440680" cy="658368"/>
          </a:xfrm>
          <a:prstGeom prst="rect">
            <a:avLst/>
          </a:prstGeom>
          <a:solidFill>
            <a:srgbClr val="F3F7FB"/>
          </a:solidFill>
          <a:ln w="9525">
            <a:solidFill>
              <a:srgbClr val="DCE5EE"/>
            </a:solidFill>
          </a:ln>
          <a:effectLst>
            <a:outerShdw blurRad="76200" dist="19050" dir="5400000" algn="t" rotWithShape="0">
              <a:srgbClr val="0B1F3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Marker"/>
          <p:cNvSpPr/>
          <p:nvPr/>
        </p:nvSpPr>
        <p:spPr>
          <a:xfrm>
            <a:off x="6419088" y="2359151"/>
            <a:ext cx="182880" cy="182880"/>
          </a:xfrm>
          <a:prstGeom prst="ellipse">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Step"/>
          <p:cNvSpPr txBox="1"/>
          <p:nvPr/>
        </p:nvSpPr>
        <p:spPr>
          <a:xfrm>
            <a:off x="6839712" y="2121408"/>
            <a:ext cx="4663440" cy="658368"/>
          </a:xfrm>
          <a:prstGeom prst="rect">
            <a:avLst/>
          </a:prstGeom>
          <a:noFill/>
        </p:spPr>
        <p:txBody>
          <a:bodyPr wrap="square" lIns="0" tIns="0" rIns="0" bIns="0" anchor="ctr">
            <a:spAutoFit/>
          </a:bodyPr>
          <a:lstStyle/>
          <a:p>
            <a:pPr>
              <a:spcAft>
                <a:spcPts val="0"/>
              </a:spcAft>
            </a:pPr>
            <a:r>
              <a:rPr sz="1600" b="0">
                <a:solidFill>
                  <a:srgbClr val="1E293B"/>
                </a:solidFill>
                <a:latin typeface="Calibri"/>
              </a:rPr>
              <a:t>Imputed missing values and scaled numerical features.</a:t>
            </a:r>
          </a:p>
        </p:txBody>
      </p:sp>
      <p:sp>
        <p:nvSpPr>
          <p:cNvPr id="41" name="Step card"/>
          <p:cNvSpPr/>
          <p:nvPr/>
        </p:nvSpPr>
        <p:spPr>
          <a:xfrm>
            <a:off x="6199631" y="2871215"/>
            <a:ext cx="5440680" cy="658368"/>
          </a:xfrm>
          <a:prstGeom prst="rect">
            <a:avLst/>
          </a:prstGeom>
          <a:solidFill>
            <a:srgbClr val="F3F7FB"/>
          </a:solidFill>
          <a:ln w="9525">
            <a:solidFill>
              <a:srgbClr val="DCE5EE"/>
            </a:solidFill>
          </a:ln>
          <a:effectLst>
            <a:outerShdw blurRad="76200" dist="19050" dir="5400000" algn="t" rotWithShape="0">
              <a:srgbClr val="0B1F3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Marker"/>
          <p:cNvSpPr/>
          <p:nvPr/>
        </p:nvSpPr>
        <p:spPr>
          <a:xfrm>
            <a:off x="6419088" y="3108959"/>
            <a:ext cx="182880" cy="182880"/>
          </a:xfrm>
          <a:prstGeom prst="ellipse">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Step"/>
          <p:cNvSpPr txBox="1"/>
          <p:nvPr/>
        </p:nvSpPr>
        <p:spPr>
          <a:xfrm>
            <a:off x="6839712" y="2871215"/>
            <a:ext cx="4663440" cy="658368"/>
          </a:xfrm>
          <a:prstGeom prst="rect">
            <a:avLst/>
          </a:prstGeom>
          <a:noFill/>
        </p:spPr>
        <p:txBody>
          <a:bodyPr wrap="square" lIns="0" tIns="0" rIns="0" bIns="0" anchor="ctr">
            <a:spAutoFit/>
          </a:bodyPr>
          <a:lstStyle/>
          <a:p>
            <a:pPr>
              <a:spcAft>
                <a:spcPts val="0"/>
              </a:spcAft>
            </a:pPr>
            <a:r>
              <a:rPr sz="1600" b="0">
                <a:solidFill>
                  <a:srgbClr val="1E293B"/>
                </a:solidFill>
                <a:latin typeface="Calibri"/>
              </a:rPr>
              <a:t>Split the data into 80% training and 20% testing sets using stratification.</a:t>
            </a:r>
          </a:p>
        </p:txBody>
      </p:sp>
      <p:sp>
        <p:nvSpPr>
          <p:cNvPr id="44" name="Workflow heading"/>
          <p:cNvSpPr txBox="1"/>
          <p:nvPr/>
        </p:nvSpPr>
        <p:spPr>
          <a:xfrm>
            <a:off x="548640" y="4480560"/>
            <a:ext cx="3657600" cy="457200"/>
          </a:xfrm>
          <a:prstGeom prst="rect">
            <a:avLst/>
          </a:prstGeom>
          <a:noFill/>
        </p:spPr>
        <p:txBody>
          <a:bodyPr wrap="square" lIns="0" tIns="0" rIns="0" bIns="0" anchor="ctr">
            <a:spAutoFit/>
          </a:bodyPr>
          <a:lstStyle/>
          <a:p>
            <a:pPr>
              <a:spcAft>
                <a:spcPts val="0"/>
              </a:spcAft>
            </a:pPr>
            <a:r>
              <a:rPr sz="2200" b="1">
                <a:solidFill>
                  <a:srgbClr val="0B1F3A"/>
                </a:solidFill>
                <a:latin typeface="Calibri"/>
              </a:rPr>
              <a:t>Workflow</a:t>
            </a:r>
          </a:p>
        </p:txBody>
      </p:sp>
      <p:sp>
        <p:nvSpPr>
          <p:cNvPr id="45" name="Workflow step"/>
          <p:cNvSpPr/>
          <p:nvPr/>
        </p:nvSpPr>
        <p:spPr>
          <a:xfrm>
            <a:off x="548640" y="5029200"/>
            <a:ext cx="1371600" cy="822960"/>
          </a:xfrm>
          <a:prstGeom prst="rect">
            <a:avLst/>
          </a:prstGeom>
          <a:solidFill>
            <a:srgbClr val="0B1F3A"/>
          </a:solidFill>
          <a:ln>
            <a:noFill/>
          </a:ln>
          <a:effectLst>
            <a:outerShdw blurRad="76200" dist="19050" dir="5400000" algn="t" rotWithShape="0">
              <a:srgbClr val="0B1F3A">
                <a:alpha val="13000"/>
              </a:srgbClr>
            </a:outerShdw>
          </a:effectLst>
        </p:spPr>
        <p:style>
          <a:lnRef idx="1">
            <a:schemeClr val="accent1"/>
          </a:lnRef>
          <a:fillRef idx="3">
            <a:schemeClr val="accent1"/>
          </a:fillRef>
          <a:effectRef idx="2">
            <a:schemeClr val="accent1"/>
          </a:effectRef>
          <a:fontRef idx="minor">
            <a:schemeClr val="lt1"/>
          </a:fontRef>
        </p:style>
        <p:txBody>
          <a:bodyPr wrap="square" lIns="36576" rIns="36576" rtlCol="0" anchor="ctr"/>
          <a:lstStyle/>
          <a:p>
            <a:pPr algn="ctr"/>
            <a:r>
              <a:rPr sz="1400" b="1">
                <a:solidFill>
                  <a:srgbClr val="FFFFFF"/>
                </a:solidFill>
                <a:latin typeface="Calibri"/>
              </a:rPr>
              <a:t>Dataset</a:t>
            </a:r>
          </a:p>
        </p:txBody>
      </p:sp>
      <p:sp>
        <p:nvSpPr>
          <p:cNvPr id="46" name="Workflow arrow"/>
          <p:cNvSpPr/>
          <p:nvPr/>
        </p:nvSpPr>
        <p:spPr>
          <a:xfrm>
            <a:off x="1952244" y="5349240"/>
            <a:ext cx="182880" cy="182880"/>
          </a:xfrm>
          <a:prstGeom prst="rightArrow">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Workflow step"/>
          <p:cNvSpPr/>
          <p:nvPr/>
        </p:nvSpPr>
        <p:spPr>
          <a:xfrm>
            <a:off x="2167128" y="5029200"/>
            <a:ext cx="1371600" cy="822960"/>
          </a:xfrm>
          <a:prstGeom prst="rect">
            <a:avLst/>
          </a:prstGeom>
          <a:solidFill>
            <a:srgbClr val="0B1F3A"/>
          </a:solidFill>
          <a:ln>
            <a:noFill/>
          </a:ln>
          <a:effectLst>
            <a:outerShdw blurRad="76200" dist="19050" dir="5400000" algn="t" rotWithShape="0">
              <a:srgbClr val="0B1F3A">
                <a:alpha val="13000"/>
              </a:srgbClr>
            </a:outerShdw>
          </a:effectLst>
        </p:spPr>
        <p:style>
          <a:lnRef idx="1">
            <a:schemeClr val="accent1"/>
          </a:lnRef>
          <a:fillRef idx="3">
            <a:schemeClr val="accent1"/>
          </a:fillRef>
          <a:effectRef idx="2">
            <a:schemeClr val="accent1"/>
          </a:effectRef>
          <a:fontRef idx="minor">
            <a:schemeClr val="lt1"/>
          </a:fontRef>
        </p:style>
        <p:txBody>
          <a:bodyPr wrap="square" lIns="36576" rIns="36576" rtlCol="0" anchor="ctr"/>
          <a:lstStyle/>
          <a:p>
            <a:pPr algn="ctr"/>
            <a:r>
              <a:rPr sz="1400" b="1">
                <a:solidFill>
                  <a:srgbClr val="FFFFFF"/>
                </a:solidFill>
                <a:latin typeface="Calibri"/>
              </a:rPr>
              <a:t>Cleaning</a:t>
            </a:r>
          </a:p>
        </p:txBody>
      </p:sp>
      <p:sp>
        <p:nvSpPr>
          <p:cNvPr id="48" name="Workflow arrow"/>
          <p:cNvSpPr/>
          <p:nvPr/>
        </p:nvSpPr>
        <p:spPr>
          <a:xfrm>
            <a:off x="3570732" y="5349240"/>
            <a:ext cx="182880" cy="182880"/>
          </a:xfrm>
          <a:prstGeom prst="rightArrow">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Workflow step"/>
          <p:cNvSpPr/>
          <p:nvPr/>
        </p:nvSpPr>
        <p:spPr>
          <a:xfrm>
            <a:off x="3785615" y="5029200"/>
            <a:ext cx="1371600" cy="822960"/>
          </a:xfrm>
          <a:prstGeom prst="rect">
            <a:avLst/>
          </a:prstGeom>
          <a:solidFill>
            <a:srgbClr val="0B1F3A"/>
          </a:solidFill>
          <a:ln>
            <a:noFill/>
          </a:ln>
          <a:effectLst>
            <a:outerShdw blurRad="76200" dist="19050" dir="5400000" algn="t" rotWithShape="0">
              <a:srgbClr val="0B1F3A">
                <a:alpha val="13000"/>
              </a:srgbClr>
            </a:outerShdw>
          </a:effectLst>
        </p:spPr>
        <p:style>
          <a:lnRef idx="1">
            <a:schemeClr val="accent1"/>
          </a:lnRef>
          <a:fillRef idx="3">
            <a:schemeClr val="accent1"/>
          </a:fillRef>
          <a:effectRef idx="2">
            <a:schemeClr val="accent1"/>
          </a:effectRef>
          <a:fontRef idx="minor">
            <a:schemeClr val="lt1"/>
          </a:fontRef>
        </p:style>
        <p:txBody>
          <a:bodyPr wrap="square" lIns="36576" rIns="36576" rtlCol="0" anchor="ctr"/>
          <a:lstStyle/>
          <a:p>
            <a:pPr algn="ctr"/>
            <a:r>
              <a:rPr sz="1400" b="1">
                <a:solidFill>
                  <a:srgbClr val="FFFFFF"/>
                </a:solidFill>
                <a:latin typeface="Calibri"/>
              </a:rPr>
              <a:t>EDA</a:t>
            </a:r>
          </a:p>
        </p:txBody>
      </p:sp>
      <p:sp>
        <p:nvSpPr>
          <p:cNvPr id="50" name="Workflow arrow"/>
          <p:cNvSpPr/>
          <p:nvPr/>
        </p:nvSpPr>
        <p:spPr>
          <a:xfrm>
            <a:off x="5189220" y="5349240"/>
            <a:ext cx="182880" cy="182880"/>
          </a:xfrm>
          <a:prstGeom prst="rightArrow">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Workflow step"/>
          <p:cNvSpPr/>
          <p:nvPr/>
        </p:nvSpPr>
        <p:spPr>
          <a:xfrm>
            <a:off x="5404104" y="5029200"/>
            <a:ext cx="1371600" cy="822960"/>
          </a:xfrm>
          <a:prstGeom prst="rect">
            <a:avLst/>
          </a:prstGeom>
          <a:solidFill>
            <a:srgbClr val="0B1F3A"/>
          </a:solidFill>
          <a:ln>
            <a:noFill/>
          </a:ln>
          <a:effectLst>
            <a:outerShdw blurRad="76200" dist="19050" dir="5400000" algn="t" rotWithShape="0">
              <a:srgbClr val="0B1F3A">
                <a:alpha val="13000"/>
              </a:srgbClr>
            </a:outerShdw>
          </a:effectLst>
        </p:spPr>
        <p:style>
          <a:lnRef idx="1">
            <a:schemeClr val="accent1"/>
          </a:lnRef>
          <a:fillRef idx="3">
            <a:schemeClr val="accent1"/>
          </a:fillRef>
          <a:effectRef idx="2">
            <a:schemeClr val="accent1"/>
          </a:effectRef>
          <a:fontRef idx="minor">
            <a:schemeClr val="lt1"/>
          </a:fontRef>
        </p:style>
        <p:txBody>
          <a:bodyPr wrap="square" lIns="36576" rIns="36576" rtlCol="0" anchor="ctr"/>
          <a:lstStyle/>
          <a:p>
            <a:pPr algn="ctr"/>
            <a:r>
              <a:rPr sz="1400" b="1">
                <a:solidFill>
                  <a:srgbClr val="FFFFFF"/>
                </a:solidFill>
                <a:latin typeface="Calibri"/>
              </a:rPr>
              <a:t>Preprocessing</a:t>
            </a:r>
          </a:p>
        </p:txBody>
      </p:sp>
      <p:sp>
        <p:nvSpPr>
          <p:cNvPr id="52" name="Workflow arrow"/>
          <p:cNvSpPr/>
          <p:nvPr/>
        </p:nvSpPr>
        <p:spPr>
          <a:xfrm>
            <a:off x="6807708" y="5349240"/>
            <a:ext cx="182880" cy="182880"/>
          </a:xfrm>
          <a:prstGeom prst="rightArrow">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Workflow step"/>
          <p:cNvSpPr/>
          <p:nvPr/>
        </p:nvSpPr>
        <p:spPr>
          <a:xfrm>
            <a:off x="7022592" y="5029200"/>
            <a:ext cx="1371600" cy="822960"/>
          </a:xfrm>
          <a:prstGeom prst="rect">
            <a:avLst/>
          </a:prstGeom>
          <a:solidFill>
            <a:srgbClr val="0B1F3A"/>
          </a:solidFill>
          <a:ln>
            <a:noFill/>
          </a:ln>
          <a:effectLst>
            <a:outerShdw blurRad="76200" dist="19050" dir="5400000" algn="t" rotWithShape="0">
              <a:srgbClr val="0B1F3A">
                <a:alpha val="13000"/>
              </a:srgbClr>
            </a:outerShdw>
          </a:effectLst>
        </p:spPr>
        <p:style>
          <a:lnRef idx="1">
            <a:schemeClr val="accent1"/>
          </a:lnRef>
          <a:fillRef idx="3">
            <a:schemeClr val="accent1"/>
          </a:fillRef>
          <a:effectRef idx="2">
            <a:schemeClr val="accent1"/>
          </a:effectRef>
          <a:fontRef idx="minor">
            <a:schemeClr val="lt1"/>
          </a:fontRef>
        </p:style>
        <p:txBody>
          <a:bodyPr wrap="square" lIns="36576" rIns="36576" rtlCol="0" anchor="ctr"/>
          <a:lstStyle/>
          <a:p>
            <a:pPr algn="ctr"/>
            <a:r>
              <a:rPr sz="1400" b="1">
                <a:solidFill>
                  <a:srgbClr val="FFFFFF"/>
                </a:solidFill>
                <a:latin typeface="Calibri"/>
              </a:rPr>
              <a:t>Model Training</a:t>
            </a:r>
          </a:p>
        </p:txBody>
      </p:sp>
      <p:sp>
        <p:nvSpPr>
          <p:cNvPr id="54" name="Workflow arrow"/>
          <p:cNvSpPr/>
          <p:nvPr/>
        </p:nvSpPr>
        <p:spPr>
          <a:xfrm>
            <a:off x="8426196" y="5349240"/>
            <a:ext cx="182880" cy="182880"/>
          </a:xfrm>
          <a:prstGeom prst="rightArrow">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Workflow step"/>
          <p:cNvSpPr/>
          <p:nvPr/>
        </p:nvSpPr>
        <p:spPr>
          <a:xfrm>
            <a:off x="8641080" y="5029200"/>
            <a:ext cx="1371600" cy="822960"/>
          </a:xfrm>
          <a:prstGeom prst="rect">
            <a:avLst/>
          </a:prstGeom>
          <a:solidFill>
            <a:srgbClr val="0B1F3A"/>
          </a:solidFill>
          <a:ln>
            <a:noFill/>
          </a:ln>
          <a:effectLst>
            <a:outerShdw blurRad="76200" dist="19050" dir="5400000" algn="t" rotWithShape="0">
              <a:srgbClr val="0B1F3A">
                <a:alpha val="13000"/>
              </a:srgbClr>
            </a:outerShdw>
          </a:effectLst>
        </p:spPr>
        <p:style>
          <a:lnRef idx="1">
            <a:schemeClr val="accent1"/>
          </a:lnRef>
          <a:fillRef idx="3">
            <a:schemeClr val="accent1"/>
          </a:fillRef>
          <a:effectRef idx="2">
            <a:schemeClr val="accent1"/>
          </a:effectRef>
          <a:fontRef idx="minor">
            <a:schemeClr val="lt1"/>
          </a:fontRef>
        </p:style>
        <p:txBody>
          <a:bodyPr wrap="square" lIns="36576" rIns="36576" rtlCol="0" anchor="ctr"/>
          <a:lstStyle/>
          <a:p>
            <a:pPr algn="ctr"/>
            <a:r>
              <a:rPr sz="1400" b="1">
                <a:solidFill>
                  <a:srgbClr val="FFFFFF"/>
                </a:solidFill>
                <a:latin typeface="Calibri"/>
              </a:rPr>
              <a:t>Evaluation</a:t>
            </a:r>
          </a:p>
        </p:txBody>
      </p:sp>
      <p:sp>
        <p:nvSpPr>
          <p:cNvPr id="56" name="Workflow arrow"/>
          <p:cNvSpPr/>
          <p:nvPr/>
        </p:nvSpPr>
        <p:spPr>
          <a:xfrm>
            <a:off x="10044684" y="5349240"/>
            <a:ext cx="182880" cy="182880"/>
          </a:xfrm>
          <a:prstGeom prst="rightArrow">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Workflow step"/>
          <p:cNvSpPr/>
          <p:nvPr/>
        </p:nvSpPr>
        <p:spPr>
          <a:xfrm>
            <a:off x="10259568" y="5029200"/>
            <a:ext cx="1371600" cy="822960"/>
          </a:xfrm>
          <a:prstGeom prst="rect">
            <a:avLst/>
          </a:prstGeom>
          <a:solidFill>
            <a:srgbClr val="0E7490"/>
          </a:solidFill>
          <a:ln>
            <a:noFill/>
          </a:ln>
          <a:effectLst>
            <a:outerShdw blurRad="76200" dist="19050" dir="5400000" algn="t" rotWithShape="0">
              <a:srgbClr val="0B1F3A">
                <a:alpha val="13000"/>
              </a:srgbClr>
            </a:outerShdw>
          </a:effectLst>
        </p:spPr>
        <p:style>
          <a:lnRef idx="1">
            <a:schemeClr val="accent1"/>
          </a:lnRef>
          <a:fillRef idx="3">
            <a:schemeClr val="accent1"/>
          </a:fillRef>
          <a:effectRef idx="2">
            <a:schemeClr val="accent1"/>
          </a:effectRef>
          <a:fontRef idx="minor">
            <a:schemeClr val="lt1"/>
          </a:fontRef>
        </p:style>
        <p:txBody>
          <a:bodyPr wrap="square" lIns="36576" rIns="36576" rtlCol="0" anchor="ctr"/>
          <a:lstStyle/>
          <a:p>
            <a:pPr algn="ctr"/>
            <a:r>
              <a:rPr sz="1400" b="1">
                <a:solidFill>
                  <a:srgbClr val="FFFFFF"/>
                </a:solidFill>
                <a:latin typeface="Calibri"/>
              </a:rPr>
              <a:t>Web Application</a:t>
            </a:r>
          </a:p>
        </p:txBody>
      </p:sp>
    </p:spTree>
    <p:extLst>
      <p:ext uri="{BB962C8B-B14F-4D97-AF65-F5344CB8AC3E}">
        <p14:creationId xmlns:p14="http://schemas.microsoft.com/office/powerpoint/2010/main" val="37177633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EB57241-89B7-7D9D-A589-A29C8463A90B}"/>
            </a:ext>
          </a:extLst>
        </p:cNvPr>
        <p:cNvGrpSpPr/>
        <p:nvPr/>
      </p:nvGrpSpPr>
      <p:grpSpPr>
        <a:xfrm>
          <a:off x="0" y="0"/>
          <a:ext cx="0" cy="0"/>
          <a:chOff x="0" y="0"/>
          <a:chExt cx="0" cy="0"/>
        </a:xfrm>
      </p:grpSpPr>
      <p:cxnSp>
        <p:nvCxnSpPr>
          <p:cNvPr id="2" name="Network line"/>
          <p:cNvCxnSpPr/>
          <p:nvPr/>
        </p:nvCxnSpPr>
        <p:spPr>
          <a:xfrm flipV="1">
            <a:off x="10388498" y="457200"/>
            <a:ext cx="405994" cy="402336"/>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3" name="Network line"/>
          <p:cNvCxnSpPr/>
          <p:nvPr/>
        </p:nvCxnSpPr>
        <p:spPr>
          <a:xfrm>
            <a:off x="10794492" y="457200"/>
            <a:ext cx="372160" cy="347472"/>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4" name="Network line"/>
          <p:cNvCxnSpPr/>
          <p:nvPr/>
        </p:nvCxnSpPr>
        <p:spPr>
          <a:xfrm flipV="1">
            <a:off x="11166652" y="365760"/>
            <a:ext cx="439827" cy="438912"/>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5" name="Network line"/>
          <p:cNvCxnSpPr/>
          <p:nvPr/>
        </p:nvCxnSpPr>
        <p:spPr>
          <a:xfrm>
            <a:off x="11606479" y="365760"/>
            <a:ext cx="270662" cy="310896"/>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6" name="Network line"/>
          <p:cNvCxnSpPr/>
          <p:nvPr/>
        </p:nvCxnSpPr>
        <p:spPr>
          <a:xfrm flipV="1">
            <a:off x="11166652" y="676656"/>
            <a:ext cx="710489" cy="128016"/>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7" name="Network line"/>
          <p:cNvCxnSpPr/>
          <p:nvPr/>
        </p:nvCxnSpPr>
        <p:spPr>
          <a:xfrm flipH="1">
            <a:off x="11132820" y="804672"/>
            <a:ext cx="33832" cy="283464"/>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8" name="Network line"/>
          <p:cNvCxnSpPr/>
          <p:nvPr/>
        </p:nvCxnSpPr>
        <p:spPr>
          <a:xfrm flipH="1" flipV="1">
            <a:off x="10591495" y="246888"/>
            <a:ext cx="202997" cy="210312"/>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9" name="Network line"/>
          <p:cNvCxnSpPr/>
          <p:nvPr/>
        </p:nvCxnSpPr>
        <p:spPr>
          <a:xfrm flipV="1">
            <a:off x="10388498" y="804672"/>
            <a:ext cx="778154" cy="54864"/>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10" name="Network line"/>
          <p:cNvCxnSpPr/>
          <p:nvPr/>
        </p:nvCxnSpPr>
        <p:spPr>
          <a:xfrm flipH="1">
            <a:off x="11504980" y="676656"/>
            <a:ext cx="372161" cy="347472"/>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11" name="Network line"/>
          <p:cNvCxnSpPr/>
          <p:nvPr/>
        </p:nvCxnSpPr>
        <p:spPr>
          <a:xfrm flipV="1">
            <a:off x="11132820" y="1024128"/>
            <a:ext cx="372160" cy="64008"/>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sp>
        <p:nvSpPr>
          <p:cNvPr id="12" name="Network node"/>
          <p:cNvSpPr/>
          <p:nvPr/>
        </p:nvSpPr>
        <p:spPr>
          <a:xfrm>
            <a:off x="10342778" y="813815"/>
            <a:ext cx="91440" cy="91440"/>
          </a:xfrm>
          <a:prstGeom prst="ellipse">
            <a:avLst/>
          </a:prstGeom>
          <a:solidFill>
            <a:srgbClr val="67D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Network node"/>
          <p:cNvSpPr/>
          <p:nvPr/>
        </p:nvSpPr>
        <p:spPr>
          <a:xfrm>
            <a:off x="10748772" y="411480"/>
            <a:ext cx="91440" cy="91440"/>
          </a:xfrm>
          <a:prstGeom prst="ellipse">
            <a:avLst/>
          </a:prstGeom>
          <a:solidFill>
            <a:srgbClr val="67D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Network node"/>
          <p:cNvSpPr/>
          <p:nvPr/>
        </p:nvSpPr>
        <p:spPr>
          <a:xfrm>
            <a:off x="11102644" y="740664"/>
            <a:ext cx="128016" cy="128016"/>
          </a:xfrm>
          <a:prstGeom prst="ellipse">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Network node"/>
          <p:cNvSpPr/>
          <p:nvPr/>
        </p:nvSpPr>
        <p:spPr>
          <a:xfrm>
            <a:off x="11542471" y="301752"/>
            <a:ext cx="128016" cy="128016"/>
          </a:xfrm>
          <a:prstGeom prst="ellipse">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Network node"/>
          <p:cNvSpPr/>
          <p:nvPr/>
        </p:nvSpPr>
        <p:spPr>
          <a:xfrm>
            <a:off x="11831421" y="630936"/>
            <a:ext cx="91440" cy="91440"/>
          </a:xfrm>
          <a:prstGeom prst="ellipse">
            <a:avLst/>
          </a:prstGeom>
          <a:solidFill>
            <a:srgbClr val="67D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Network node"/>
          <p:cNvSpPr/>
          <p:nvPr/>
        </p:nvSpPr>
        <p:spPr>
          <a:xfrm>
            <a:off x="11087100" y="1042415"/>
            <a:ext cx="91440" cy="91440"/>
          </a:xfrm>
          <a:prstGeom prst="ellipse">
            <a:avLst/>
          </a:prstGeom>
          <a:solidFill>
            <a:srgbClr val="67D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Network node"/>
          <p:cNvSpPr/>
          <p:nvPr/>
        </p:nvSpPr>
        <p:spPr>
          <a:xfrm>
            <a:off x="10545775" y="201168"/>
            <a:ext cx="91440" cy="91440"/>
          </a:xfrm>
          <a:prstGeom prst="ellipse">
            <a:avLst/>
          </a:prstGeom>
          <a:solidFill>
            <a:srgbClr val="67D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Network node"/>
          <p:cNvSpPr/>
          <p:nvPr/>
        </p:nvSpPr>
        <p:spPr>
          <a:xfrm>
            <a:off x="11459260" y="978408"/>
            <a:ext cx="91440" cy="91440"/>
          </a:xfrm>
          <a:prstGeom prst="ellipse">
            <a:avLst/>
          </a:prstGeom>
          <a:solidFill>
            <a:srgbClr val="67D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itle"/>
          <p:cNvSpPr txBox="1"/>
          <p:nvPr/>
        </p:nvSpPr>
        <p:spPr>
          <a:xfrm>
            <a:off x="548640" y="347472"/>
            <a:ext cx="9509760" cy="731520"/>
          </a:xfrm>
          <a:prstGeom prst="rect">
            <a:avLst/>
          </a:prstGeom>
          <a:noFill/>
        </p:spPr>
        <p:txBody>
          <a:bodyPr wrap="square" lIns="0" tIns="0" rIns="0" bIns="0" anchor="ctr">
            <a:spAutoFit/>
          </a:bodyPr>
          <a:lstStyle/>
          <a:p>
            <a:pPr>
              <a:spcAft>
                <a:spcPts val="0"/>
              </a:spcAft>
            </a:pPr>
            <a:r>
              <a:rPr sz="3200" b="1">
                <a:solidFill>
                  <a:srgbClr val="0B1F3A"/>
                </a:solidFill>
                <a:latin typeface="Calibri"/>
              </a:rPr>
              <a:t>Models Compared</a:t>
            </a:r>
          </a:p>
        </p:txBody>
      </p:sp>
      <p:sp>
        <p:nvSpPr>
          <p:cNvPr id="21" name="Intro"/>
          <p:cNvSpPr txBox="1"/>
          <p:nvPr/>
        </p:nvSpPr>
        <p:spPr>
          <a:xfrm>
            <a:off x="548640" y="1280160"/>
            <a:ext cx="11064240" cy="457200"/>
          </a:xfrm>
          <a:prstGeom prst="rect">
            <a:avLst/>
          </a:prstGeom>
          <a:noFill/>
        </p:spPr>
        <p:txBody>
          <a:bodyPr wrap="square" lIns="0" tIns="0" rIns="0" bIns="0" anchor="ctr">
            <a:spAutoFit/>
          </a:bodyPr>
          <a:lstStyle/>
          <a:p>
            <a:pPr>
              <a:spcAft>
                <a:spcPts val="0"/>
              </a:spcAft>
            </a:pPr>
            <a:r>
              <a:rPr sz="1800" b="0">
                <a:solidFill>
                  <a:srgbClr val="5B6B7F"/>
                </a:solidFill>
                <a:latin typeface="Calibri"/>
              </a:rPr>
              <a:t>Five classification algorithms were evaluated:</a:t>
            </a:r>
          </a:p>
        </p:txBody>
      </p:sp>
      <p:sp>
        <p:nvSpPr>
          <p:cNvPr id="22" name="Model card"/>
          <p:cNvSpPr/>
          <p:nvPr/>
        </p:nvSpPr>
        <p:spPr>
          <a:xfrm>
            <a:off x="548640" y="1920240"/>
            <a:ext cx="5669280" cy="621792"/>
          </a:xfrm>
          <a:prstGeom prst="rect">
            <a:avLst/>
          </a:prstGeom>
          <a:solidFill>
            <a:srgbClr val="F3F7FB"/>
          </a:solidFill>
          <a:ln w="9525">
            <a:solidFill>
              <a:srgbClr val="DCE5EE"/>
            </a:solidFill>
          </a:ln>
          <a:effectLst>
            <a:outerShdw blurRad="76200" dist="19050" dir="5400000" algn="t" rotWithShape="0">
              <a:srgbClr val="0B1F3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Marker"/>
          <p:cNvSpPr/>
          <p:nvPr/>
        </p:nvSpPr>
        <p:spPr>
          <a:xfrm>
            <a:off x="786384" y="2139696"/>
            <a:ext cx="182880" cy="182880"/>
          </a:xfrm>
          <a:prstGeom prst="ellipse">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Model"/>
          <p:cNvSpPr txBox="1"/>
          <p:nvPr/>
        </p:nvSpPr>
        <p:spPr>
          <a:xfrm>
            <a:off x="1234440" y="1920240"/>
            <a:ext cx="4846320" cy="621792"/>
          </a:xfrm>
          <a:prstGeom prst="rect">
            <a:avLst/>
          </a:prstGeom>
          <a:noFill/>
        </p:spPr>
        <p:txBody>
          <a:bodyPr wrap="square" lIns="0" tIns="0" rIns="0" bIns="0" anchor="ctr">
            <a:spAutoFit/>
          </a:bodyPr>
          <a:lstStyle/>
          <a:p>
            <a:pPr>
              <a:spcAft>
                <a:spcPts val="0"/>
              </a:spcAft>
            </a:pPr>
            <a:r>
              <a:rPr sz="1800" b="0">
                <a:solidFill>
                  <a:srgbClr val="1E293B"/>
                </a:solidFill>
                <a:latin typeface="Calibri"/>
              </a:rPr>
              <a:t>Logistic Regression</a:t>
            </a:r>
          </a:p>
        </p:txBody>
      </p:sp>
      <p:sp>
        <p:nvSpPr>
          <p:cNvPr id="25" name="Model card"/>
          <p:cNvSpPr/>
          <p:nvPr/>
        </p:nvSpPr>
        <p:spPr>
          <a:xfrm>
            <a:off x="548640" y="2651760"/>
            <a:ext cx="5669280" cy="621792"/>
          </a:xfrm>
          <a:prstGeom prst="rect">
            <a:avLst/>
          </a:prstGeom>
          <a:solidFill>
            <a:srgbClr val="F3F7FB"/>
          </a:solidFill>
          <a:ln w="9525">
            <a:solidFill>
              <a:srgbClr val="DCE5EE"/>
            </a:solidFill>
          </a:ln>
          <a:effectLst>
            <a:outerShdw blurRad="76200" dist="19050" dir="5400000" algn="t" rotWithShape="0">
              <a:srgbClr val="0B1F3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Marker"/>
          <p:cNvSpPr/>
          <p:nvPr/>
        </p:nvSpPr>
        <p:spPr>
          <a:xfrm>
            <a:off x="786384" y="2871216"/>
            <a:ext cx="182880" cy="182880"/>
          </a:xfrm>
          <a:prstGeom prst="ellipse">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Model"/>
          <p:cNvSpPr txBox="1"/>
          <p:nvPr/>
        </p:nvSpPr>
        <p:spPr>
          <a:xfrm>
            <a:off x="1234440" y="2651760"/>
            <a:ext cx="4846320" cy="621792"/>
          </a:xfrm>
          <a:prstGeom prst="rect">
            <a:avLst/>
          </a:prstGeom>
          <a:noFill/>
        </p:spPr>
        <p:txBody>
          <a:bodyPr wrap="square" lIns="0" tIns="0" rIns="0" bIns="0" anchor="ctr">
            <a:spAutoFit/>
          </a:bodyPr>
          <a:lstStyle/>
          <a:p>
            <a:pPr>
              <a:spcAft>
                <a:spcPts val="0"/>
              </a:spcAft>
            </a:pPr>
            <a:r>
              <a:rPr sz="1800" b="0">
                <a:solidFill>
                  <a:srgbClr val="1E293B"/>
                </a:solidFill>
                <a:latin typeface="Calibri"/>
              </a:rPr>
              <a:t>Decision Tree</a:t>
            </a:r>
          </a:p>
        </p:txBody>
      </p:sp>
      <p:sp>
        <p:nvSpPr>
          <p:cNvPr id="28" name="Model card"/>
          <p:cNvSpPr/>
          <p:nvPr/>
        </p:nvSpPr>
        <p:spPr>
          <a:xfrm>
            <a:off x="548640" y="3383280"/>
            <a:ext cx="5669280" cy="621792"/>
          </a:xfrm>
          <a:prstGeom prst="rect">
            <a:avLst/>
          </a:prstGeom>
          <a:solidFill>
            <a:srgbClr val="F3F7FB"/>
          </a:solidFill>
          <a:ln w="9525">
            <a:solidFill>
              <a:srgbClr val="DCE5EE"/>
            </a:solidFill>
          </a:ln>
          <a:effectLst>
            <a:outerShdw blurRad="76200" dist="19050" dir="5400000" algn="t" rotWithShape="0">
              <a:srgbClr val="0B1F3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Marker"/>
          <p:cNvSpPr/>
          <p:nvPr/>
        </p:nvSpPr>
        <p:spPr>
          <a:xfrm>
            <a:off x="786384" y="3602736"/>
            <a:ext cx="182880" cy="182880"/>
          </a:xfrm>
          <a:prstGeom prst="ellipse">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Model"/>
          <p:cNvSpPr txBox="1"/>
          <p:nvPr/>
        </p:nvSpPr>
        <p:spPr>
          <a:xfrm>
            <a:off x="1234440" y="3383280"/>
            <a:ext cx="4846320" cy="621792"/>
          </a:xfrm>
          <a:prstGeom prst="rect">
            <a:avLst/>
          </a:prstGeom>
          <a:noFill/>
        </p:spPr>
        <p:txBody>
          <a:bodyPr wrap="square" lIns="0" tIns="0" rIns="0" bIns="0" anchor="ctr">
            <a:spAutoFit/>
          </a:bodyPr>
          <a:lstStyle/>
          <a:p>
            <a:pPr>
              <a:spcAft>
                <a:spcPts val="0"/>
              </a:spcAft>
            </a:pPr>
            <a:r>
              <a:rPr sz="1800" b="0">
                <a:solidFill>
                  <a:srgbClr val="1E293B"/>
                </a:solidFill>
                <a:latin typeface="Calibri"/>
              </a:rPr>
              <a:t>Random Forest</a:t>
            </a:r>
          </a:p>
        </p:txBody>
      </p:sp>
      <p:sp>
        <p:nvSpPr>
          <p:cNvPr id="31" name="Model card"/>
          <p:cNvSpPr/>
          <p:nvPr/>
        </p:nvSpPr>
        <p:spPr>
          <a:xfrm>
            <a:off x="548640" y="4114800"/>
            <a:ext cx="5669280" cy="621792"/>
          </a:xfrm>
          <a:prstGeom prst="rect">
            <a:avLst/>
          </a:prstGeom>
          <a:solidFill>
            <a:srgbClr val="F3F7FB"/>
          </a:solidFill>
          <a:ln w="9525">
            <a:solidFill>
              <a:srgbClr val="DCE5EE"/>
            </a:solidFill>
          </a:ln>
          <a:effectLst>
            <a:outerShdw blurRad="76200" dist="19050" dir="5400000" algn="t" rotWithShape="0">
              <a:srgbClr val="0B1F3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Marker"/>
          <p:cNvSpPr/>
          <p:nvPr/>
        </p:nvSpPr>
        <p:spPr>
          <a:xfrm>
            <a:off x="786384" y="4334256"/>
            <a:ext cx="182880" cy="182880"/>
          </a:xfrm>
          <a:prstGeom prst="ellipse">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Model"/>
          <p:cNvSpPr txBox="1"/>
          <p:nvPr/>
        </p:nvSpPr>
        <p:spPr>
          <a:xfrm>
            <a:off x="1234440" y="4114800"/>
            <a:ext cx="4846320" cy="621792"/>
          </a:xfrm>
          <a:prstGeom prst="rect">
            <a:avLst/>
          </a:prstGeom>
          <a:noFill/>
        </p:spPr>
        <p:txBody>
          <a:bodyPr wrap="square" lIns="0" tIns="0" rIns="0" bIns="0" anchor="ctr">
            <a:spAutoFit/>
          </a:bodyPr>
          <a:lstStyle/>
          <a:p>
            <a:pPr>
              <a:spcAft>
                <a:spcPts val="0"/>
              </a:spcAft>
            </a:pPr>
            <a:r>
              <a:rPr sz="1800" b="0">
                <a:solidFill>
                  <a:srgbClr val="1E293B"/>
                </a:solidFill>
                <a:latin typeface="Calibri"/>
              </a:rPr>
              <a:t>K-Nearest Neighbors (KNN)</a:t>
            </a:r>
          </a:p>
        </p:txBody>
      </p:sp>
      <p:sp>
        <p:nvSpPr>
          <p:cNvPr id="34" name="Model card"/>
          <p:cNvSpPr/>
          <p:nvPr/>
        </p:nvSpPr>
        <p:spPr>
          <a:xfrm>
            <a:off x="548640" y="4846320"/>
            <a:ext cx="5669280" cy="621792"/>
          </a:xfrm>
          <a:prstGeom prst="rect">
            <a:avLst/>
          </a:prstGeom>
          <a:solidFill>
            <a:srgbClr val="F3F7FB"/>
          </a:solidFill>
          <a:ln w="9525">
            <a:solidFill>
              <a:srgbClr val="DCE5EE"/>
            </a:solidFill>
          </a:ln>
          <a:effectLst>
            <a:outerShdw blurRad="76200" dist="19050" dir="5400000" algn="t" rotWithShape="0">
              <a:srgbClr val="0B1F3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Marker"/>
          <p:cNvSpPr/>
          <p:nvPr/>
        </p:nvSpPr>
        <p:spPr>
          <a:xfrm>
            <a:off x="786384" y="5065776"/>
            <a:ext cx="182880" cy="182880"/>
          </a:xfrm>
          <a:prstGeom prst="ellipse">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Model"/>
          <p:cNvSpPr txBox="1"/>
          <p:nvPr/>
        </p:nvSpPr>
        <p:spPr>
          <a:xfrm>
            <a:off x="1234440" y="4846320"/>
            <a:ext cx="4846320" cy="621792"/>
          </a:xfrm>
          <a:prstGeom prst="rect">
            <a:avLst/>
          </a:prstGeom>
          <a:noFill/>
        </p:spPr>
        <p:txBody>
          <a:bodyPr wrap="square" lIns="0" tIns="0" rIns="0" bIns="0" anchor="ctr">
            <a:spAutoFit/>
          </a:bodyPr>
          <a:lstStyle/>
          <a:p>
            <a:pPr>
              <a:spcAft>
                <a:spcPts val="0"/>
              </a:spcAft>
            </a:pPr>
            <a:r>
              <a:rPr sz="1800" b="0">
                <a:solidFill>
                  <a:srgbClr val="1E293B"/>
                </a:solidFill>
                <a:latin typeface="Calibri"/>
              </a:rPr>
              <a:t>XGBoost</a:t>
            </a:r>
          </a:p>
        </p:txBody>
      </p:sp>
      <p:sp>
        <p:nvSpPr>
          <p:cNvPr id="37" name="Metrics card"/>
          <p:cNvSpPr/>
          <p:nvPr/>
        </p:nvSpPr>
        <p:spPr>
          <a:xfrm>
            <a:off x="6583680" y="1920240"/>
            <a:ext cx="5056632" cy="2240280"/>
          </a:xfrm>
          <a:prstGeom prst="rect">
            <a:avLst/>
          </a:prstGeom>
          <a:solidFill>
            <a:srgbClr val="F3F7FB"/>
          </a:solidFill>
          <a:ln w="9525">
            <a:solidFill>
              <a:srgbClr val="DCE5EE"/>
            </a:solidFill>
          </a:ln>
          <a:effectLst>
            <a:outerShdw blurRad="76200" dist="19050" dir="5400000" algn="t" rotWithShape="0">
              <a:srgbClr val="0B1F3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Metrics heading"/>
          <p:cNvSpPr txBox="1"/>
          <p:nvPr/>
        </p:nvSpPr>
        <p:spPr>
          <a:xfrm>
            <a:off x="6903720" y="2011680"/>
            <a:ext cx="4480560" cy="502920"/>
          </a:xfrm>
          <a:prstGeom prst="rect">
            <a:avLst/>
          </a:prstGeom>
          <a:noFill/>
        </p:spPr>
        <p:txBody>
          <a:bodyPr wrap="square" lIns="0" tIns="0" rIns="0" bIns="0" anchor="ctr">
            <a:spAutoFit/>
          </a:bodyPr>
          <a:lstStyle/>
          <a:p>
            <a:pPr>
              <a:spcAft>
                <a:spcPts val="0"/>
              </a:spcAft>
            </a:pPr>
            <a:r>
              <a:rPr sz="2200" b="1">
                <a:solidFill>
                  <a:srgbClr val="0E7490"/>
                </a:solidFill>
                <a:latin typeface="Calibri"/>
              </a:rPr>
              <a:t>Evaluation metrics</a:t>
            </a:r>
          </a:p>
        </p:txBody>
      </p:sp>
      <p:sp>
        <p:nvSpPr>
          <p:cNvPr id="39" name="Metrics list"/>
          <p:cNvSpPr txBox="1"/>
          <p:nvPr/>
        </p:nvSpPr>
        <p:spPr>
          <a:xfrm>
            <a:off x="6903720" y="2606040"/>
            <a:ext cx="4480560" cy="1463040"/>
          </a:xfrm>
          <a:prstGeom prst="rect">
            <a:avLst/>
          </a:prstGeom>
          <a:noFill/>
        </p:spPr>
        <p:txBody>
          <a:bodyPr wrap="square" lIns="0" tIns="0" rIns="0" bIns="0" anchor="t">
            <a:spAutoFit/>
          </a:bodyPr>
          <a:lstStyle/>
          <a:p>
            <a:pPr marL="274320" indent="-274320">
              <a:spcAft>
                <a:spcPts val="800"/>
              </a:spcAft>
              <a:buClr>
                <a:srgbClr val="0E7490"/>
              </a:buClr>
              <a:buFont typeface="Arial"/>
              <a:buChar char="•"/>
            </a:pPr>
            <a:r>
              <a:rPr sz="1800" b="0">
                <a:solidFill>
                  <a:srgbClr val="1E293B"/>
                </a:solidFill>
                <a:latin typeface="Calibri"/>
              </a:rPr>
              <a:t>Accuracy</a:t>
            </a:r>
          </a:p>
          <a:p>
            <a:pPr marL="274320" indent="-274320">
              <a:spcAft>
                <a:spcPts val="800"/>
              </a:spcAft>
              <a:buClr>
                <a:srgbClr val="0E7490"/>
              </a:buClr>
              <a:buFont typeface="Arial"/>
              <a:buChar char="•"/>
            </a:pPr>
            <a:r>
              <a:rPr sz="1800" b="0">
                <a:solidFill>
                  <a:srgbClr val="1E293B"/>
                </a:solidFill>
                <a:latin typeface="Calibri"/>
              </a:rPr>
              <a:t>Macro F1-score</a:t>
            </a:r>
          </a:p>
          <a:p>
            <a:pPr marL="274320" indent="-274320">
              <a:spcAft>
                <a:spcPts val="800"/>
              </a:spcAft>
              <a:buClr>
                <a:srgbClr val="0E7490"/>
              </a:buClr>
              <a:buFont typeface="Arial"/>
              <a:buChar char="•"/>
            </a:pPr>
            <a:r>
              <a:rPr sz="1800" b="0">
                <a:solidFill>
                  <a:srgbClr val="1E293B"/>
                </a:solidFill>
                <a:latin typeface="Calibri"/>
              </a:rPr>
              <a:t>Confusion matrix</a:t>
            </a:r>
          </a:p>
        </p:txBody>
      </p:sp>
      <p:sp>
        <p:nvSpPr>
          <p:cNvPr id="40" name="Note card"/>
          <p:cNvSpPr/>
          <p:nvPr/>
        </p:nvSpPr>
        <p:spPr>
          <a:xfrm>
            <a:off x="6583680" y="4343400"/>
            <a:ext cx="5056632" cy="1124712"/>
          </a:xfrm>
          <a:prstGeom prst="rect">
            <a:avLst/>
          </a:prstGeom>
          <a:solidFill>
            <a:srgbClr val="0B1F3A"/>
          </a:solidFill>
          <a:ln>
            <a:noFill/>
          </a:ln>
          <a:effectLst>
            <a:outerShdw blurRad="76200" dist="19050" dir="5400000" algn="t" rotWithShape="0">
              <a:srgbClr val="0B1F3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Note"/>
          <p:cNvSpPr txBox="1"/>
          <p:nvPr/>
        </p:nvSpPr>
        <p:spPr>
          <a:xfrm>
            <a:off x="6903720" y="4343400"/>
            <a:ext cx="4434840" cy="1124712"/>
          </a:xfrm>
          <a:prstGeom prst="rect">
            <a:avLst/>
          </a:prstGeom>
          <a:noFill/>
        </p:spPr>
        <p:txBody>
          <a:bodyPr wrap="square" lIns="0" tIns="0" rIns="0" bIns="0" anchor="ctr">
            <a:spAutoFit/>
          </a:bodyPr>
          <a:lstStyle/>
          <a:p>
            <a:pPr>
              <a:spcAft>
                <a:spcPts val="0"/>
              </a:spcAft>
            </a:pPr>
            <a:r>
              <a:rPr sz="1600" b="0">
                <a:solidFill>
                  <a:srgbClr val="FFFFFF"/>
                </a:solidFill>
                <a:latin typeface="Calibri"/>
              </a:rPr>
              <a:t>Macro F1-score helps evaluate performance across all three classes, including the underrepresented Flop category.</a:t>
            </a:r>
          </a:p>
        </p:txBody>
      </p:sp>
    </p:spTree>
    <p:extLst>
      <p:ext uri="{BB962C8B-B14F-4D97-AF65-F5344CB8AC3E}">
        <p14:creationId xmlns:p14="http://schemas.microsoft.com/office/powerpoint/2010/main" val="10294010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6E2B735-2376-E522-D78E-8F69E893E99F}"/>
            </a:ext>
          </a:extLst>
        </p:cNvPr>
        <p:cNvGrpSpPr/>
        <p:nvPr/>
      </p:nvGrpSpPr>
      <p:grpSpPr>
        <a:xfrm>
          <a:off x="0" y="0"/>
          <a:ext cx="0" cy="0"/>
          <a:chOff x="0" y="0"/>
          <a:chExt cx="0" cy="0"/>
        </a:xfrm>
      </p:grpSpPr>
      <p:cxnSp>
        <p:nvCxnSpPr>
          <p:cNvPr id="5" name="Network line"/>
          <p:cNvCxnSpPr/>
          <p:nvPr/>
        </p:nvCxnSpPr>
        <p:spPr>
          <a:xfrm flipV="1">
            <a:off x="10388498" y="457200"/>
            <a:ext cx="405994" cy="402336"/>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6" name="Network line"/>
          <p:cNvCxnSpPr/>
          <p:nvPr/>
        </p:nvCxnSpPr>
        <p:spPr>
          <a:xfrm>
            <a:off x="10794492" y="457200"/>
            <a:ext cx="372160" cy="347472"/>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7" name="Network line"/>
          <p:cNvCxnSpPr/>
          <p:nvPr/>
        </p:nvCxnSpPr>
        <p:spPr>
          <a:xfrm flipV="1">
            <a:off x="11166652" y="365760"/>
            <a:ext cx="439827" cy="438912"/>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8" name="Network line"/>
          <p:cNvCxnSpPr/>
          <p:nvPr/>
        </p:nvCxnSpPr>
        <p:spPr>
          <a:xfrm>
            <a:off x="11606479" y="365760"/>
            <a:ext cx="270662" cy="310896"/>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9" name="Network line"/>
          <p:cNvCxnSpPr/>
          <p:nvPr/>
        </p:nvCxnSpPr>
        <p:spPr>
          <a:xfrm flipV="1">
            <a:off x="11166652" y="676656"/>
            <a:ext cx="710489" cy="128016"/>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10" name="Network line"/>
          <p:cNvCxnSpPr/>
          <p:nvPr/>
        </p:nvCxnSpPr>
        <p:spPr>
          <a:xfrm flipH="1">
            <a:off x="11132820" y="804672"/>
            <a:ext cx="33832" cy="283464"/>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11" name="Network line"/>
          <p:cNvCxnSpPr/>
          <p:nvPr/>
        </p:nvCxnSpPr>
        <p:spPr>
          <a:xfrm flipH="1" flipV="1">
            <a:off x="10591495" y="246888"/>
            <a:ext cx="202997" cy="210312"/>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12" name="Network line"/>
          <p:cNvCxnSpPr/>
          <p:nvPr/>
        </p:nvCxnSpPr>
        <p:spPr>
          <a:xfrm flipV="1">
            <a:off x="10388498" y="804672"/>
            <a:ext cx="778154" cy="54864"/>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13" name="Network line"/>
          <p:cNvCxnSpPr/>
          <p:nvPr/>
        </p:nvCxnSpPr>
        <p:spPr>
          <a:xfrm flipH="1">
            <a:off x="11504980" y="676656"/>
            <a:ext cx="372161" cy="347472"/>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14" name="Network line"/>
          <p:cNvCxnSpPr/>
          <p:nvPr/>
        </p:nvCxnSpPr>
        <p:spPr>
          <a:xfrm flipV="1">
            <a:off x="11132820" y="1024128"/>
            <a:ext cx="372160" cy="64008"/>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sp>
        <p:nvSpPr>
          <p:cNvPr id="15" name="Network node"/>
          <p:cNvSpPr/>
          <p:nvPr/>
        </p:nvSpPr>
        <p:spPr>
          <a:xfrm>
            <a:off x="10342778" y="813815"/>
            <a:ext cx="91440" cy="91440"/>
          </a:xfrm>
          <a:prstGeom prst="ellipse">
            <a:avLst/>
          </a:prstGeom>
          <a:solidFill>
            <a:srgbClr val="67D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Network node"/>
          <p:cNvSpPr/>
          <p:nvPr/>
        </p:nvSpPr>
        <p:spPr>
          <a:xfrm>
            <a:off x="10748772" y="411480"/>
            <a:ext cx="91440" cy="91440"/>
          </a:xfrm>
          <a:prstGeom prst="ellipse">
            <a:avLst/>
          </a:prstGeom>
          <a:solidFill>
            <a:srgbClr val="67D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Network node"/>
          <p:cNvSpPr/>
          <p:nvPr/>
        </p:nvSpPr>
        <p:spPr>
          <a:xfrm>
            <a:off x="11102644" y="740664"/>
            <a:ext cx="128016" cy="128016"/>
          </a:xfrm>
          <a:prstGeom prst="ellipse">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Network node"/>
          <p:cNvSpPr/>
          <p:nvPr/>
        </p:nvSpPr>
        <p:spPr>
          <a:xfrm>
            <a:off x="11542471" y="301752"/>
            <a:ext cx="128016" cy="128016"/>
          </a:xfrm>
          <a:prstGeom prst="ellipse">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Network node"/>
          <p:cNvSpPr/>
          <p:nvPr/>
        </p:nvSpPr>
        <p:spPr>
          <a:xfrm>
            <a:off x="11831421" y="630936"/>
            <a:ext cx="91440" cy="91440"/>
          </a:xfrm>
          <a:prstGeom prst="ellipse">
            <a:avLst/>
          </a:prstGeom>
          <a:solidFill>
            <a:srgbClr val="67D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Network node"/>
          <p:cNvSpPr/>
          <p:nvPr/>
        </p:nvSpPr>
        <p:spPr>
          <a:xfrm>
            <a:off x="11087100" y="1042415"/>
            <a:ext cx="91440" cy="91440"/>
          </a:xfrm>
          <a:prstGeom prst="ellipse">
            <a:avLst/>
          </a:prstGeom>
          <a:solidFill>
            <a:srgbClr val="67D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Network node"/>
          <p:cNvSpPr/>
          <p:nvPr/>
        </p:nvSpPr>
        <p:spPr>
          <a:xfrm>
            <a:off x="10545775" y="201168"/>
            <a:ext cx="91440" cy="91440"/>
          </a:xfrm>
          <a:prstGeom prst="ellipse">
            <a:avLst/>
          </a:prstGeom>
          <a:solidFill>
            <a:srgbClr val="67D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Network node"/>
          <p:cNvSpPr/>
          <p:nvPr/>
        </p:nvSpPr>
        <p:spPr>
          <a:xfrm>
            <a:off x="11459260" y="978408"/>
            <a:ext cx="91440" cy="91440"/>
          </a:xfrm>
          <a:prstGeom prst="ellipse">
            <a:avLst/>
          </a:prstGeom>
          <a:solidFill>
            <a:srgbClr val="67D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itle 3">
            <a:extLst>
              <a:ext uri="{FF2B5EF4-FFF2-40B4-BE49-F238E27FC236}">
                <a16:creationId xmlns:a16="http://schemas.microsoft.com/office/drawing/2014/main" id="{D8C5991F-7CE0-3C42-D733-97F4DE598E13}"/>
              </a:ext>
            </a:extLst>
          </p:cNvPr>
          <p:cNvSpPr>
            <a:spLocks noGrp="1"/>
          </p:cNvSpPr>
          <p:nvPr>
            <p:ph type="title"/>
          </p:nvPr>
        </p:nvSpPr>
        <p:spPr>
          <a:xfrm>
            <a:off x="548640" y="347472"/>
            <a:ext cx="9509760" cy="731520"/>
          </a:xfrm>
        </p:spPr>
        <p:txBody>
          <a:bodyPr wrap="square" lIns="0" tIns="0" rIns="0" bIns="0" anchor="ctr">
            <a:noAutofit/>
          </a:bodyPr>
          <a:lstStyle/>
          <a:p>
            <a:pPr marL="0" indent="0" algn="l">
              <a:buNone/>
            </a:pPr>
            <a:r>
              <a:rPr lang="en-US" sz="3200" b="1" dirty="0">
                <a:solidFill>
                  <a:srgbClr val="0B1F3A"/>
                </a:solidFill>
                <a:latin typeface="Calibri"/>
              </a:rPr>
              <a:t>Model Performance Comparison</a:t>
            </a:r>
          </a:p>
        </p:txBody>
      </p:sp>
      <p:sp>
        <p:nvSpPr>
          <p:cNvPr id="23" name="Final model card"/>
          <p:cNvSpPr/>
          <p:nvPr/>
        </p:nvSpPr>
        <p:spPr>
          <a:xfrm>
            <a:off x="7863840" y="1417320"/>
            <a:ext cx="3776472" cy="3291840"/>
          </a:xfrm>
          <a:prstGeom prst="rect">
            <a:avLst/>
          </a:prstGeom>
          <a:solidFill>
            <a:srgbClr val="0B1F3A"/>
          </a:solidFill>
          <a:ln>
            <a:noFill/>
          </a:ln>
          <a:effectLst>
            <a:outerShdw blurRad="76200" dist="19050" dir="5400000" algn="t" rotWithShape="0">
              <a:srgbClr val="0B1F3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Final model metrics"/>
          <p:cNvSpPr txBox="1"/>
          <p:nvPr/>
        </p:nvSpPr>
        <p:spPr>
          <a:xfrm>
            <a:off x="8183879" y="1417320"/>
            <a:ext cx="3246120" cy="3291840"/>
          </a:xfrm>
          <a:prstGeom prst="rect">
            <a:avLst/>
          </a:prstGeom>
          <a:noFill/>
        </p:spPr>
        <p:txBody>
          <a:bodyPr wrap="square" lIns="0" tIns="0" rIns="0" bIns="0" anchor="ctr">
            <a:spAutoFit/>
          </a:bodyPr>
          <a:lstStyle/>
          <a:p>
            <a:pPr>
              <a:spcAft>
                <a:spcPts val="1200"/>
              </a:spcAft>
            </a:pPr>
            <a:r>
              <a:rPr sz="2000" b="1">
                <a:solidFill>
                  <a:srgbClr val="FFFFFF"/>
                </a:solidFill>
                <a:latin typeface="Calibri"/>
              </a:rPr>
              <a:t>Random Forest — Final Model</a:t>
            </a:r>
          </a:p>
          <a:p>
            <a:pPr>
              <a:spcAft>
                <a:spcPts val="800"/>
              </a:spcAft>
            </a:pPr>
            <a:r>
              <a:rPr sz="2000" b="0">
                <a:solidFill>
                  <a:srgbClr val="FFFFFF"/>
                </a:solidFill>
                <a:latin typeface="Calibri"/>
              </a:rPr>
              <a:t>Accuracy: </a:t>
            </a:r>
            <a:r>
              <a:rPr sz="2000" b="1">
                <a:solidFill>
                  <a:srgbClr val="FFFFFF"/>
                </a:solidFill>
                <a:latin typeface="Calibri"/>
              </a:rPr>
              <a:t>74.6%</a:t>
            </a:r>
          </a:p>
          <a:p>
            <a:pPr>
              <a:spcAft>
                <a:spcPts val="800"/>
              </a:spcAft>
            </a:pPr>
            <a:r>
              <a:rPr sz="2000" b="0">
                <a:solidFill>
                  <a:srgbClr val="FFFFFF"/>
                </a:solidFill>
                <a:latin typeface="Calibri"/>
              </a:rPr>
              <a:t>Precision: </a:t>
            </a:r>
            <a:r>
              <a:rPr sz="2000" b="1">
                <a:solidFill>
                  <a:srgbClr val="FFFFFF"/>
                </a:solidFill>
                <a:latin typeface="Calibri"/>
              </a:rPr>
              <a:t>45.69%</a:t>
            </a:r>
          </a:p>
          <a:p>
            <a:pPr>
              <a:spcAft>
                <a:spcPts val="800"/>
              </a:spcAft>
            </a:pPr>
            <a:r>
              <a:rPr sz="2000" b="0">
                <a:solidFill>
                  <a:srgbClr val="FFFFFF"/>
                </a:solidFill>
                <a:latin typeface="Calibri"/>
              </a:rPr>
              <a:t>Balanced Accuracy: </a:t>
            </a:r>
            <a:r>
              <a:rPr sz="2000" b="1">
                <a:solidFill>
                  <a:srgbClr val="FFFFFF"/>
                </a:solidFill>
                <a:latin typeface="Calibri"/>
              </a:rPr>
              <a:t>45.83%</a:t>
            </a:r>
          </a:p>
          <a:p>
            <a:pPr>
              <a:spcAft>
                <a:spcPts val="800"/>
              </a:spcAft>
            </a:pPr>
            <a:r>
              <a:rPr sz="2000" b="0">
                <a:solidFill>
                  <a:srgbClr val="FFFFFF"/>
                </a:solidFill>
                <a:latin typeface="Calibri"/>
              </a:rPr>
              <a:t>Macro F1 Score: </a:t>
            </a:r>
            <a:r>
              <a:rPr sz="2000" b="1">
                <a:solidFill>
                  <a:srgbClr val="FFFFFF"/>
                </a:solidFill>
                <a:latin typeface="Calibri"/>
              </a:rPr>
              <a:t>45.76%</a:t>
            </a:r>
          </a:p>
        </p:txBody>
      </p:sp>
      <p:sp>
        <p:nvSpPr>
          <p:cNvPr id="25" name="Key finding card"/>
          <p:cNvSpPr/>
          <p:nvPr/>
        </p:nvSpPr>
        <p:spPr>
          <a:xfrm>
            <a:off x="548640" y="4937760"/>
            <a:ext cx="11091672" cy="914400"/>
          </a:xfrm>
          <a:prstGeom prst="rect">
            <a:avLst/>
          </a:prstGeom>
          <a:solidFill>
            <a:srgbClr val="F3F7FB"/>
          </a:solidFill>
          <a:ln w="9525">
            <a:solidFill>
              <a:srgbClr val="DCE5EE"/>
            </a:solidFill>
          </a:ln>
          <a:effectLst>
            <a:outerShdw blurRad="76200" dist="19050" dir="5400000" algn="t" rotWithShape="0">
              <a:srgbClr val="0B1F3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Marker"/>
          <p:cNvSpPr/>
          <p:nvPr/>
        </p:nvSpPr>
        <p:spPr>
          <a:xfrm>
            <a:off x="804672" y="5303520"/>
            <a:ext cx="182880" cy="182880"/>
          </a:xfrm>
          <a:prstGeom prst="ellipse">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Key finding"/>
          <p:cNvSpPr txBox="1"/>
          <p:nvPr/>
        </p:nvSpPr>
        <p:spPr>
          <a:xfrm>
            <a:off x="1234440" y="4937760"/>
            <a:ext cx="10149840" cy="914400"/>
          </a:xfrm>
          <a:prstGeom prst="rect">
            <a:avLst/>
          </a:prstGeom>
          <a:noFill/>
        </p:spPr>
        <p:txBody>
          <a:bodyPr wrap="square" lIns="0" tIns="0" rIns="0" bIns="0" anchor="ctr">
            <a:spAutoFit/>
          </a:bodyPr>
          <a:lstStyle/>
          <a:p>
            <a:pPr>
              <a:spcAft>
                <a:spcPts val="0"/>
              </a:spcAft>
            </a:pPr>
            <a:r>
              <a:rPr sz="1600" b="1">
                <a:solidFill>
                  <a:srgbClr val="0E7490"/>
                </a:solidFill>
                <a:latin typeface="Calibri"/>
              </a:rPr>
              <a:t>Key finding:</a:t>
            </a:r>
            <a:r>
              <a:rPr sz="1600" b="0">
                <a:solidFill>
                  <a:srgbClr val="1E293B"/>
                </a:solidFill>
                <a:latin typeface="Calibri"/>
              </a:rPr>
              <a:t> XGBoost achieved the highest scores, but Random Forest was selected for the final implementation.</a:t>
            </a:r>
          </a:p>
        </p:txBody>
      </p:sp>
      <p:graphicFrame>
        <p:nvGraphicFramePr>
          <p:cNvPr id="3" name="Content Placeholder 2">
            <a:extLst>
              <a:ext uri="{FF2B5EF4-FFF2-40B4-BE49-F238E27FC236}">
                <a16:creationId xmlns:a16="http://schemas.microsoft.com/office/drawing/2014/main" id="{9BACC80D-0854-5679-EF4C-24B9D1AA6C30}"/>
              </a:ext>
            </a:extLst>
          </p:cNvPr>
          <p:cNvGraphicFramePr>
            <a:graphicFrameLocks noGrp="1"/>
          </p:cNvGraphicFramePr>
          <p:nvPr>
            <p:ph idx="1"/>
            <p:extLst>
              <p:ext uri="{D42A27DB-BD31-4B8C-83A1-F6EECF244321}">
                <p14:modId xmlns:p14="http://schemas.microsoft.com/office/powerpoint/2010/main" val="1099500597"/>
              </p:ext>
            </p:extLst>
          </p:nvPr>
        </p:nvGraphicFramePr>
        <p:xfrm>
          <a:off x="548640" y="1417320"/>
          <a:ext cx="6949440" cy="3291840"/>
        </p:xfrm>
        <a:graphic>
          <a:graphicData uri="http://schemas.openxmlformats.org/drawingml/2006/table">
            <a:tbl>
              <a:tblPr>
                <a:tableStyleId>{5C22544A-7EE6-4342-B048-85BDC9FD1C3A}</a:tableStyleId>
              </a:tblPr>
              <a:tblGrid>
                <a:gridCol w="2926080">
                  <a:extLst>
                    <a:ext uri="{9D8B030D-6E8A-4147-A177-3AD203B41FA5}">
                      <a16:colId xmlns:a16="http://schemas.microsoft.com/office/drawing/2014/main" val="94467235"/>
                    </a:ext>
                  </a:extLst>
                </a:gridCol>
                <a:gridCol w="2011680">
                  <a:extLst>
                    <a:ext uri="{9D8B030D-6E8A-4147-A177-3AD203B41FA5}">
                      <a16:colId xmlns:a16="http://schemas.microsoft.com/office/drawing/2014/main" val="104379635"/>
                    </a:ext>
                  </a:extLst>
                </a:gridCol>
                <a:gridCol w="2011680">
                  <a:extLst>
                    <a:ext uri="{9D8B030D-6E8A-4147-A177-3AD203B41FA5}">
                      <a16:colId xmlns:a16="http://schemas.microsoft.com/office/drawing/2014/main" val="1334495626"/>
                    </a:ext>
                  </a:extLst>
                </a:gridCol>
              </a:tblGrid>
              <a:tr h="548640">
                <a:tc>
                  <a:txBody>
                    <a:bodyPr/>
                    <a:lstStyle/>
                    <a:p>
                      <a:pPr algn="l">
                        <a:buNone/>
                      </a:pPr>
                      <a:r>
                        <a:rPr lang="en-US" sz="1800" b="1" dirty="0">
                          <a:solidFill>
                            <a:srgbClr val="FFFFFF"/>
                          </a:solidFill>
                          <a:latin typeface="Calibri" panose="02020603050405020304" pitchFamily="18" charset="0"/>
                        </a:rPr>
                        <a:t>Model</a:t>
                      </a:r>
                    </a:p>
                  </a:txBody>
                  <a:tcPr marL="182880" marR="182880" anchor="ctr">
                    <a:solidFill>
                      <a:srgbClr val="0B1F3A"/>
                    </a:solidFill>
                  </a:tcPr>
                </a:tc>
                <a:tc>
                  <a:txBody>
                    <a:bodyPr/>
                    <a:lstStyle/>
                    <a:p>
                      <a:pPr algn="ctr">
                        <a:buNone/>
                      </a:pPr>
                      <a:r>
                        <a:rPr lang="en-US" sz="1800" b="1" dirty="0">
                          <a:solidFill>
                            <a:srgbClr val="FFFFFF"/>
                          </a:solidFill>
                          <a:latin typeface="Calibri" panose="02020603050405020304" pitchFamily="18" charset="0"/>
                        </a:rPr>
                        <a:t>Accuracy</a:t>
                      </a:r>
                    </a:p>
                  </a:txBody>
                  <a:tcPr marL="182880" marR="182880" anchor="ctr">
                    <a:solidFill>
                      <a:srgbClr val="0B1F3A"/>
                    </a:solidFill>
                  </a:tcPr>
                </a:tc>
                <a:tc>
                  <a:txBody>
                    <a:bodyPr/>
                    <a:lstStyle/>
                    <a:p>
                      <a:pPr algn="ctr">
                        <a:buNone/>
                      </a:pPr>
                      <a:r>
                        <a:rPr lang="en-US" sz="1800" b="1" dirty="0">
                          <a:solidFill>
                            <a:srgbClr val="FFFFFF"/>
                          </a:solidFill>
                          <a:latin typeface="Calibri" panose="02020603050405020304" pitchFamily="18" charset="0"/>
                        </a:rPr>
                        <a:t>Macro F1</a:t>
                      </a:r>
                    </a:p>
                  </a:txBody>
                  <a:tcPr marL="182880" marR="182880" anchor="ctr">
                    <a:solidFill>
                      <a:srgbClr val="0B1F3A"/>
                    </a:solidFill>
                  </a:tcPr>
                </a:tc>
                <a:extLst>
                  <a:ext uri="{0D108BD9-81ED-4DB2-BD59-A6C34878D82A}">
                    <a16:rowId xmlns:a16="http://schemas.microsoft.com/office/drawing/2014/main" val="2669858287"/>
                  </a:ext>
                </a:extLst>
              </a:tr>
              <a:tr h="548640">
                <a:tc>
                  <a:txBody>
                    <a:bodyPr/>
                    <a:lstStyle/>
                    <a:p>
                      <a:pPr algn="l">
                        <a:buNone/>
                      </a:pPr>
                      <a:r>
                        <a:rPr lang="en-US" sz="1800" b="0" dirty="0" err="1">
                          <a:solidFill>
                            <a:srgbClr val="1E293B"/>
                          </a:solidFill>
                          <a:latin typeface="Calibri" panose="02020603050405020304" pitchFamily="18" charset="0"/>
                        </a:rPr>
                        <a:t>XGBoost</a:t>
                      </a:r>
                      <a:endParaRPr lang="en-US" dirty="0">
                        <a:latin typeface="Times New Roman" panose="02020603050405020304" pitchFamily="18" charset="0"/>
                      </a:endParaRPr>
                    </a:p>
                  </a:txBody>
                  <a:tcPr marL="182880" marR="182880" anchor="ctr">
                    <a:solidFill>
                      <a:srgbClr val="FFFFFF"/>
                    </a:solidFill>
                  </a:tcPr>
                </a:tc>
                <a:tc>
                  <a:txBody>
                    <a:bodyPr/>
                    <a:lstStyle/>
                    <a:p>
                      <a:pPr algn="ctr">
                        <a:buNone/>
                      </a:pPr>
                      <a:r>
                        <a:rPr lang="en-US" sz="1800" b="0" dirty="0">
                          <a:solidFill>
                            <a:srgbClr val="1E293B"/>
                          </a:solidFill>
                          <a:latin typeface="Calibri" panose="02020603050405020304" pitchFamily="18" charset="0"/>
                        </a:rPr>
                        <a:t>79.3%</a:t>
                      </a:r>
                    </a:p>
                  </a:txBody>
                  <a:tcPr marL="182880" marR="182880" anchor="ctr">
                    <a:solidFill>
                      <a:srgbClr val="FFFFFF"/>
                    </a:solidFill>
                  </a:tcPr>
                </a:tc>
                <a:tc>
                  <a:txBody>
                    <a:bodyPr/>
                    <a:lstStyle/>
                    <a:p>
                      <a:pPr algn="ctr">
                        <a:buNone/>
                      </a:pPr>
                      <a:r>
                        <a:rPr lang="en-US" sz="1800" b="0" dirty="0">
                          <a:solidFill>
                            <a:srgbClr val="1E293B"/>
                          </a:solidFill>
                          <a:latin typeface="Calibri" panose="02020603050405020304" pitchFamily="18" charset="0"/>
                        </a:rPr>
                        <a:t>48.48%</a:t>
                      </a:r>
                    </a:p>
                  </a:txBody>
                  <a:tcPr marL="182880" marR="182880" anchor="ctr">
                    <a:solidFill>
                      <a:srgbClr val="FFFFFF"/>
                    </a:solidFill>
                  </a:tcPr>
                </a:tc>
                <a:extLst>
                  <a:ext uri="{0D108BD9-81ED-4DB2-BD59-A6C34878D82A}">
                    <a16:rowId xmlns:a16="http://schemas.microsoft.com/office/drawing/2014/main" val="1947851795"/>
                  </a:ext>
                </a:extLst>
              </a:tr>
              <a:tr h="548640">
                <a:tc>
                  <a:txBody>
                    <a:bodyPr/>
                    <a:lstStyle/>
                    <a:p>
                      <a:pPr algn="l">
                        <a:buNone/>
                      </a:pPr>
                      <a:r>
                        <a:rPr lang="en-US" sz="1800" b="1" dirty="0">
                          <a:solidFill>
                            <a:srgbClr val="1E293B"/>
                          </a:solidFill>
                          <a:latin typeface="Calibri" panose="02020603050405020304" pitchFamily="18" charset="0"/>
                        </a:rPr>
                        <a:t>Random Forest</a:t>
                      </a:r>
                    </a:p>
                  </a:txBody>
                  <a:tcPr marL="182880" marR="182880" anchor="ctr">
                    <a:solidFill>
                      <a:srgbClr val="D8F0F6"/>
                    </a:solidFill>
                  </a:tcPr>
                </a:tc>
                <a:tc>
                  <a:txBody>
                    <a:bodyPr/>
                    <a:lstStyle/>
                    <a:p>
                      <a:pPr algn="ctr">
                        <a:buNone/>
                      </a:pPr>
                      <a:r>
                        <a:rPr lang="en-US" sz="1800" b="1" dirty="0">
                          <a:solidFill>
                            <a:srgbClr val="1E293B"/>
                          </a:solidFill>
                          <a:latin typeface="Calibri" panose="02020603050405020304" pitchFamily="18" charset="0"/>
                        </a:rPr>
                        <a:t>74.6%</a:t>
                      </a:r>
                    </a:p>
                  </a:txBody>
                  <a:tcPr marL="182880" marR="182880" anchor="ctr">
                    <a:solidFill>
                      <a:srgbClr val="D8F0F6"/>
                    </a:solidFill>
                  </a:tcPr>
                </a:tc>
                <a:tc>
                  <a:txBody>
                    <a:bodyPr/>
                    <a:lstStyle/>
                    <a:p>
                      <a:pPr algn="ctr">
                        <a:buNone/>
                      </a:pPr>
                      <a:r>
                        <a:rPr lang="en-US" sz="1800" b="1" dirty="0">
                          <a:solidFill>
                            <a:srgbClr val="1E293B"/>
                          </a:solidFill>
                          <a:latin typeface="Calibri" panose="02020603050405020304" pitchFamily="18" charset="0"/>
                        </a:rPr>
                        <a:t>45.76%</a:t>
                      </a:r>
                    </a:p>
                  </a:txBody>
                  <a:tcPr marL="182880" marR="182880" anchor="ctr">
                    <a:solidFill>
                      <a:srgbClr val="D8F0F6"/>
                    </a:solidFill>
                  </a:tcPr>
                </a:tc>
                <a:extLst>
                  <a:ext uri="{0D108BD9-81ED-4DB2-BD59-A6C34878D82A}">
                    <a16:rowId xmlns:a16="http://schemas.microsoft.com/office/drawing/2014/main" val="1302252022"/>
                  </a:ext>
                </a:extLst>
              </a:tr>
              <a:tr h="548640">
                <a:tc>
                  <a:txBody>
                    <a:bodyPr/>
                    <a:lstStyle/>
                    <a:p>
                      <a:pPr algn="l">
                        <a:buNone/>
                      </a:pPr>
                      <a:r>
                        <a:rPr lang="en-US" sz="1800" b="0" dirty="0">
                          <a:solidFill>
                            <a:srgbClr val="1E293B"/>
                          </a:solidFill>
                          <a:latin typeface="Calibri" panose="02020603050405020304" pitchFamily="18" charset="0"/>
                        </a:rPr>
                        <a:t>KNN</a:t>
                      </a:r>
                    </a:p>
                  </a:txBody>
                  <a:tcPr marL="182880" marR="182880" anchor="ctr">
                    <a:solidFill>
                      <a:srgbClr val="FFFFFF"/>
                    </a:solidFill>
                  </a:tcPr>
                </a:tc>
                <a:tc>
                  <a:txBody>
                    <a:bodyPr/>
                    <a:lstStyle/>
                    <a:p>
                      <a:pPr algn="ctr">
                        <a:buNone/>
                      </a:pPr>
                      <a:r>
                        <a:rPr lang="en-US" sz="1800" b="0" dirty="0">
                          <a:solidFill>
                            <a:srgbClr val="1E293B"/>
                          </a:solidFill>
                          <a:latin typeface="Calibri" panose="02020603050405020304" pitchFamily="18" charset="0"/>
                        </a:rPr>
                        <a:t>72.9%</a:t>
                      </a:r>
                    </a:p>
                  </a:txBody>
                  <a:tcPr marL="182880" marR="182880" anchor="ctr">
                    <a:solidFill>
                      <a:srgbClr val="FFFFFF"/>
                    </a:solidFill>
                  </a:tcPr>
                </a:tc>
                <a:tc>
                  <a:txBody>
                    <a:bodyPr/>
                    <a:lstStyle/>
                    <a:p>
                      <a:pPr algn="ctr">
                        <a:buNone/>
                      </a:pPr>
                      <a:r>
                        <a:rPr lang="en-US" sz="1800" b="0" dirty="0">
                          <a:solidFill>
                            <a:srgbClr val="1E293B"/>
                          </a:solidFill>
                          <a:latin typeface="Calibri" panose="02020603050405020304" pitchFamily="18" charset="0"/>
                        </a:rPr>
                        <a:t>44.57%</a:t>
                      </a:r>
                    </a:p>
                  </a:txBody>
                  <a:tcPr marL="182880" marR="182880" anchor="ctr">
                    <a:solidFill>
                      <a:srgbClr val="FFFFFF"/>
                    </a:solidFill>
                  </a:tcPr>
                </a:tc>
                <a:extLst>
                  <a:ext uri="{0D108BD9-81ED-4DB2-BD59-A6C34878D82A}">
                    <a16:rowId xmlns:a16="http://schemas.microsoft.com/office/drawing/2014/main" val="4240750488"/>
                  </a:ext>
                </a:extLst>
              </a:tr>
              <a:tr h="548640">
                <a:tc>
                  <a:txBody>
                    <a:bodyPr/>
                    <a:lstStyle/>
                    <a:p>
                      <a:pPr algn="l">
                        <a:buNone/>
                      </a:pPr>
                      <a:r>
                        <a:rPr lang="en-US" sz="1800" b="0" dirty="0">
                          <a:solidFill>
                            <a:srgbClr val="1E293B"/>
                          </a:solidFill>
                          <a:latin typeface="Calibri" panose="02020603050405020304" pitchFamily="18" charset="0"/>
                        </a:rPr>
                        <a:t>Decision Tree</a:t>
                      </a:r>
                    </a:p>
                  </a:txBody>
                  <a:tcPr marL="182880" marR="182880" anchor="ctr">
                    <a:solidFill>
                      <a:srgbClr val="F4F8FB"/>
                    </a:solidFill>
                  </a:tcPr>
                </a:tc>
                <a:tc>
                  <a:txBody>
                    <a:bodyPr/>
                    <a:lstStyle/>
                    <a:p>
                      <a:pPr algn="ctr">
                        <a:buNone/>
                      </a:pPr>
                      <a:r>
                        <a:rPr lang="en-US" sz="1800" b="0" dirty="0">
                          <a:solidFill>
                            <a:srgbClr val="1E293B"/>
                          </a:solidFill>
                          <a:latin typeface="Calibri" panose="02020603050405020304" pitchFamily="18" charset="0"/>
                        </a:rPr>
                        <a:t>69.9%</a:t>
                      </a:r>
                    </a:p>
                  </a:txBody>
                  <a:tcPr marL="182880" marR="182880" anchor="ctr">
                    <a:solidFill>
                      <a:srgbClr val="F4F8FB"/>
                    </a:solidFill>
                  </a:tcPr>
                </a:tc>
                <a:tc>
                  <a:txBody>
                    <a:bodyPr/>
                    <a:lstStyle/>
                    <a:p>
                      <a:pPr algn="ctr">
                        <a:buNone/>
                      </a:pPr>
                      <a:r>
                        <a:rPr lang="en-US" sz="1800" b="0" dirty="0">
                          <a:solidFill>
                            <a:srgbClr val="1E293B"/>
                          </a:solidFill>
                          <a:latin typeface="Calibri" panose="02020603050405020304" pitchFamily="18" charset="0"/>
                        </a:rPr>
                        <a:t>43.04%</a:t>
                      </a:r>
                    </a:p>
                  </a:txBody>
                  <a:tcPr marL="182880" marR="182880" anchor="ctr">
                    <a:solidFill>
                      <a:srgbClr val="F4F8FB"/>
                    </a:solidFill>
                  </a:tcPr>
                </a:tc>
                <a:extLst>
                  <a:ext uri="{0D108BD9-81ED-4DB2-BD59-A6C34878D82A}">
                    <a16:rowId xmlns:a16="http://schemas.microsoft.com/office/drawing/2014/main" val="2109146051"/>
                  </a:ext>
                </a:extLst>
              </a:tr>
              <a:tr h="548640">
                <a:tc>
                  <a:txBody>
                    <a:bodyPr/>
                    <a:lstStyle/>
                    <a:p>
                      <a:pPr algn="l">
                        <a:buNone/>
                      </a:pPr>
                      <a:r>
                        <a:rPr lang="en-US" sz="1800" b="0" dirty="0">
                          <a:solidFill>
                            <a:srgbClr val="1E293B"/>
                          </a:solidFill>
                          <a:latin typeface="Calibri" panose="02020603050405020304" pitchFamily="18" charset="0"/>
                        </a:rPr>
                        <a:t>Logistic Regression</a:t>
                      </a:r>
                    </a:p>
                  </a:txBody>
                  <a:tcPr marL="182880" marR="182880" anchor="ctr">
                    <a:solidFill>
                      <a:srgbClr val="FFFFFF"/>
                    </a:solidFill>
                  </a:tcPr>
                </a:tc>
                <a:tc>
                  <a:txBody>
                    <a:bodyPr/>
                    <a:lstStyle/>
                    <a:p>
                      <a:pPr algn="ctr">
                        <a:buNone/>
                      </a:pPr>
                      <a:r>
                        <a:rPr lang="en-US" sz="1800" b="0" dirty="0">
                          <a:solidFill>
                            <a:srgbClr val="1E293B"/>
                          </a:solidFill>
                          <a:latin typeface="Calibri" panose="02020603050405020304" pitchFamily="18" charset="0"/>
                        </a:rPr>
                        <a:t>63.5%</a:t>
                      </a:r>
                    </a:p>
                  </a:txBody>
                  <a:tcPr marL="182880" marR="182880" anchor="ctr">
                    <a:solidFill>
                      <a:srgbClr val="FFFFFF"/>
                    </a:solidFill>
                  </a:tcPr>
                </a:tc>
                <a:tc>
                  <a:txBody>
                    <a:bodyPr/>
                    <a:lstStyle/>
                    <a:p>
                      <a:pPr algn="ctr">
                        <a:buNone/>
                      </a:pPr>
                      <a:r>
                        <a:rPr lang="en-US" sz="1800" b="0" dirty="0">
                          <a:solidFill>
                            <a:srgbClr val="1E293B"/>
                          </a:solidFill>
                          <a:latin typeface="Calibri" panose="02020603050405020304" pitchFamily="18" charset="0"/>
                        </a:rPr>
                        <a:t>43.12%</a:t>
                      </a:r>
                    </a:p>
                  </a:txBody>
                  <a:tcPr marL="182880" marR="182880" anchor="ctr">
                    <a:solidFill>
                      <a:srgbClr val="FFFFFF"/>
                    </a:solidFill>
                  </a:tcPr>
                </a:tc>
                <a:extLst>
                  <a:ext uri="{0D108BD9-81ED-4DB2-BD59-A6C34878D82A}">
                    <a16:rowId xmlns:a16="http://schemas.microsoft.com/office/drawing/2014/main" val="687300912"/>
                  </a:ext>
                </a:extLst>
              </a:tr>
            </a:tbl>
          </a:graphicData>
        </a:graphic>
      </p:graphicFrame>
    </p:spTree>
    <p:extLst>
      <p:ext uri="{BB962C8B-B14F-4D97-AF65-F5344CB8AC3E}">
        <p14:creationId xmlns:p14="http://schemas.microsoft.com/office/powerpoint/2010/main" val="39595550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05B3F6D-F235-CDB6-4F79-91A1CB142542}"/>
            </a:ext>
          </a:extLst>
        </p:cNvPr>
        <p:cNvGrpSpPr/>
        <p:nvPr/>
      </p:nvGrpSpPr>
      <p:grpSpPr>
        <a:xfrm>
          <a:off x="0" y="0"/>
          <a:ext cx="0" cy="0"/>
          <a:chOff x="0" y="0"/>
          <a:chExt cx="0" cy="0"/>
        </a:xfrm>
      </p:grpSpPr>
      <p:cxnSp>
        <p:nvCxnSpPr>
          <p:cNvPr id="5" name="Network line"/>
          <p:cNvCxnSpPr/>
          <p:nvPr/>
        </p:nvCxnSpPr>
        <p:spPr>
          <a:xfrm flipV="1">
            <a:off x="10388498" y="457200"/>
            <a:ext cx="405994" cy="402336"/>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6" name="Network line"/>
          <p:cNvCxnSpPr/>
          <p:nvPr/>
        </p:nvCxnSpPr>
        <p:spPr>
          <a:xfrm>
            <a:off x="10794492" y="457200"/>
            <a:ext cx="372160" cy="347472"/>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7" name="Network line"/>
          <p:cNvCxnSpPr/>
          <p:nvPr/>
        </p:nvCxnSpPr>
        <p:spPr>
          <a:xfrm flipV="1">
            <a:off x="11166652" y="365760"/>
            <a:ext cx="439827" cy="438912"/>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8" name="Network line"/>
          <p:cNvCxnSpPr/>
          <p:nvPr/>
        </p:nvCxnSpPr>
        <p:spPr>
          <a:xfrm>
            <a:off x="11606479" y="365760"/>
            <a:ext cx="270662" cy="310896"/>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9" name="Network line"/>
          <p:cNvCxnSpPr/>
          <p:nvPr/>
        </p:nvCxnSpPr>
        <p:spPr>
          <a:xfrm flipV="1">
            <a:off x="11166652" y="676656"/>
            <a:ext cx="710489" cy="128016"/>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10" name="Network line"/>
          <p:cNvCxnSpPr/>
          <p:nvPr/>
        </p:nvCxnSpPr>
        <p:spPr>
          <a:xfrm flipH="1">
            <a:off x="11132820" y="804672"/>
            <a:ext cx="33832" cy="283464"/>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11" name="Network line"/>
          <p:cNvCxnSpPr/>
          <p:nvPr/>
        </p:nvCxnSpPr>
        <p:spPr>
          <a:xfrm flipH="1" flipV="1">
            <a:off x="10591495" y="246888"/>
            <a:ext cx="202997" cy="210312"/>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12" name="Network line"/>
          <p:cNvCxnSpPr/>
          <p:nvPr/>
        </p:nvCxnSpPr>
        <p:spPr>
          <a:xfrm flipV="1">
            <a:off x="10388498" y="804672"/>
            <a:ext cx="778154" cy="54864"/>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13" name="Network line"/>
          <p:cNvCxnSpPr/>
          <p:nvPr/>
        </p:nvCxnSpPr>
        <p:spPr>
          <a:xfrm flipH="1">
            <a:off x="11504980" y="676656"/>
            <a:ext cx="372161" cy="347472"/>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14" name="Network line"/>
          <p:cNvCxnSpPr/>
          <p:nvPr/>
        </p:nvCxnSpPr>
        <p:spPr>
          <a:xfrm flipV="1">
            <a:off x="11132820" y="1024128"/>
            <a:ext cx="372160" cy="64008"/>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sp>
        <p:nvSpPr>
          <p:cNvPr id="15" name="Network node"/>
          <p:cNvSpPr/>
          <p:nvPr/>
        </p:nvSpPr>
        <p:spPr>
          <a:xfrm>
            <a:off x="10342778" y="813815"/>
            <a:ext cx="91440" cy="91440"/>
          </a:xfrm>
          <a:prstGeom prst="ellipse">
            <a:avLst/>
          </a:prstGeom>
          <a:solidFill>
            <a:srgbClr val="67D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Network node"/>
          <p:cNvSpPr/>
          <p:nvPr/>
        </p:nvSpPr>
        <p:spPr>
          <a:xfrm>
            <a:off x="10748772" y="411480"/>
            <a:ext cx="91440" cy="91440"/>
          </a:xfrm>
          <a:prstGeom prst="ellipse">
            <a:avLst/>
          </a:prstGeom>
          <a:solidFill>
            <a:srgbClr val="67D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Network node"/>
          <p:cNvSpPr/>
          <p:nvPr/>
        </p:nvSpPr>
        <p:spPr>
          <a:xfrm>
            <a:off x="11102644" y="740664"/>
            <a:ext cx="128016" cy="128016"/>
          </a:xfrm>
          <a:prstGeom prst="ellipse">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Network node"/>
          <p:cNvSpPr/>
          <p:nvPr/>
        </p:nvSpPr>
        <p:spPr>
          <a:xfrm>
            <a:off x="11542471" y="301752"/>
            <a:ext cx="128016" cy="128016"/>
          </a:xfrm>
          <a:prstGeom prst="ellipse">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Network node"/>
          <p:cNvSpPr/>
          <p:nvPr/>
        </p:nvSpPr>
        <p:spPr>
          <a:xfrm>
            <a:off x="11831421" y="630936"/>
            <a:ext cx="91440" cy="91440"/>
          </a:xfrm>
          <a:prstGeom prst="ellipse">
            <a:avLst/>
          </a:prstGeom>
          <a:solidFill>
            <a:srgbClr val="67D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Network node"/>
          <p:cNvSpPr/>
          <p:nvPr/>
        </p:nvSpPr>
        <p:spPr>
          <a:xfrm>
            <a:off x="11087100" y="1042415"/>
            <a:ext cx="91440" cy="91440"/>
          </a:xfrm>
          <a:prstGeom prst="ellipse">
            <a:avLst/>
          </a:prstGeom>
          <a:solidFill>
            <a:srgbClr val="67D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Network node"/>
          <p:cNvSpPr/>
          <p:nvPr/>
        </p:nvSpPr>
        <p:spPr>
          <a:xfrm>
            <a:off x="10545775" y="201168"/>
            <a:ext cx="91440" cy="91440"/>
          </a:xfrm>
          <a:prstGeom prst="ellipse">
            <a:avLst/>
          </a:prstGeom>
          <a:solidFill>
            <a:srgbClr val="67D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Network node"/>
          <p:cNvSpPr/>
          <p:nvPr/>
        </p:nvSpPr>
        <p:spPr>
          <a:xfrm>
            <a:off x="11459260" y="978408"/>
            <a:ext cx="91440" cy="91440"/>
          </a:xfrm>
          <a:prstGeom prst="ellipse">
            <a:avLst/>
          </a:prstGeom>
          <a:solidFill>
            <a:srgbClr val="67D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itle 3">
            <a:extLst>
              <a:ext uri="{FF2B5EF4-FFF2-40B4-BE49-F238E27FC236}">
                <a16:creationId xmlns:a16="http://schemas.microsoft.com/office/drawing/2014/main" id="{38C9F4D0-D957-24FD-106B-B92A417044EB}"/>
              </a:ext>
            </a:extLst>
          </p:cNvPr>
          <p:cNvSpPr>
            <a:spLocks noGrp="1"/>
          </p:cNvSpPr>
          <p:nvPr>
            <p:ph type="title"/>
          </p:nvPr>
        </p:nvSpPr>
        <p:spPr>
          <a:xfrm>
            <a:off x="548640" y="347472"/>
            <a:ext cx="9509760" cy="731520"/>
          </a:xfrm>
        </p:spPr>
        <p:txBody>
          <a:bodyPr wrap="square" lIns="0" tIns="0" rIns="0" bIns="0" anchor="ctr">
            <a:noAutofit/>
          </a:bodyPr>
          <a:lstStyle/>
          <a:p>
            <a:pPr marL="0" indent="0" algn="l">
              <a:buNone/>
            </a:pPr>
            <a:r>
              <a:rPr lang="en-US" sz="3200" b="1" dirty="0">
                <a:solidFill>
                  <a:srgbClr val="0B1F3A"/>
                </a:solidFill>
                <a:latin typeface="Calibri"/>
              </a:rPr>
              <a:t>Movie Success Prediction System</a:t>
            </a:r>
          </a:p>
        </p:txBody>
      </p:sp>
      <p:sp>
        <p:nvSpPr>
          <p:cNvPr id="23" name="Final model banner"/>
          <p:cNvSpPr/>
          <p:nvPr/>
        </p:nvSpPr>
        <p:spPr>
          <a:xfrm>
            <a:off x="548640" y="1371600"/>
            <a:ext cx="11091672" cy="731520"/>
          </a:xfrm>
          <a:prstGeom prst="rect">
            <a:avLst/>
          </a:prstGeom>
          <a:solidFill>
            <a:srgbClr val="0B1F3A"/>
          </a:solidFill>
          <a:ln>
            <a:noFill/>
          </a:ln>
          <a:effectLst>
            <a:outerShdw blurRad="76200" dist="19050" dir="5400000" algn="t" rotWithShape="0">
              <a:srgbClr val="0B1F3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Final model"/>
          <p:cNvSpPr txBox="1"/>
          <p:nvPr/>
        </p:nvSpPr>
        <p:spPr>
          <a:xfrm>
            <a:off x="868680" y="1371600"/>
            <a:ext cx="10515600" cy="731520"/>
          </a:xfrm>
          <a:prstGeom prst="rect">
            <a:avLst/>
          </a:prstGeom>
          <a:noFill/>
        </p:spPr>
        <p:txBody>
          <a:bodyPr wrap="square" lIns="0" tIns="0" rIns="0" bIns="0" anchor="ctr">
            <a:spAutoFit/>
          </a:bodyPr>
          <a:lstStyle/>
          <a:p>
            <a:pPr>
              <a:spcAft>
                <a:spcPts val="0"/>
              </a:spcAft>
            </a:pPr>
            <a:r>
              <a:rPr sz="2200" b="1">
                <a:solidFill>
                  <a:srgbClr val="22D3EE"/>
                </a:solidFill>
                <a:latin typeface="Calibri"/>
              </a:rPr>
              <a:t>Final Model:</a:t>
            </a:r>
            <a:r>
              <a:rPr sz="2200" b="0">
                <a:solidFill>
                  <a:srgbClr val="FFFFFF"/>
                </a:solidFill>
                <a:latin typeface="Calibri"/>
              </a:rPr>
              <a:t> Random Forest</a:t>
            </a:r>
          </a:p>
        </p:txBody>
      </p:sp>
      <p:sp>
        <p:nvSpPr>
          <p:cNvPr id="25" name="Technologies heading"/>
          <p:cNvSpPr txBox="1"/>
          <p:nvPr/>
        </p:nvSpPr>
        <p:spPr>
          <a:xfrm>
            <a:off x="548640" y="2286000"/>
            <a:ext cx="4572000" cy="411480"/>
          </a:xfrm>
          <a:prstGeom prst="rect">
            <a:avLst/>
          </a:prstGeom>
          <a:noFill/>
        </p:spPr>
        <p:txBody>
          <a:bodyPr wrap="square" lIns="0" tIns="0" rIns="0" bIns="0" anchor="ctr">
            <a:spAutoFit/>
          </a:bodyPr>
          <a:lstStyle/>
          <a:p>
            <a:pPr>
              <a:spcAft>
                <a:spcPts val="0"/>
              </a:spcAft>
            </a:pPr>
            <a:r>
              <a:rPr sz="2000" b="1">
                <a:solidFill>
                  <a:srgbClr val="0B1F3A"/>
                </a:solidFill>
                <a:latin typeface="Calibri"/>
              </a:rPr>
              <a:t>Technologies</a:t>
            </a:r>
          </a:p>
        </p:txBody>
      </p:sp>
      <p:sp>
        <p:nvSpPr>
          <p:cNvPr id="26" name="Technology card"/>
          <p:cNvSpPr/>
          <p:nvPr/>
        </p:nvSpPr>
        <p:spPr>
          <a:xfrm>
            <a:off x="548640" y="2743200"/>
            <a:ext cx="3566160" cy="868680"/>
          </a:xfrm>
          <a:prstGeom prst="rect">
            <a:avLst/>
          </a:prstGeom>
          <a:solidFill>
            <a:srgbClr val="F3F7FB"/>
          </a:solidFill>
          <a:ln w="9525">
            <a:solidFill>
              <a:srgbClr val="DCE5EE"/>
            </a:solidFill>
          </a:ln>
          <a:effectLst>
            <a:outerShdw blurRad="76200" dist="19050" dir="5400000" algn="t" rotWithShape="0">
              <a:srgbClr val="0B1F3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Marker"/>
          <p:cNvSpPr/>
          <p:nvPr/>
        </p:nvSpPr>
        <p:spPr>
          <a:xfrm>
            <a:off x="786384" y="3086100"/>
            <a:ext cx="182880" cy="182880"/>
          </a:xfrm>
          <a:prstGeom prst="ellipse">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chnology"/>
          <p:cNvSpPr txBox="1"/>
          <p:nvPr/>
        </p:nvSpPr>
        <p:spPr>
          <a:xfrm>
            <a:off x="1207007" y="2743200"/>
            <a:ext cx="2788920" cy="868680"/>
          </a:xfrm>
          <a:prstGeom prst="rect">
            <a:avLst/>
          </a:prstGeom>
          <a:noFill/>
        </p:spPr>
        <p:txBody>
          <a:bodyPr wrap="square" lIns="0" tIns="0" rIns="0" bIns="0" anchor="ctr">
            <a:spAutoFit/>
          </a:bodyPr>
          <a:lstStyle/>
          <a:p>
            <a:pPr>
              <a:spcAft>
                <a:spcPts val="0"/>
              </a:spcAft>
            </a:pPr>
            <a:r>
              <a:rPr sz="1800" b="0">
                <a:solidFill>
                  <a:srgbClr val="1E293B"/>
                </a:solidFill>
                <a:latin typeface="Calibri"/>
              </a:rPr>
              <a:t>Frontend: React</a:t>
            </a:r>
          </a:p>
        </p:txBody>
      </p:sp>
      <p:sp>
        <p:nvSpPr>
          <p:cNvPr id="29" name="Technology card"/>
          <p:cNvSpPr/>
          <p:nvPr/>
        </p:nvSpPr>
        <p:spPr>
          <a:xfrm>
            <a:off x="4311396" y="2743200"/>
            <a:ext cx="3566160" cy="868680"/>
          </a:xfrm>
          <a:prstGeom prst="rect">
            <a:avLst/>
          </a:prstGeom>
          <a:solidFill>
            <a:srgbClr val="F3F7FB"/>
          </a:solidFill>
          <a:ln w="9525">
            <a:solidFill>
              <a:srgbClr val="DCE5EE"/>
            </a:solidFill>
          </a:ln>
          <a:effectLst>
            <a:outerShdw blurRad="76200" dist="19050" dir="5400000" algn="t" rotWithShape="0">
              <a:srgbClr val="0B1F3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Marker"/>
          <p:cNvSpPr/>
          <p:nvPr/>
        </p:nvSpPr>
        <p:spPr>
          <a:xfrm>
            <a:off x="4549140" y="3086100"/>
            <a:ext cx="182880" cy="182880"/>
          </a:xfrm>
          <a:prstGeom prst="ellipse">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chnology"/>
          <p:cNvSpPr txBox="1"/>
          <p:nvPr/>
        </p:nvSpPr>
        <p:spPr>
          <a:xfrm>
            <a:off x="4969764" y="2743200"/>
            <a:ext cx="2788920" cy="868680"/>
          </a:xfrm>
          <a:prstGeom prst="rect">
            <a:avLst/>
          </a:prstGeom>
          <a:noFill/>
        </p:spPr>
        <p:txBody>
          <a:bodyPr wrap="square" lIns="0" tIns="0" rIns="0" bIns="0" anchor="ctr">
            <a:spAutoFit/>
          </a:bodyPr>
          <a:lstStyle/>
          <a:p>
            <a:pPr>
              <a:spcAft>
                <a:spcPts val="0"/>
              </a:spcAft>
            </a:pPr>
            <a:r>
              <a:rPr sz="1800" b="0">
                <a:solidFill>
                  <a:srgbClr val="1E293B"/>
                </a:solidFill>
                <a:latin typeface="Calibri"/>
              </a:rPr>
              <a:t>Backend: FastAPI</a:t>
            </a:r>
          </a:p>
        </p:txBody>
      </p:sp>
      <p:sp>
        <p:nvSpPr>
          <p:cNvPr id="32" name="Technology card"/>
          <p:cNvSpPr/>
          <p:nvPr/>
        </p:nvSpPr>
        <p:spPr>
          <a:xfrm>
            <a:off x="8074152" y="2743200"/>
            <a:ext cx="3566160" cy="868680"/>
          </a:xfrm>
          <a:prstGeom prst="rect">
            <a:avLst/>
          </a:prstGeom>
          <a:solidFill>
            <a:srgbClr val="F3F7FB"/>
          </a:solidFill>
          <a:ln w="9525">
            <a:solidFill>
              <a:srgbClr val="DCE5EE"/>
            </a:solidFill>
          </a:ln>
          <a:effectLst>
            <a:outerShdw blurRad="76200" dist="19050" dir="5400000" algn="t" rotWithShape="0">
              <a:srgbClr val="0B1F3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Marker"/>
          <p:cNvSpPr/>
          <p:nvPr/>
        </p:nvSpPr>
        <p:spPr>
          <a:xfrm>
            <a:off x="8311896" y="3086100"/>
            <a:ext cx="182880" cy="182880"/>
          </a:xfrm>
          <a:prstGeom prst="ellipse">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chnology"/>
          <p:cNvSpPr txBox="1"/>
          <p:nvPr/>
        </p:nvSpPr>
        <p:spPr>
          <a:xfrm>
            <a:off x="8732520" y="2743200"/>
            <a:ext cx="2788920" cy="868680"/>
          </a:xfrm>
          <a:prstGeom prst="rect">
            <a:avLst/>
          </a:prstGeom>
          <a:noFill/>
        </p:spPr>
        <p:txBody>
          <a:bodyPr wrap="square" lIns="0" tIns="0" rIns="0" bIns="0" anchor="ctr">
            <a:spAutoFit/>
          </a:bodyPr>
          <a:lstStyle/>
          <a:p>
            <a:pPr>
              <a:spcAft>
                <a:spcPts val="0"/>
              </a:spcAft>
            </a:pPr>
            <a:r>
              <a:rPr sz="1800" b="0">
                <a:solidFill>
                  <a:srgbClr val="1E293B"/>
                </a:solidFill>
                <a:latin typeface="Calibri"/>
              </a:rPr>
              <a:t>Machine Learning: Random Forest</a:t>
            </a:r>
          </a:p>
        </p:txBody>
      </p:sp>
      <p:sp>
        <p:nvSpPr>
          <p:cNvPr id="35" name="Workflow heading"/>
          <p:cNvSpPr txBox="1"/>
          <p:nvPr/>
        </p:nvSpPr>
        <p:spPr>
          <a:xfrm>
            <a:off x="548640" y="3840480"/>
            <a:ext cx="4572000" cy="411480"/>
          </a:xfrm>
          <a:prstGeom prst="rect">
            <a:avLst/>
          </a:prstGeom>
          <a:noFill/>
        </p:spPr>
        <p:txBody>
          <a:bodyPr wrap="square" lIns="0" tIns="0" rIns="0" bIns="0" anchor="ctr">
            <a:spAutoFit/>
          </a:bodyPr>
          <a:lstStyle/>
          <a:p>
            <a:pPr>
              <a:spcAft>
                <a:spcPts val="0"/>
              </a:spcAft>
            </a:pPr>
            <a:r>
              <a:rPr sz="2000" b="1">
                <a:solidFill>
                  <a:srgbClr val="0B1F3A"/>
                </a:solidFill>
                <a:latin typeface="Calibri"/>
              </a:rPr>
              <a:t>Workflow</a:t>
            </a:r>
          </a:p>
        </p:txBody>
      </p:sp>
      <p:sp>
        <p:nvSpPr>
          <p:cNvPr id="36" name="Workflow card"/>
          <p:cNvSpPr/>
          <p:nvPr/>
        </p:nvSpPr>
        <p:spPr>
          <a:xfrm>
            <a:off x="548640" y="4343400"/>
            <a:ext cx="2514600" cy="1508760"/>
          </a:xfrm>
          <a:prstGeom prst="rect">
            <a:avLst/>
          </a:prstGeom>
          <a:solidFill>
            <a:srgbClr val="F3F7FB"/>
          </a:solidFill>
          <a:ln w="9525">
            <a:solidFill>
              <a:srgbClr val="DCE5EE"/>
            </a:solidFill>
          </a:ln>
          <a:effectLst>
            <a:outerShdw blurRad="76200" dist="19050" dir="5400000" algn="t" rotWithShape="0">
              <a:srgbClr val="0B1F3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Marker"/>
          <p:cNvSpPr/>
          <p:nvPr/>
        </p:nvSpPr>
        <p:spPr>
          <a:xfrm>
            <a:off x="731519" y="4526280"/>
            <a:ext cx="182880" cy="182880"/>
          </a:xfrm>
          <a:prstGeom prst="ellipse">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Workflow step"/>
          <p:cNvSpPr txBox="1"/>
          <p:nvPr/>
        </p:nvSpPr>
        <p:spPr>
          <a:xfrm>
            <a:off x="749808" y="4846320"/>
            <a:ext cx="2148840" cy="960120"/>
          </a:xfrm>
          <a:prstGeom prst="rect">
            <a:avLst/>
          </a:prstGeom>
          <a:noFill/>
        </p:spPr>
        <p:txBody>
          <a:bodyPr wrap="square" lIns="0" tIns="0" rIns="0" bIns="0" anchor="t">
            <a:spAutoFit/>
          </a:bodyPr>
          <a:lstStyle/>
          <a:p>
            <a:pPr>
              <a:spcAft>
                <a:spcPts val="0"/>
              </a:spcAft>
            </a:pPr>
            <a:r>
              <a:rPr sz="1600" b="0">
                <a:solidFill>
                  <a:srgbClr val="1E293B"/>
                </a:solidFill>
                <a:latin typeface="Calibri"/>
              </a:rPr>
              <a:t>Enter movie details.</a:t>
            </a:r>
          </a:p>
        </p:txBody>
      </p:sp>
      <p:sp>
        <p:nvSpPr>
          <p:cNvPr id="39" name="Workflow arrow"/>
          <p:cNvSpPr/>
          <p:nvPr/>
        </p:nvSpPr>
        <p:spPr>
          <a:xfrm>
            <a:off x="3118104" y="4978908"/>
            <a:ext cx="237744" cy="237744"/>
          </a:xfrm>
          <a:prstGeom prst="rightArrow">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Workflow card"/>
          <p:cNvSpPr/>
          <p:nvPr/>
        </p:nvSpPr>
        <p:spPr>
          <a:xfrm>
            <a:off x="3407968" y="4343400"/>
            <a:ext cx="2514600" cy="1508760"/>
          </a:xfrm>
          <a:prstGeom prst="rect">
            <a:avLst/>
          </a:prstGeom>
          <a:solidFill>
            <a:srgbClr val="F3F7FB"/>
          </a:solidFill>
          <a:ln w="9525">
            <a:solidFill>
              <a:srgbClr val="DCE5EE"/>
            </a:solidFill>
          </a:ln>
          <a:effectLst>
            <a:outerShdw blurRad="76200" dist="19050" dir="5400000" algn="t" rotWithShape="0">
              <a:srgbClr val="0B1F3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Marker"/>
          <p:cNvSpPr/>
          <p:nvPr/>
        </p:nvSpPr>
        <p:spPr>
          <a:xfrm>
            <a:off x="3590848" y="4526280"/>
            <a:ext cx="182880" cy="182880"/>
          </a:xfrm>
          <a:prstGeom prst="ellipse">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Workflow step"/>
          <p:cNvSpPr txBox="1"/>
          <p:nvPr/>
        </p:nvSpPr>
        <p:spPr>
          <a:xfrm>
            <a:off x="3609136" y="4846320"/>
            <a:ext cx="2148840" cy="960120"/>
          </a:xfrm>
          <a:prstGeom prst="rect">
            <a:avLst/>
          </a:prstGeom>
          <a:noFill/>
        </p:spPr>
        <p:txBody>
          <a:bodyPr wrap="square" lIns="0" tIns="0" rIns="0" bIns="0" anchor="t">
            <a:spAutoFit/>
          </a:bodyPr>
          <a:lstStyle/>
          <a:p>
            <a:pPr>
              <a:spcAft>
                <a:spcPts val="0"/>
              </a:spcAft>
            </a:pPr>
            <a:r>
              <a:rPr sz="1600" b="0">
                <a:solidFill>
                  <a:srgbClr val="1E293B"/>
                </a:solidFill>
                <a:latin typeface="Calibri"/>
              </a:rPr>
              <a:t>Process the input using the backend.</a:t>
            </a:r>
          </a:p>
        </p:txBody>
      </p:sp>
      <p:sp>
        <p:nvSpPr>
          <p:cNvPr id="43" name="Workflow arrow"/>
          <p:cNvSpPr/>
          <p:nvPr/>
        </p:nvSpPr>
        <p:spPr>
          <a:xfrm>
            <a:off x="5977432" y="4978908"/>
            <a:ext cx="237744" cy="237744"/>
          </a:xfrm>
          <a:prstGeom prst="rightArrow">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Workflow card"/>
          <p:cNvSpPr/>
          <p:nvPr/>
        </p:nvSpPr>
        <p:spPr>
          <a:xfrm>
            <a:off x="6267297" y="4343400"/>
            <a:ext cx="2514600" cy="1508760"/>
          </a:xfrm>
          <a:prstGeom prst="rect">
            <a:avLst/>
          </a:prstGeom>
          <a:solidFill>
            <a:srgbClr val="F3F7FB"/>
          </a:solidFill>
          <a:ln w="9525">
            <a:solidFill>
              <a:srgbClr val="DCE5EE"/>
            </a:solidFill>
          </a:ln>
          <a:effectLst>
            <a:outerShdw blurRad="76200" dist="19050" dir="5400000" algn="t" rotWithShape="0">
              <a:srgbClr val="0B1F3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Marker"/>
          <p:cNvSpPr/>
          <p:nvPr/>
        </p:nvSpPr>
        <p:spPr>
          <a:xfrm>
            <a:off x="6450177" y="4526280"/>
            <a:ext cx="182880" cy="182880"/>
          </a:xfrm>
          <a:prstGeom prst="ellipse">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Workflow step"/>
          <p:cNvSpPr txBox="1"/>
          <p:nvPr/>
        </p:nvSpPr>
        <p:spPr>
          <a:xfrm>
            <a:off x="6468465" y="4846320"/>
            <a:ext cx="2148840" cy="960120"/>
          </a:xfrm>
          <a:prstGeom prst="rect">
            <a:avLst/>
          </a:prstGeom>
          <a:noFill/>
        </p:spPr>
        <p:txBody>
          <a:bodyPr wrap="square" lIns="0" tIns="0" rIns="0" bIns="0" anchor="t">
            <a:spAutoFit/>
          </a:bodyPr>
          <a:lstStyle/>
          <a:p>
            <a:pPr>
              <a:spcAft>
                <a:spcPts val="0"/>
              </a:spcAft>
            </a:pPr>
            <a:r>
              <a:rPr sz="1600" b="0">
                <a:solidFill>
                  <a:srgbClr val="1E293B"/>
                </a:solidFill>
                <a:latin typeface="Calibri"/>
              </a:rPr>
              <a:t>Generate a prediction using the trained Random Forest model.</a:t>
            </a:r>
          </a:p>
        </p:txBody>
      </p:sp>
      <p:sp>
        <p:nvSpPr>
          <p:cNvPr id="47" name="Workflow arrow"/>
          <p:cNvSpPr/>
          <p:nvPr/>
        </p:nvSpPr>
        <p:spPr>
          <a:xfrm>
            <a:off x="8836761" y="4978908"/>
            <a:ext cx="237744" cy="237744"/>
          </a:xfrm>
          <a:prstGeom prst="rightArrow">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Workflow card"/>
          <p:cNvSpPr/>
          <p:nvPr/>
        </p:nvSpPr>
        <p:spPr>
          <a:xfrm>
            <a:off x="9126626" y="4343400"/>
            <a:ext cx="2514600" cy="1508760"/>
          </a:xfrm>
          <a:prstGeom prst="rect">
            <a:avLst/>
          </a:prstGeom>
          <a:solidFill>
            <a:srgbClr val="F3F7FB"/>
          </a:solidFill>
          <a:ln w="9525">
            <a:solidFill>
              <a:srgbClr val="DCE5EE"/>
            </a:solidFill>
          </a:ln>
          <a:effectLst>
            <a:outerShdw blurRad="76200" dist="19050" dir="5400000" algn="t" rotWithShape="0">
              <a:srgbClr val="0B1F3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Marker"/>
          <p:cNvSpPr/>
          <p:nvPr/>
        </p:nvSpPr>
        <p:spPr>
          <a:xfrm>
            <a:off x="9309506" y="4526280"/>
            <a:ext cx="182880" cy="182880"/>
          </a:xfrm>
          <a:prstGeom prst="ellipse">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Workflow step"/>
          <p:cNvSpPr txBox="1"/>
          <p:nvPr/>
        </p:nvSpPr>
        <p:spPr>
          <a:xfrm>
            <a:off x="9327794" y="4846320"/>
            <a:ext cx="2148840" cy="960120"/>
          </a:xfrm>
          <a:prstGeom prst="rect">
            <a:avLst/>
          </a:prstGeom>
          <a:noFill/>
        </p:spPr>
        <p:txBody>
          <a:bodyPr wrap="square" lIns="0" tIns="0" rIns="0" bIns="0" anchor="t">
            <a:spAutoFit/>
          </a:bodyPr>
          <a:lstStyle/>
          <a:p>
            <a:pPr>
              <a:spcAft>
                <a:spcPts val="0"/>
              </a:spcAft>
            </a:pPr>
            <a:r>
              <a:rPr sz="1600" b="0">
                <a:solidFill>
                  <a:srgbClr val="1E293B"/>
                </a:solidFill>
                <a:latin typeface="Calibri"/>
              </a:rPr>
              <a:t>Display the predicted category: Hit, Average, or Flop.</a:t>
            </a:r>
          </a:p>
        </p:txBody>
      </p:sp>
    </p:spTree>
    <p:extLst>
      <p:ext uri="{BB962C8B-B14F-4D97-AF65-F5344CB8AC3E}">
        <p14:creationId xmlns:p14="http://schemas.microsoft.com/office/powerpoint/2010/main" val="20389466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3" name="Network line"/>
          <p:cNvCxnSpPr/>
          <p:nvPr/>
        </p:nvCxnSpPr>
        <p:spPr>
          <a:xfrm flipV="1">
            <a:off x="10388498" y="457200"/>
            <a:ext cx="405994" cy="402336"/>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4" name="Network line"/>
          <p:cNvCxnSpPr/>
          <p:nvPr/>
        </p:nvCxnSpPr>
        <p:spPr>
          <a:xfrm>
            <a:off x="10794492" y="457200"/>
            <a:ext cx="372160" cy="347472"/>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5" name="Network line"/>
          <p:cNvCxnSpPr/>
          <p:nvPr/>
        </p:nvCxnSpPr>
        <p:spPr>
          <a:xfrm flipV="1">
            <a:off x="11166652" y="365760"/>
            <a:ext cx="439827" cy="438912"/>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6" name="Network line"/>
          <p:cNvCxnSpPr/>
          <p:nvPr/>
        </p:nvCxnSpPr>
        <p:spPr>
          <a:xfrm>
            <a:off x="11606479" y="365760"/>
            <a:ext cx="270662" cy="310896"/>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7" name="Network line"/>
          <p:cNvCxnSpPr/>
          <p:nvPr/>
        </p:nvCxnSpPr>
        <p:spPr>
          <a:xfrm flipV="1">
            <a:off x="11166652" y="676656"/>
            <a:ext cx="710489" cy="128016"/>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8" name="Network line"/>
          <p:cNvCxnSpPr/>
          <p:nvPr/>
        </p:nvCxnSpPr>
        <p:spPr>
          <a:xfrm flipH="1">
            <a:off x="11132820" y="804672"/>
            <a:ext cx="33832" cy="283464"/>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9" name="Network line"/>
          <p:cNvCxnSpPr/>
          <p:nvPr/>
        </p:nvCxnSpPr>
        <p:spPr>
          <a:xfrm flipH="1" flipV="1">
            <a:off x="10591495" y="246888"/>
            <a:ext cx="202997" cy="210312"/>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10" name="Network line"/>
          <p:cNvCxnSpPr/>
          <p:nvPr/>
        </p:nvCxnSpPr>
        <p:spPr>
          <a:xfrm flipV="1">
            <a:off x="10388498" y="804672"/>
            <a:ext cx="778154" cy="54864"/>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11" name="Network line"/>
          <p:cNvCxnSpPr/>
          <p:nvPr/>
        </p:nvCxnSpPr>
        <p:spPr>
          <a:xfrm flipH="1">
            <a:off x="11504980" y="676656"/>
            <a:ext cx="372161" cy="347472"/>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12" name="Network line"/>
          <p:cNvCxnSpPr/>
          <p:nvPr/>
        </p:nvCxnSpPr>
        <p:spPr>
          <a:xfrm flipV="1">
            <a:off x="11132820" y="1024128"/>
            <a:ext cx="372160" cy="64008"/>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sp>
        <p:nvSpPr>
          <p:cNvPr id="13" name="Network node"/>
          <p:cNvSpPr/>
          <p:nvPr/>
        </p:nvSpPr>
        <p:spPr>
          <a:xfrm>
            <a:off x="10342778" y="813815"/>
            <a:ext cx="91440" cy="91440"/>
          </a:xfrm>
          <a:prstGeom prst="ellipse">
            <a:avLst/>
          </a:prstGeom>
          <a:solidFill>
            <a:srgbClr val="67D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Network node"/>
          <p:cNvSpPr/>
          <p:nvPr/>
        </p:nvSpPr>
        <p:spPr>
          <a:xfrm>
            <a:off x="10748772" y="411480"/>
            <a:ext cx="91440" cy="91440"/>
          </a:xfrm>
          <a:prstGeom prst="ellipse">
            <a:avLst/>
          </a:prstGeom>
          <a:solidFill>
            <a:srgbClr val="67D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Network node"/>
          <p:cNvSpPr/>
          <p:nvPr/>
        </p:nvSpPr>
        <p:spPr>
          <a:xfrm>
            <a:off x="11102644" y="740664"/>
            <a:ext cx="128016" cy="128016"/>
          </a:xfrm>
          <a:prstGeom prst="ellipse">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Network node"/>
          <p:cNvSpPr/>
          <p:nvPr/>
        </p:nvSpPr>
        <p:spPr>
          <a:xfrm>
            <a:off x="11542471" y="301752"/>
            <a:ext cx="128016" cy="128016"/>
          </a:xfrm>
          <a:prstGeom prst="ellipse">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Network node"/>
          <p:cNvSpPr/>
          <p:nvPr/>
        </p:nvSpPr>
        <p:spPr>
          <a:xfrm>
            <a:off x="11831421" y="630936"/>
            <a:ext cx="91440" cy="91440"/>
          </a:xfrm>
          <a:prstGeom prst="ellipse">
            <a:avLst/>
          </a:prstGeom>
          <a:solidFill>
            <a:srgbClr val="67D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Network node"/>
          <p:cNvSpPr/>
          <p:nvPr/>
        </p:nvSpPr>
        <p:spPr>
          <a:xfrm>
            <a:off x="11087100" y="1042415"/>
            <a:ext cx="91440" cy="91440"/>
          </a:xfrm>
          <a:prstGeom prst="ellipse">
            <a:avLst/>
          </a:prstGeom>
          <a:solidFill>
            <a:srgbClr val="67D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Network node"/>
          <p:cNvSpPr/>
          <p:nvPr/>
        </p:nvSpPr>
        <p:spPr>
          <a:xfrm>
            <a:off x="10545775" y="201168"/>
            <a:ext cx="91440" cy="91440"/>
          </a:xfrm>
          <a:prstGeom prst="ellipse">
            <a:avLst/>
          </a:prstGeom>
          <a:solidFill>
            <a:srgbClr val="67D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Network node"/>
          <p:cNvSpPr/>
          <p:nvPr/>
        </p:nvSpPr>
        <p:spPr>
          <a:xfrm>
            <a:off x="11459260" y="978408"/>
            <a:ext cx="91440" cy="91440"/>
          </a:xfrm>
          <a:prstGeom prst="ellipse">
            <a:avLst/>
          </a:prstGeom>
          <a:solidFill>
            <a:srgbClr val="67D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a:extLst>
              <a:ext uri="{FF2B5EF4-FFF2-40B4-BE49-F238E27FC236}">
                <a16:creationId xmlns:a16="http://schemas.microsoft.com/office/drawing/2014/main" id="{78B905B2-8B1B-D9B1-DAB0-8356419457D9}"/>
              </a:ext>
            </a:extLst>
          </p:cNvPr>
          <p:cNvSpPr>
            <a:spLocks noGrp="1"/>
          </p:cNvSpPr>
          <p:nvPr>
            <p:ph type="title"/>
          </p:nvPr>
        </p:nvSpPr>
        <p:spPr>
          <a:xfrm>
            <a:off x="548640" y="347472"/>
            <a:ext cx="9509760" cy="731520"/>
          </a:xfrm>
        </p:spPr>
        <p:txBody>
          <a:bodyPr wrap="square" lIns="0" tIns="0" rIns="0" bIns="0" anchor="ctr">
            <a:noAutofit/>
          </a:bodyPr>
          <a:lstStyle/>
          <a:p>
            <a:pPr marL="0" indent="0" algn="l">
              <a:buNone/>
            </a:pPr>
            <a:r>
              <a:rPr lang="en-US" sz="3200" b="1" dirty="0">
                <a:solidFill>
                  <a:srgbClr val="0B1F3A"/>
                </a:solidFill>
                <a:latin typeface="Calibri"/>
              </a:rPr>
              <a:t>AI-POWERED MOVIE RESEARCH ASSISTANT</a:t>
            </a:r>
            <a:br>
              <a:rPr lang="en-US" dirty="0"/>
            </a:br>
            <a:endParaRPr lang="en-US" dirty="0"/>
          </a:p>
        </p:txBody>
      </p:sp>
      <p:sp>
        <p:nvSpPr>
          <p:cNvPr id="21" name="Subtitle"/>
          <p:cNvSpPr txBox="1"/>
          <p:nvPr/>
        </p:nvSpPr>
        <p:spPr>
          <a:xfrm>
            <a:off x="548640" y="1188720"/>
            <a:ext cx="11064240" cy="411480"/>
          </a:xfrm>
          <a:prstGeom prst="rect">
            <a:avLst/>
          </a:prstGeom>
          <a:noFill/>
        </p:spPr>
        <p:txBody>
          <a:bodyPr wrap="square" lIns="0" tIns="0" rIns="0" bIns="0" anchor="ctr">
            <a:spAutoFit/>
          </a:bodyPr>
          <a:lstStyle/>
          <a:p>
            <a:pPr>
              <a:spcAft>
                <a:spcPts val="0"/>
              </a:spcAft>
            </a:pPr>
            <a:r>
              <a:rPr sz="1800" b="1">
                <a:solidFill>
                  <a:srgbClr val="0E7490"/>
                </a:solidFill>
                <a:latin typeface="Calibri"/>
              </a:rPr>
              <a:t>An interactive AI assistant for movie research and dataset exploration</a:t>
            </a:r>
          </a:p>
        </p:txBody>
      </p:sp>
      <p:sp>
        <p:nvSpPr>
          <p:cNvPr id="22" name="Capability card"/>
          <p:cNvSpPr/>
          <p:nvPr/>
        </p:nvSpPr>
        <p:spPr>
          <a:xfrm>
            <a:off x="548640" y="1783080"/>
            <a:ext cx="3566160" cy="2788920"/>
          </a:xfrm>
          <a:prstGeom prst="rect">
            <a:avLst/>
          </a:prstGeom>
          <a:solidFill>
            <a:srgbClr val="F3F7FB"/>
          </a:solidFill>
          <a:ln w="9525">
            <a:solidFill>
              <a:srgbClr val="DCE5EE"/>
            </a:solidFill>
          </a:ln>
          <a:effectLst>
            <a:outerShdw blurRad="76200" dist="19050" dir="5400000" algn="t" rotWithShape="0">
              <a:srgbClr val="0B1F3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Capability"/>
          <p:cNvSpPr txBox="1"/>
          <p:nvPr/>
        </p:nvSpPr>
        <p:spPr>
          <a:xfrm>
            <a:off x="822959" y="1920240"/>
            <a:ext cx="3108960" cy="2560320"/>
          </a:xfrm>
          <a:prstGeom prst="rect">
            <a:avLst/>
          </a:prstGeom>
          <a:noFill/>
        </p:spPr>
        <p:txBody>
          <a:bodyPr wrap="square" lIns="0" tIns="0" rIns="0" bIns="0" anchor="t">
            <a:spAutoFit/>
          </a:bodyPr>
          <a:lstStyle/>
          <a:p>
            <a:pPr>
              <a:spcAft>
                <a:spcPts val="1000"/>
              </a:spcAft>
            </a:pPr>
            <a:r>
              <a:rPr sz="1900" b="1">
                <a:solidFill>
                  <a:srgbClr val="0B1F3A"/>
                </a:solidFill>
                <a:latin typeface="Calibri"/>
              </a:rPr>
              <a:t>1. General Movie Assistant</a:t>
            </a:r>
          </a:p>
          <a:p>
            <a:pPr marL="274320" indent="-274320">
              <a:spcAft>
                <a:spcPts val="800"/>
              </a:spcAft>
              <a:buClr>
                <a:srgbClr val="0E7490"/>
              </a:buClr>
              <a:buFont typeface="Arial"/>
              <a:buChar char="•"/>
            </a:pPr>
            <a:r>
              <a:rPr sz="1500" b="0">
                <a:solidFill>
                  <a:srgbClr val="1E293B"/>
                </a:solidFill>
                <a:latin typeface="Calibri"/>
              </a:rPr>
              <a:t>Answers questions about movies, actors, directors, genres, and filmmaking.</a:t>
            </a:r>
          </a:p>
          <a:p>
            <a:pPr marL="274320" indent="-274320">
              <a:spcAft>
                <a:spcPts val="800"/>
              </a:spcAft>
              <a:buClr>
                <a:srgbClr val="0E7490"/>
              </a:buClr>
              <a:buFont typeface="Arial"/>
              <a:buChar char="•"/>
            </a:pPr>
            <a:r>
              <a:rPr sz="1500" b="0">
                <a:solidFill>
                  <a:srgbClr val="1E293B"/>
                </a:solidFill>
                <a:latin typeface="Calibri"/>
              </a:rPr>
              <a:t>Provides conversational assistance powered by the Gemini API.</a:t>
            </a:r>
          </a:p>
        </p:txBody>
      </p:sp>
      <p:sp>
        <p:nvSpPr>
          <p:cNvPr id="24" name="Capability card"/>
          <p:cNvSpPr/>
          <p:nvPr/>
        </p:nvSpPr>
        <p:spPr>
          <a:xfrm>
            <a:off x="4311396" y="1783080"/>
            <a:ext cx="3566160" cy="2788920"/>
          </a:xfrm>
          <a:prstGeom prst="rect">
            <a:avLst/>
          </a:prstGeom>
          <a:solidFill>
            <a:srgbClr val="F3F7FB"/>
          </a:solidFill>
          <a:ln w="9525">
            <a:solidFill>
              <a:srgbClr val="DCE5EE"/>
            </a:solidFill>
          </a:ln>
          <a:effectLst>
            <a:outerShdw blurRad="76200" dist="19050" dir="5400000" algn="t" rotWithShape="0">
              <a:srgbClr val="0B1F3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Capability"/>
          <p:cNvSpPr txBox="1"/>
          <p:nvPr/>
        </p:nvSpPr>
        <p:spPr>
          <a:xfrm>
            <a:off x="4585716" y="1920240"/>
            <a:ext cx="3108960" cy="2560320"/>
          </a:xfrm>
          <a:prstGeom prst="rect">
            <a:avLst/>
          </a:prstGeom>
          <a:noFill/>
        </p:spPr>
        <p:txBody>
          <a:bodyPr wrap="square" lIns="0" tIns="0" rIns="0" bIns="0" anchor="t">
            <a:spAutoFit/>
          </a:bodyPr>
          <a:lstStyle/>
          <a:p>
            <a:pPr>
              <a:spcAft>
                <a:spcPts val="1000"/>
              </a:spcAft>
            </a:pPr>
            <a:r>
              <a:rPr sz="1900" b="1">
                <a:solidFill>
                  <a:srgbClr val="0B1F3A"/>
                </a:solidFill>
                <a:latin typeface="Calibri"/>
              </a:rPr>
              <a:t>2. Dataset Researcher</a:t>
            </a:r>
          </a:p>
          <a:p>
            <a:pPr marL="274320" indent="-274320">
              <a:spcAft>
                <a:spcPts val="800"/>
              </a:spcAft>
              <a:buClr>
                <a:srgbClr val="0E7490"/>
              </a:buClr>
              <a:buFont typeface="Arial"/>
              <a:buChar char="•"/>
            </a:pPr>
            <a:r>
              <a:rPr sz="1500" b="0">
                <a:solidFill>
                  <a:srgbClr val="1E293B"/>
                </a:solidFill>
                <a:latin typeface="Calibri"/>
              </a:rPr>
              <a:t>Answers questions about the project's movie dataset.</a:t>
            </a:r>
          </a:p>
          <a:p>
            <a:pPr marL="274320" indent="-274320">
              <a:spcAft>
                <a:spcPts val="800"/>
              </a:spcAft>
              <a:buClr>
                <a:srgbClr val="0E7490"/>
              </a:buClr>
              <a:buFont typeface="Arial"/>
              <a:buChar char="•"/>
            </a:pPr>
            <a:r>
              <a:rPr sz="1500" b="0">
                <a:solidFill>
                  <a:srgbClr val="1E293B"/>
                </a:solidFill>
                <a:latin typeface="Calibri"/>
              </a:rPr>
              <a:t>Calculates genre-wise IMDb score averages and movie statistics using Python and Pandas.</a:t>
            </a:r>
          </a:p>
          <a:p>
            <a:pPr marL="274320" indent="-274320">
              <a:spcAft>
                <a:spcPts val="800"/>
              </a:spcAft>
              <a:buClr>
                <a:srgbClr val="0E7490"/>
              </a:buClr>
              <a:buFont typeface="Arial"/>
              <a:buChar char="•"/>
            </a:pPr>
            <a:r>
              <a:rPr sz="1500" b="0">
                <a:solidFill>
                  <a:srgbClr val="1E293B"/>
                </a:solidFill>
                <a:latin typeface="Calibri"/>
              </a:rPr>
              <a:t>Presents numerical evidence alongside AI-generated explanations.</a:t>
            </a:r>
          </a:p>
        </p:txBody>
      </p:sp>
      <p:sp>
        <p:nvSpPr>
          <p:cNvPr id="26" name="Capability card"/>
          <p:cNvSpPr/>
          <p:nvPr/>
        </p:nvSpPr>
        <p:spPr>
          <a:xfrm>
            <a:off x="8074152" y="1783080"/>
            <a:ext cx="3566160" cy="2788920"/>
          </a:xfrm>
          <a:prstGeom prst="rect">
            <a:avLst/>
          </a:prstGeom>
          <a:solidFill>
            <a:srgbClr val="F3F7FB"/>
          </a:solidFill>
          <a:ln w="9525">
            <a:solidFill>
              <a:srgbClr val="DCE5EE"/>
            </a:solidFill>
          </a:ln>
          <a:effectLst>
            <a:outerShdw blurRad="76200" dist="19050" dir="5400000" algn="t" rotWithShape="0">
              <a:srgbClr val="0B1F3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Capability"/>
          <p:cNvSpPr txBox="1"/>
          <p:nvPr/>
        </p:nvSpPr>
        <p:spPr>
          <a:xfrm>
            <a:off x="8348472" y="1920240"/>
            <a:ext cx="3108960" cy="2560320"/>
          </a:xfrm>
          <a:prstGeom prst="rect">
            <a:avLst/>
          </a:prstGeom>
          <a:noFill/>
        </p:spPr>
        <p:txBody>
          <a:bodyPr wrap="square" lIns="0" tIns="0" rIns="0" bIns="0" anchor="t">
            <a:spAutoFit/>
          </a:bodyPr>
          <a:lstStyle/>
          <a:p>
            <a:pPr>
              <a:spcAft>
                <a:spcPts val="1000"/>
              </a:spcAft>
            </a:pPr>
            <a:r>
              <a:rPr sz="1900" b="1">
                <a:solidFill>
                  <a:srgbClr val="0B1F3A"/>
                </a:solidFill>
                <a:latin typeface="Calibri"/>
              </a:rPr>
              <a:t>3. AI Prediction Explainer</a:t>
            </a:r>
          </a:p>
          <a:p>
            <a:pPr marL="274320" indent="-274320">
              <a:spcAft>
                <a:spcPts val="800"/>
              </a:spcAft>
              <a:buClr>
                <a:srgbClr val="0E7490"/>
              </a:buClr>
              <a:buFont typeface="Arial"/>
              <a:buChar char="•"/>
            </a:pPr>
            <a:r>
              <a:rPr sz="1500" b="0">
                <a:solidFill>
                  <a:srgbClr val="1E293B"/>
                </a:solidFill>
                <a:latin typeface="Calibri"/>
              </a:rPr>
              <a:t>Explains predictions made by the trained Random Forest model.</a:t>
            </a:r>
          </a:p>
          <a:p>
            <a:pPr marL="274320" indent="-274320">
              <a:spcAft>
                <a:spcPts val="800"/>
              </a:spcAft>
              <a:buClr>
                <a:srgbClr val="0E7490"/>
              </a:buClr>
              <a:buFont typeface="Arial"/>
              <a:buChar char="•"/>
            </a:pPr>
            <a:r>
              <a:rPr sz="1500" b="0">
                <a:solidFill>
                  <a:srgbClr val="1E293B"/>
                </a:solidFill>
                <a:latin typeface="Calibri"/>
              </a:rPr>
              <a:t>Combines model outputs, feature analysis, and historical movie statistics.</a:t>
            </a:r>
          </a:p>
          <a:p>
            <a:pPr marL="274320" indent="-274320">
              <a:spcAft>
                <a:spcPts val="800"/>
              </a:spcAft>
              <a:buClr>
                <a:srgbClr val="0E7490"/>
              </a:buClr>
              <a:buFont typeface="Arial"/>
              <a:buChar char="•"/>
            </a:pPr>
            <a:r>
              <a:rPr sz="1500" b="0">
                <a:solidFill>
                  <a:srgbClr val="1E293B"/>
                </a:solidFill>
                <a:latin typeface="Calibri"/>
              </a:rPr>
              <a:t>Uses Gemini to communicate the results in understandable language.</a:t>
            </a:r>
          </a:p>
        </p:txBody>
      </p:sp>
      <p:sp>
        <p:nvSpPr>
          <p:cNvPr id="28" name="Tech stack card"/>
          <p:cNvSpPr/>
          <p:nvPr/>
        </p:nvSpPr>
        <p:spPr>
          <a:xfrm>
            <a:off x="548640" y="4754880"/>
            <a:ext cx="4937760" cy="1143000"/>
          </a:xfrm>
          <a:prstGeom prst="rect">
            <a:avLst/>
          </a:prstGeom>
          <a:solidFill>
            <a:srgbClr val="0B1F3A"/>
          </a:solidFill>
          <a:ln>
            <a:noFill/>
          </a:ln>
          <a:effectLst>
            <a:outerShdw blurRad="76200" dist="19050" dir="5400000" algn="t" rotWithShape="0">
              <a:srgbClr val="0B1F3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chnology stack"/>
          <p:cNvSpPr txBox="1"/>
          <p:nvPr/>
        </p:nvSpPr>
        <p:spPr>
          <a:xfrm>
            <a:off x="822960" y="4754880"/>
            <a:ext cx="4389120" cy="1143000"/>
          </a:xfrm>
          <a:prstGeom prst="rect">
            <a:avLst/>
          </a:prstGeom>
          <a:noFill/>
        </p:spPr>
        <p:txBody>
          <a:bodyPr wrap="square" lIns="0" tIns="0" rIns="0" bIns="0" anchor="ctr">
            <a:spAutoFit/>
          </a:bodyPr>
          <a:lstStyle/>
          <a:p>
            <a:pPr>
              <a:spcAft>
                <a:spcPts val="0"/>
              </a:spcAft>
            </a:pPr>
            <a:r>
              <a:rPr sz="1500" b="1">
                <a:solidFill>
                  <a:srgbClr val="22D3EE"/>
                </a:solidFill>
                <a:latin typeface="Calibri"/>
              </a:rPr>
              <a:t>Technology Stack:</a:t>
            </a:r>
            <a:r>
              <a:rPr sz="1500" b="0">
                <a:solidFill>
                  <a:srgbClr val="FFFFFF"/>
                </a:solidFill>
                <a:latin typeface="Calibri"/>
              </a:rPr>
              <a:t> Gemini API | Python | Pandas | FastAPI | React</a:t>
            </a:r>
          </a:p>
        </p:txBody>
      </p:sp>
      <p:sp>
        <p:nvSpPr>
          <p:cNvPr id="30" name="Key benefit card"/>
          <p:cNvSpPr/>
          <p:nvPr/>
        </p:nvSpPr>
        <p:spPr>
          <a:xfrm>
            <a:off x="5669280" y="4754880"/>
            <a:ext cx="5971032" cy="1143000"/>
          </a:xfrm>
          <a:prstGeom prst="rect">
            <a:avLst/>
          </a:prstGeom>
          <a:solidFill>
            <a:srgbClr val="F3F7FB"/>
          </a:solidFill>
          <a:ln w="9525">
            <a:solidFill>
              <a:srgbClr val="DCE5EE"/>
            </a:solidFill>
          </a:ln>
          <a:effectLst>
            <a:outerShdw blurRad="76200" dist="19050" dir="5400000" algn="t" rotWithShape="0">
              <a:srgbClr val="0B1F3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Key benefit"/>
          <p:cNvSpPr txBox="1"/>
          <p:nvPr/>
        </p:nvSpPr>
        <p:spPr>
          <a:xfrm>
            <a:off x="5943600" y="4754880"/>
            <a:ext cx="5440680" cy="1143000"/>
          </a:xfrm>
          <a:prstGeom prst="rect">
            <a:avLst/>
          </a:prstGeom>
          <a:noFill/>
        </p:spPr>
        <p:txBody>
          <a:bodyPr wrap="square" lIns="0" tIns="0" rIns="0" bIns="0" anchor="ctr">
            <a:spAutoFit/>
          </a:bodyPr>
          <a:lstStyle/>
          <a:p>
            <a:pPr>
              <a:spcAft>
                <a:spcPts val="0"/>
              </a:spcAft>
            </a:pPr>
            <a:r>
              <a:rPr sz="1500" b="1">
                <a:solidFill>
                  <a:srgbClr val="0E7490"/>
                </a:solidFill>
                <a:latin typeface="Calibri"/>
              </a:rPr>
              <a:t>Key Benefit:</a:t>
            </a:r>
            <a:r>
              <a:rPr sz="1500" b="0">
                <a:solidFill>
                  <a:srgbClr val="1E293B"/>
                </a:solidFill>
                <a:latin typeface="Calibri"/>
              </a:rPr>
              <a:t> Combines machine learning predictions, data-driven evidence, and conversational AI in one movie intelligence platform.</a:t>
            </a:r>
          </a:p>
        </p:txBody>
      </p:sp>
    </p:spTree>
    <p:extLst>
      <p:ext uri="{BB962C8B-B14F-4D97-AF65-F5344CB8AC3E}">
        <p14:creationId xmlns:p14="http://schemas.microsoft.com/office/powerpoint/2010/main" val="24563387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Screenshot frame"/>
          <p:cNvSpPr/>
          <p:nvPr/>
        </p:nvSpPr>
        <p:spPr>
          <a:xfrm>
            <a:off x="1019226" y="411480"/>
            <a:ext cx="10153242" cy="5532120"/>
          </a:xfrm>
          <a:prstGeom prst="rect">
            <a:avLst/>
          </a:prstGeom>
          <a:solidFill>
            <a:srgbClr val="0B1F3A"/>
          </a:solidFill>
          <a:ln>
            <a:noFill/>
          </a:ln>
          <a:effectLst>
            <a:outerShdw blurRad="76200" dist="19050" dir="5400000" algn="t" rotWithShape="0">
              <a:srgbClr val="0B1F3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Content Placeholder 4">
            <a:extLst>
              <a:ext uri="{FF2B5EF4-FFF2-40B4-BE49-F238E27FC236}">
                <a16:creationId xmlns:a16="http://schemas.microsoft.com/office/drawing/2014/main" id="{14275A8D-655E-D3BC-70EC-184C3CBBE241}"/>
              </a:ext>
            </a:extLst>
          </p:cNvPr>
          <p:cNvPicPr>
            <a:picLocks noGrp="1" noChangeAspect="1"/>
          </p:cNvPicPr>
          <p:nvPr>
            <p:ph idx="1"/>
          </p:nvPr>
        </p:nvPicPr>
        <p:blipFill>
          <a:blip r:embed="rId3"/>
          <a:stretch>
            <a:fillRect/>
          </a:stretch>
        </p:blipFill>
        <p:spPr>
          <a:xfrm>
            <a:off x="1128954" y="521208"/>
            <a:ext cx="9933786" cy="5312664"/>
          </a:xfrm>
          <a:prstGeom prst="rect">
            <a:avLst/>
          </a:prstGeom>
        </p:spPr>
      </p:pic>
    </p:spTree>
    <p:extLst>
      <p:ext uri="{BB962C8B-B14F-4D97-AF65-F5344CB8AC3E}">
        <p14:creationId xmlns:p14="http://schemas.microsoft.com/office/powerpoint/2010/main" val="11499702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E320D8A-BBD2-5C1C-2DDE-B48B296ADD89}"/>
            </a:ext>
          </a:extLst>
        </p:cNvPr>
        <p:cNvGrpSpPr/>
        <p:nvPr/>
      </p:nvGrpSpPr>
      <p:grpSpPr>
        <a:xfrm>
          <a:off x="0" y="0"/>
          <a:ext cx="0" cy="0"/>
          <a:chOff x="0" y="0"/>
          <a:chExt cx="0" cy="0"/>
        </a:xfrm>
      </p:grpSpPr>
      <p:cxnSp>
        <p:nvCxnSpPr>
          <p:cNvPr id="5" name="Network line"/>
          <p:cNvCxnSpPr/>
          <p:nvPr/>
        </p:nvCxnSpPr>
        <p:spPr>
          <a:xfrm flipV="1">
            <a:off x="10388498" y="457200"/>
            <a:ext cx="405994" cy="402336"/>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6" name="Network line"/>
          <p:cNvCxnSpPr/>
          <p:nvPr/>
        </p:nvCxnSpPr>
        <p:spPr>
          <a:xfrm>
            <a:off x="10794492" y="457200"/>
            <a:ext cx="372160" cy="347472"/>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7" name="Network line"/>
          <p:cNvCxnSpPr/>
          <p:nvPr/>
        </p:nvCxnSpPr>
        <p:spPr>
          <a:xfrm flipV="1">
            <a:off x="11166652" y="365760"/>
            <a:ext cx="439827" cy="438912"/>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8" name="Network line"/>
          <p:cNvCxnSpPr/>
          <p:nvPr/>
        </p:nvCxnSpPr>
        <p:spPr>
          <a:xfrm>
            <a:off x="11606479" y="365760"/>
            <a:ext cx="270662" cy="310896"/>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9" name="Network line"/>
          <p:cNvCxnSpPr/>
          <p:nvPr/>
        </p:nvCxnSpPr>
        <p:spPr>
          <a:xfrm flipV="1">
            <a:off x="11166652" y="676656"/>
            <a:ext cx="710489" cy="128016"/>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10" name="Network line"/>
          <p:cNvCxnSpPr/>
          <p:nvPr/>
        </p:nvCxnSpPr>
        <p:spPr>
          <a:xfrm flipH="1">
            <a:off x="11132820" y="804672"/>
            <a:ext cx="33832" cy="283464"/>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11" name="Network line"/>
          <p:cNvCxnSpPr/>
          <p:nvPr/>
        </p:nvCxnSpPr>
        <p:spPr>
          <a:xfrm flipH="1" flipV="1">
            <a:off x="10591495" y="246888"/>
            <a:ext cx="202997" cy="210312"/>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12" name="Network line"/>
          <p:cNvCxnSpPr/>
          <p:nvPr/>
        </p:nvCxnSpPr>
        <p:spPr>
          <a:xfrm flipV="1">
            <a:off x="10388498" y="804672"/>
            <a:ext cx="778154" cy="54864"/>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13" name="Network line"/>
          <p:cNvCxnSpPr/>
          <p:nvPr/>
        </p:nvCxnSpPr>
        <p:spPr>
          <a:xfrm flipH="1">
            <a:off x="11504980" y="676656"/>
            <a:ext cx="372161" cy="347472"/>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14" name="Network line"/>
          <p:cNvCxnSpPr/>
          <p:nvPr/>
        </p:nvCxnSpPr>
        <p:spPr>
          <a:xfrm flipV="1">
            <a:off x="11132820" y="1024128"/>
            <a:ext cx="372160" cy="64008"/>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sp>
        <p:nvSpPr>
          <p:cNvPr id="15" name="Network node"/>
          <p:cNvSpPr/>
          <p:nvPr/>
        </p:nvSpPr>
        <p:spPr>
          <a:xfrm>
            <a:off x="10342778" y="813815"/>
            <a:ext cx="91440" cy="91440"/>
          </a:xfrm>
          <a:prstGeom prst="ellipse">
            <a:avLst/>
          </a:prstGeom>
          <a:solidFill>
            <a:srgbClr val="67D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Network node"/>
          <p:cNvSpPr/>
          <p:nvPr/>
        </p:nvSpPr>
        <p:spPr>
          <a:xfrm>
            <a:off x="10748772" y="411480"/>
            <a:ext cx="91440" cy="91440"/>
          </a:xfrm>
          <a:prstGeom prst="ellipse">
            <a:avLst/>
          </a:prstGeom>
          <a:solidFill>
            <a:srgbClr val="67D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Network node"/>
          <p:cNvSpPr/>
          <p:nvPr/>
        </p:nvSpPr>
        <p:spPr>
          <a:xfrm>
            <a:off x="11102644" y="740664"/>
            <a:ext cx="128016" cy="128016"/>
          </a:xfrm>
          <a:prstGeom prst="ellipse">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Network node"/>
          <p:cNvSpPr/>
          <p:nvPr/>
        </p:nvSpPr>
        <p:spPr>
          <a:xfrm>
            <a:off x="11542471" y="301752"/>
            <a:ext cx="128016" cy="128016"/>
          </a:xfrm>
          <a:prstGeom prst="ellipse">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Network node"/>
          <p:cNvSpPr/>
          <p:nvPr/>
        </p:nvSpPr>
        <p:spPr>
          <a:xfrm>
            <a:off x="11831421" y="630936"/>
            <a:ext cx="91440" cy="91440"/>
          </a:xfrm>
          <a:prstGeom prst="ellipse">
            <a:avLst/>
          </a:prstGeom>
          <a:solidFill>
            <a:srgbClr val="67D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Network node"/>
          <p:cNvSpPr/>
          <p:nvPr/>
        </p:nvSpPr>
        <p:spPr>
          <a:xfrm>
            <a:off x="11087100" y="1042415"/>
            <a:ext cx="91440" cy="91440"/>
          </a:xfrm>
          <a:prstGeom prst="ellipse">
            <a:avLst/>
          </a:prstGeom>
          <a:solidFill>
            <a:srgbClr val="67D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Network node"/>
          <p:cNvSpPr/>
          <p:nvPr/>
        </p:nvSpPr>
        <p:spPr>
          <a:xfrm>
            <a:off x="10545775" y="201168"/>
            <a:ext cx="91440" cy="91440"/>
          </a:xfrm>
          <a:prstGeom prst="ellipse">
            <a:avLst/>
          </a:prstGeom>
          <a:solidFill>
            <a:srgbClr val="67D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Network node"/>
          <p:cNvSpPr/>
          <p:nvPr/>
        </p:nvSpPr>
        <p:spPr>
          <a:xfrm>
            <a:off x="11459260" y="978408"/>
            <a:ext cx="91440" cy="91440"/>
          </a:xfrm>
          <a:prstGeom prst="ellipse">
            <a:avLst/>
          </a:prstGeom>
          <a:solidFill>
            <a:srgbClr val="67D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itle 3">
            <a:extLst>
              <a:ext uri="{FF2B5EF4-FFF2-40B4-BE49-F238E27FC236}">
                <a16:creationId xmlns:a16="http://schemas.microsoft.com/office/drawing/2014/main" id="{3B9481E4-8CB8-FEEF-96D1-8C29E928E4BB}"/>
              </a:ext>
            </a:extLst>
          </p:cNvPr>
          <p:cNvSpPr>
            <a:spLocks noGrp="1"/>
          </p:cNvSpPr>
          <p:nvPr>
            <p:ph type="title"/>
          </p:nvPr>
        </p:nvSpPr>
        <p:spPr>
          <a:xfrm>
            <a:off x="548640" y="347472"/>
            <a:ext cx="9509760" cy="731520"/>
          </a:xfrm>
        </p:spPr>
        <p:txBody>
          <a:bodyPr wrap="square" lIns="0" tIns="0" rIns="0" bIns="0" anchor="ctr">
            <a:noAutofit/>
          </a:bodyPr>
          <a:lstStyle/>
          <a:p>
            <a:pPr marL="0" indent="0" algn="l">
              <a:buNone/>
            </a:pPr>
            <a:r>
              <a:rPr lang="en-US" sz="3200" b="1" dirty="0">
                <a:solidFill>
                  <a:srgbClr val="0B1F3A"/>
                </a:solidFill>
                <a:latin typeface="Calibri"/>
              </a:rPr>
              <a:t>Limitations</a:t>
            </a:r>
          </a:p>
        </p:txBody>
      </p:sp>
      <p:sp>
        <p:nvSpPr>
          <p:cNvPr id="23" name="Limitation card"/>
          <p:cNvSpPr/>
          <p:nvPr/>
        </p:nvSpPr>
        <p:spPr>
          <a:xfrm>
            <a:off x="548640" y="1417320"/>
            <a:ext cx="5440680" cy="1280160"/>
          </a:xfrm>
          <a:prstGeom prst="rect">
            <a:avLst/>
          </a:prstGeom>
          <a:solidFill>
            <a:srgbClr val="F3F7FB"/>
          </a:solidFill>
          <a:ln w="9525">
            <a:solidFill>
              <a:srgbClr val="DCE5EE"/>
            </a:solidFill>
          </a:ln>
          <a:effectLst>
            <a:outerShdw blurRad="76200" dist="19050" dir="5400000" algn="t" rotWithShape="0">
              <a:srgbClr val="0B1F3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Marker"/>
          <p:cNvSpPr/>
          <p:nvPr/>
        </p:nvSpPr>
        <p:spPr>
          <a:xfrm>
            <a:off x="786384" y="1965960"/>
            <a:ext cx="182880" cy="182880"/>
          </a:xfrm>
          <a:prstGeom prst="ellipse">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Limitation"/>
          <p:cNvSpPr txBox="1"/>
          <p:nvPr/>
        </p:nvSpPr>
        <p:spPr>
          <a:xfrm>
            <a:off x="1188719" y="1417320"/>
            <a:ext cx="4572000" cy="1280160"/>
          </a:xfrm>
          <a:prstGeom prst="rect">
            <a:avLst/>
          </a:prstGeom>
          <a:noFill/>
        </p:spPr>
        <p:txBody>
          <a:bodyPr wrap="square" lIns="0" tIns="0" rIns="0" bIns="0" anchor="ctr">
            <a:spAutoFit/>
          </a:bodyPr>
          <a:lstStyle/>
          <a:p>
            <a:pPr>
              <a:spcAft>
                <a:spcPts val="0"/>
              </a:spcAft>
            </a:pPr>
            <a:r>
              <a:rPr sz="1600" b="1">
                <a:solidFill>
                  <a:srgbClr val="0E7490"/>
                </a:solidFill>
                <a:latin typeface="Calibri"/>
              </a:rPr>
              <a:t>Imbalanced Dataset:</a:t>
            </a:r>
            <a:r>
              <a:rPr sz="1600" b="0">
                <a:solidFill>
                  <a:srgbClr val="1E293B"/>
                </a:solidFill>
                <a:latin typeface="Calibri"/>
              </a:rPr>
              <a:t> The number of Flop movies is significantly lower than Hit and Average movies.</a:t>
            </a:r>
          </a:p>
        </p:txBody>
      </p:sp>
      <p:sp>
        <p:nvSpPr>
          <p:cNvPr id="26" name="Limitation card"/>
          <p:cNvSpPr/>
          <p:nvPr/>
        </p:nvSpPr>
        <p:spPr>
          <a:xfrm>
            <a:off x="6199631" y="1417320"/>
            <a:ext cx="5440680" cy="1280160"/>
          </a:xfrm>
          <a:prstGeom prst="rect">
            <a:avLst/>
          </a:prstGeom>
          <a:solidFill>
            <a:srgbClr val="F3F7FB"/>
          </a:solidFill>
          <a:ln w="9525">
            <a:solidFill>
              <a:srgbClr val="DCE5EE"/>
            </a:solidFill>
          </a:ln>
          <a:effectLst>
            <a:outerShdw blurRad="76200" dist="19050" dir="5400000" algn="t" rotWithShape="0">
              <a:srgbClr val="0B1F3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Marker"/>
          <p:cNvSpPr/>
          <p:nvPr/>
        </p:nvSpPr>
        <p:spPr>
          <a:xfrm>
            <a:off x="6437376" y="1965960"/>
            <a:ext cx="182880" cy="182880"/>
          </a:xfrm>
          <a:prstGeom prst="ellipse">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Limitation"/>
          <p:cNvSpPr txBox="1"/>
          <p:nvPr/>
        </p:nvSpPr>
        <p:spPr>
          <a:xfrm>
            <a:off x="6839712" y="1417320"/>
            <a:ext cx="4572000" cy="1280160"/>
          </a:xfrm>
          <a:prstGeom prst="rect">
            <a:avLst/>
          </a:prstGeom>
          <a:noFill/>
        </p:spPr>
        <p:txBody>
          <a:bodyPr wrap="square" lIns="0" tIns="0" rIns="0" bIns="0" anchor="ctr">
            <a:spAutoFit/>
          </a:bodyPr>
          <a:lstStyle/>
          <a:p>
            <a:pPr>
              <a:spcAft>
                <a:spcPts val="0"/>
              </a:spcAft>
            </a:pPr>
            <a:r>
              <a:rPr sz="1600" b="1">
                <a:solidFill>
                  <a:srgbClr val="0E7490"/>
                </a:solidFill>
                <a:latin typeface="Calibri"/>
              </a:rPr>
              <a:t>Prediction Performance:</a:t>
            </a:r>
            <a:r>
              <a:rPr sz="1600" b="0">
                <a:solidFill>
                  <a:srgbClr val="1E293B"/>
                </a:solidFill>
                <a:latin typeface="Calibri"/>
              </a:rPr>
              <a:t> The model may not predict all three categories equally well.</a:t>
            </a:r>
          </a:p>
        </p:txBody>
      </p:sp>
      <p:sp>
        <p:nvSpPr>
          <p:cNvPr id="29" name="Limitation card"/>
          <p:cNvSpPr/>
          <p:nvPr/>
        </p:nvSpPr>
        <p:spPr>
          <a:xfrm>
            <a:off x="548640" y="2880360"/>
            <a:ext cx="5440680" cy="1280160"/>
          </a:xfrm>
          <a:prstGeom prst="rect">
            <a:avLst/>
          </a:prstGeom>
          <a:solidFill>
            <a:srgbClr val="F3F7FB"/>
          </a:solidFill>
          <a:ln w="9525">
            <a:solidFill>
              <a:srgbClr val="DCE5EE"/>
            </a:solidFill>
          </a:ln>
          <a:effectLst>
            <a:outerShdw blurRad="76200" dist="19050" dir="5400000" algn="t" rotWithShape="0">
              <a:srgbClr val="0B1F3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Marker"/>
          <p:cNvSpPr/>
          <p:nvPr/>
        </p:nvSpPr>
        <p:spPr>
          <a:xfrm>
            <a:off x="786384" y="3429000"/>
            <a:ext cx="182880" cy="182880"/>
          </a:xfrm>
          <a:prstGeom prst="ellipse">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Limitation"/>
          <p:cNvSpPr txBox="1"/>
          <p:nvPr/>
        </p:nvSpPr>
        <p:spPr>
          <a:xfrm>
            <a:off x="1188719" y="2880360"/>
            <a:ext cx="4572000" cy="1280160"/>
          </a:xfrm>
          <a:prstGeom prst="rect">
            <a:avLst/>
          </a:prstGeom>
          <a:noFill/>
        </p:spPr>
        <p:txBody>
          <a:bodyPr wrap="square" lIns="0" tIns="0" rIns="0" bIns="0" anchor="ctr">
            <a:spAutoFit/>
          </a:bodyPr>
          <a:lstStyle/>
          <a:p>
            <a:pPr>
              <a:spcAft>
                <a:spcPts val="0"/>
              </a:spcAft>
            </a:pPr>
            <a:r>
              <a:rPr sz="1600" b="1">
                <a:solidFill>
                  <a:srgbClr val="0E7490"/>
                </a:solidFill>
                <a:latin typeface="Calibri"/>
              </a:rPr>
              <a:t>Limited Features:</a:t>
            </a:r>
            <a:r>
              <a:rPr sz="1600" b="0">
                <a:solidFill>
                  <a:srgbClr val="1E293B"/>
                </a:solidFill>
                <a:latin typeface="Calibri"/>
              </a:rPr>
              <a:t> Predictions depend on the available movie metadata.</a:t>
            </a:r>
          </a:p>
        </p:txBody>
      </p:sp>
      <p:sp>
        <p:nvSpPr>
          <p:cNvPr id="32" name="Limitation card"/>
          <p:cNvSpPr/>
          <p:nvPr/>
        </p:nvSpPr>
        <p:spPr>
          <a:xfrm>
            <a:off x="6199631" y="2880360"/>
            <a:ext cx="5440680" cy="1280160"/>
          </a:xfrm>
          <a:prstGeom prst="rect">
            <a:avLst/>
          </a:prstGeom>
          <a:solidFill>
            <a:srgbClr val="F3F7FB"/>
          </a:solidFill>
          <a:ln w="9525">
            <a:solidFill>
              <a:srgbClr val="DCE5EE"/>
            </a:solidFill>
          </a:ln>
          <a:effectLst>
            <a:outerShdw blurRad="76200" dist="19050" dir="5400000" algn="t" rotWithShape="0">
              <a:srgbClr val="0B1F3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Marker"/>
          <p:cNvSpPr/>
          <p:nvPr/>
        </p:nvSpPr>
        <p:spPr>
          <a:xfrm>
            <a:off x="6437376" y="3429000"/>
            <a:ext cx="182880" cy="182880"/>
          </a:xfrm>
          <a:prstGeom prst="ellipse">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Limitation"/>
          <p:cNvSpPr txBox="1"/>
          <p:nvPr/>
        </p:nvSpPr>
        <p:spPr>
          <a:xfrm>
            <a:off x="6839712" y="2880360"/>
            <a:ext cx="4572000" cy="1280160"/>
          </a:xfrm>
          <a:prstGeom prst="rect">
            <a:avLst/>
          </a:prstGeom>
          <a:noFill/>
        </p:spPr>
        <p:txBody>
          <a:bodyPr wrap="square" lIns="0" tIns="0" rIns="0" bIns="0" anchor="ctr">
            <a:spAutoFit/>
          </a:bodyPr>
          <a:lstStyle/>
          <a:p>
            <a:pPr>
              <a:spcAft>
                <a:spcPts val="0"/>
              </a:spcAft>
            </a:pPr>
            <a:r>
              <a:rPr sz="1600" b="1">
                <a:solidFill>
                  <a:srgbClr val="0E7490"/>
                </a:solidFill>
                <a:latin typeface="Calibri"/>
              </a:rPr>
              <a:t>IMDb-Based Classification:</a:t>
            </a:r>
            <a:r>
              <a:rPr sz="1600" b="0">
                <a:solidFill>
                  <a:srgbClr val="1E293B"/>
                </a:solidFill>
                <a:latin typeface="Calibri"/>
              </a:rPr>
              <a:t> The categories represent IMDb ratings, not actual box-office success.</a:t>
            </a:r>
          </a:p>
        </p:txBody>
      </p:sp>
      <p:sp>
        <p:nvSpPr>
          <p:cNvPr id="35" name="Limitation card"/>
          <p:cNvSpPr/>
          <p:nvPr/>
        </p:nvSpPr>
        <p:spPr>
          <a:xfrm>
            <a:off x="548640" y="4343400"/>
            <a:ext cx="5440680" cy="1280160"/>
          </a:xfrm>
          <a:prstGeom prst="rect">
            <a:avLst/>
          </a:prstGeom>
          <a:solidFill>
            <a:srgbClr val="F3F7FB"/>
          </a:solidFill>
          <a:ln w="9525">
            <a:solidFill>
              <a:srgbClr val="DCE5EE"/>
            </a:solidFill>
          </a:ln>
          <a:effectLst>
            <a:outerShdw blurRad="76200" dist="19050" dir="5400000" algn="t" rotWithShape="0">
              <a:srgbClr val="0B1F3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Marker"/>
          <p:cNvSpPr/>
          <p:nvPr/>
        </p:nvSpPr>
        <p:spPr>
          <a:xfrm>
            <a:off x="786384" y="4892040"/>
            <a:ext cx="182880" cy="182880"/>
          </a:xfrm>
          <a:prstGeom prst="ellipse">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Limitation"/>
          <p:cNvSpPr txBox="1"/>
          <p:nvPr/>
        </p:nvSpPr>
        <p:spPr>
          <a:xfrm>
            <a:off x="1188719" y="4343400"/>
            <a:ext cx="4572000" cy="1280160"/>
          </a:xfrm>
          <a:prstGeom prst="rect">
            <a:avLst/>
          </a:prstGeom>
          <a:noFill/>
        </p:spPr>
        <p:txBody>
          <a:bodyPr wrap="square" lIns="0" tIns="0" rIns="0" bIns="0" anchor="ctr">
            <a:spAutoFit/>
          </a:bodyPr>
          <a:lstStyle/>
          <a:p>
            <a:pPr>
              <a:spcAft>
                <a:spcPts val="0"/>
              </a:spcAft>
            </a:pPr>
            <a:r>
              <a:rPr sz="1600" b="1">
                <a:solidFill>
                  <a:srgbClr val="0E7490"/>
                </a:solidFill>
                <a:latin typeface="Calibri"/>
              </a:rPr>
              <a:t>Data Quality:</a:t>
            </a:r>
            <a:r>
              <a:rPr sz="1600" b="0">
                <a:solidFill>
                  <a:srgbClr val="1E293B"/>
                </a:solidFill>
                <a:latin typeface="Calibri"/>
              </a:rPr>
              <a:t> Missing values and inconsistencies in the dataset may affect prediction performance.</a:t>
            </a:r>
          </a:p>
        </p:txBody>
      </p:sp>
      <p:sp>
        <p:nvSpPr>
          <p:cNvPr id="38" name="Limitation card"/>
          <p:cNvSpPr/>
          <p:nvPr/>
        </p:nvSpPr>
        <p:spPr>
          <a:xfrm>
            <a:off x="6199631" y="4343400"/>
            <a:ext cx="5440680" cy="1280160"/>
          </a:xfrm>
          <a:prstGeom prst="rect">
            <a:avLst/>
          </a:prstGeom>
          <a:solidFill>
            <a:srgbClr val="F3F7FB"/>
          </a:solidFill>
          <a:ln w="9525">
            <a:solidFill>
              <a:srgbClr val="DCE5EE"/>
            </a:solidFill>
          </a:ln>
          <a:effectLst>
            <a:outerShdw blurRad="76200" dist="19050" dir="5400000" algn="t" rotWithShape="0">
              <a:srgbClr val="0B1F3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Marker"/>
          <p:cNvSpPr/>
          <p:nvPr/>
        </p:nvSpPr>
        <p:spPr>
          <a:xfrm>
            <a:off x="6437376" y="4892040"/>
            <a:ext cx="182880" cy="182880"/>
          </a:xfrm>
          <a:prstGeom prst="ellipse">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Limitation"/>
          <p:cNvSpPr txBox="1"/>
          <p:nvPr/>
        </p:nvSpPr>
        <p:spPr>
          <a:xfrm>
            <a:off x="6839712" y="4343400"/>
            <a:ext cx="4572000" cy="1280160"/>
          </a:xfrm>
          <a:prstGeom prst="rect">
            <a:avLst/>
          </a:prstGeom>
          <a:noFill/>
        </p:spPr>
        <p:txBody>
          <a:bodyPr wrap="square" lIns="0" tIns="0" rIns="0" bIns="0" anchor="ctr">
            <a:spAutoFit/>
          </a:bodyPr>
          <a:lstStyle/>
          <a:p>
            <a:pPr>
              <a:spcAft>
                <a:spcPts val="0"/>
              </a:spcAft>
            </a:pPr>
            <a:r>
              <a:rPr sz="1600" b="1">
                <a:solidFill>
                  <a:srgbClr val="0E7490"/>
                </a:solidFill>
                <a:latin typeface="Calibri"/>
              </a:rPr>
              <a:t>Generalization:</a:t>
            </a:r>
            <a:r>
              <a:rPr sz="1600" b="0">
                <a:solidFill>
                  <a:srgbClr val="1E293B"/>
                </a:solidFill>
                <a:latin typeface="Calibri"/>
              </a:rPr>
              <a:t> Performance on new or unseen movies may differ from the results obtained during testing.</a:t>
            </a:r>
          </a:p>
        </p:txBody>
      </p:sp>
    </p:spTree>
    <p:extLst>
      <p:ext uri="{BB962C8B-B14F-4D97-AF65-F5344CB8AC3E}">
        <p14:creationId xmlns:p14="http://schemas.microsoft.com/office/powerpoint/2010/main" val="10840003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EC02715-4DD7-1C29-1561-AD89EA49DB5E}"/>
            </a:ext>
          </a:extLst>
        </p:cNvPr>
        <p:cNvGrpSpPr/>
        <p:nvPr/>
      </p:nvGrpSpPr>
      <p:grpSpPr>
        <a:xfrm>
          <a:off x="0" y="0"/>
          <a:ext cx="0" cy="0"/>
          <a:chOff x="0" y="0"/>
          <a:chExt cx="0" cy="0"/>
        </a:xfrm>
      </p:grpSpPr>
      <p:cxnSp>
        <p:nvCxnSpPr>
          <p:cNvPr id="5" name="Network line"/>
          <p:cNvCxnSpPr/>
          <p:nvPr/>
        </p:nvCxnSpPr>
        <p:spPr>
          <a:xfrm flipV="1">
            <a:off x="10388498" y="457200"/>
            <a:ext cx="405994" cy="402336"/>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6" name="Network line"/>
          <p:cNvCxnSpPr/>
          <p:nvPr/>
        </p:nvCxnSpPr>
        <p:spPr>
          <a:xfrm>
            <a:off x="10794492" y="457200"/>
            <a:ext cx="372160" cy="347472"/>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7" name="Network line"/>
          <p:cNvCxnSpPr/>
          <p:nvPr/>
        </p:nvCxnSpPr>
        <p:spPr>
          <a:xfrm flipV="1">
            <a:off x="11166652" y="365760"/>
            <a:ext cx="439827" cy="438912"/>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8" name="Network line"/>
          <p:cNvCxnSpPr/>
          <p:nvPr/>
        </p:nvCxnSpPr>
        <p:spPr>
          <a:xfrm>
            <a:off x="11606479" y="365760"/>
            <a:ext cx="270662" cy="310896"/>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9" name="Network line"/>
          <p:cNvCxnSpPr/>
          <p:nvPr/>
        </p:nvCxnSpPr>
        <p:spPr>
          <a:xfrm flipV="1">
            <a:off x="11166652" y="676656"/>
            <a:ext cx="710489" cy="128016"/>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10" name="Network line"/>
          <p:cNvCxnSpPr/>
          <p:nvPr/>
        </p:nvCxnSpPr>
        <p:spPr>
          <a:xfrm flipH="1">
            <a:off x="11132820" y="804672"/>
            <a:ext cx="33832" cy="283464"/>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11" name="Network line"/>
          <p:cNvCxnSpPr/>
          <p:nvPr/>
        </p:nvCxnSpPr>
        <p:spPr>
          <a:xfrm flipH="1" flipV="1">
            <a:off x="10591495" y="246888"/>
            <a:ext cx="202997" cy="210312"/>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12" name="Network line"/>
          <p:cNvCxnSpPr/>
          <p:nvPr/>
        </p:nvCxnSpPr>
        <p:spPr>
          <a:xfrm flipV="1">
            <a:off x="10388498" y="804672"/>
            <a:ext cx="778154" cy="54864"/>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13" name="Network line"/>
          <p:cNvCxnSpPr/>
          <p:nvPr/>
        </p:nvCxnSpPr>
        <p:spPr>
          <a:xfrm flipH="1">
            <a:off x="11504980" y="676656"/>
            <a:ext cx="372161" cy="347472"/>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14" name="Network line"/>
          <p:cNvCxnSpPr/>
          <p:nvPr/>
        </p:nvCxnSpPr>
        <p:spPr>
          <a:xfrm flipV="1">
            <a:off x="11132820" y="1024128"/>
            <a:ext cx="372160" cy="64008"/>
          </a:xfrm>
          <a:prstGeom prst="line">
            <a:avLst/>
          </a:prstGeom>
          <a:ln w="12700">
            <a:solidFill>
              <a:srgbClr val="A9DCE9"/>
            </a:solidFill>
          </a:ln>
        </p:spPr>
        <p:style>
          <a:lnRef idx="2">
            <a:schemeClr val="accent1"/>
          </a:lnRef>
          <a:fillRef idx="0">
            <a:schemeClr val="accent1"/>
          </a:fillRef>
          <a:effectRef idx="1">
            <a:schemeClr val="accent1"/>
          </a:effectRef>
          <a:fontRef idx="minor">
            <a:schemeClr val="tx1"/>
          </a:fontRef>
        </p:style>
      </p:cxnSp>
      <p:sp>
        <p:nvSpPr>
          <p:cNvPr id="15" name="Network node"/>
          <p:cNvSpPr/>
          <p:nvPr/>
        </p:nvSpPr>
        <p:spPr>
          <a:xfrm>
            <a:off x="10342778" y="813815"/>
            <a:ext cx="91440" cy="91440"/>
          </a:xfrm>
          <a:prstGeom prst="ellipse">
            <a:avLst/>
          </a:prstGeom>
          <a:solidFill>
            <a:srgbClr val="67D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Network node"/>
          <p:cNvSpPr/>
          <p:nvPr/>
        </p:nvSpPr>
        <p:spPr>
          <a:xfrm>
            <a:off x="10748772" y="411480"/>
            <a:ext cx="91440" cy="91440"/>
          </a:xfrm>
          <a:prstGeom prst="ellipse">
            <a:avLst/>
          </a:prstGeom>
          <a:solidFill>
            <a:srgbClr val="67D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Network node"/>
          <p:cNvSpPr/>
          <p:nvPr/>
        </p:nvSpPr>
        <p:spPr>
          <a:xfrm>
            <a:off x="11102644" y="740664"/>
            <a:ext cx="128016" cy="128016"/>
          </a:xfrm>
          <a:prstGeom prst="ellipse">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Network node"/>
          <p:cNvSpPr/>
          <p:nvPr/>
        </p:nvSpPr>
        <p:spPr>
          <a:xfrm>
            <a:off x="11542471" y="301752"/>
            <a:ext cx="128016" cy="128016"/>
          </a:xfrm>
          <a:prstGeom prst="ellipse">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Network node"/>
          <p:cNvSpPr/>
          <p:nvPr/>
        </p:nvSpPr>
        <p:spPr>
          <a:xfrm>
            <a:off x="11831421" y="630936"/>
            <a:ext cx="91440" cy="91440"/>
          </a:xfrm>
          <a:prstGeom prst="ellipse">
            <a:avLst/>
          </a:prstGeom>
          <a:solidFill>
            <a:srgbClr val="67D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Network node"/>
          <p:cNvSpPr/>
          <p:nvPr/>
        </p:nvSpPr>
        <p:spPr>
          <a:xfrm>
            <a:off x="11087100" y="1042415"/>
            <a:ext cx="91440" cy="91440"/>
          </a:xfrm>
          <a:prstGeom prst="ellipse">
            <a:avLst/>
          </a:prstGeom>
          <a:solidFill>
            <a:srgbClr val="67D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Network node"/>
          <p:cNvSpPr/>
          <p:nvPr/>
        </p:nvSpPr>
        <p:spPr>
          <a:xfrm>
            <a:off x="10545775" y="201168"/>
            <a:ext cx="91440" cy="91440"/>
          </a:xfrm>
          <a:prstGeom prst="ellipse">
            <a:avLst/>
          </a:prstGeom>
          <a:solidFill>
            <a:srgbClr val="67D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Network node"/>
          <p:cNvSpPr/>
          <p:nvPr/>
        </p:nvSpPr>
        <p:spPr>
          <a:xfrm>
            <a:off x="11459260" y="978408"/>
            <a:ext cx="91440" cy="91440"/>
          </a:xfrm>
          <a:prstGeom prst="ellipse">
            <a:avLst/>
          </a:prstGeom>
          <a:solidFill>
            <a:srgbClr val="67D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itle 3">
            <a:extLst>
              <a:ext uri="{FF2B5EF4-FFF2-40B4-BE49-F238E27FC236}">
                <a16:creationId xmlns:a16="http://schemas.microsoft.com/office/drawing/2014/main" id="{BFE67E9A-48B1-5823-FCAC-24F627C66139}"/>
              </a:ext>
            </a:extLst>
          </p:cNvPr>
          <p:cNvSpPr>
            <a:spLocks noGrp="1"/>
          </p:cNvSpPr>
          <p:nvPr>
            <p:ph type="title"/>
          </p:nvPr>
        </p:nvSpPr>
        <p:spPr>
          <a:xfrm>
            <a:off x="548640" y="347472"/>
            <a:ext cx="9509760" cy="731520"/>
          </a:xfrm>
        </p:spPr>
        <p:txBody>
          <a:bodyPr wrap="square" lIns="0" tIns="0" rIns="0" bIns="0" anchor="ctr">
            <a:noAutofit/>
          </a:bodyPr>
          <a:lstStyle/>
          <a:p>
            <a:pPr marL="0" indent="0" algn="l">
              <a:buNone/>
            </a:pPr>
            <a:r>
              <a:rPr lang="en-US" sz="3200" b="1" dirty="0">
                <a:solidFill>
                  <a:srgbClr val="0B1F3A"/>
                </a:solidFill>
                <a:latin typeface="Calibri"/>
              </a:rPr>
              <a:t>Conclusion</a:t>
            </a:r>
          </a:p>
        </p:txBody>
      </p:sp>
      <p:sp>
        <p:nvSpPr>
          <p:cNvPr id="23" name="Conclusion card"/>
          <p:cNvSpPr/>
          <p:nvPr/>
        </p:nvSpPr>
        <p:spPr>
          <a:xfrm>
            <a:off x="548640" y="1463040"/>
            <a:ext cx="5440680" cy="4206240"/>
          </a:xfrm>
          <a:prstGeom prst="rect">
            <a:avLst/>
          </a:prstGeom>
          <a:solidFill>
            <a:srgbClr val="F3F7FB"/>
          </a:solidFill>
          <a:ln w="9525">
            <a:solidFill>
              <a:srgbClr val="DCE5EE"/>
            </a:solidFill>
          </a:ln>
          <a:effectLst>
            <a:outerShdw blurRad="76200" dist="19050" dir="5400000" algn="t" rotWithShape="0">
              <a:srgbClr val="0B1F3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Conclusion points"/>
          <p:cNvSpPr txBox="1"/>
          <p:nvPr/>
        </p:nvSpPr>
        <p:spPr>
          <a:xfrm>
            <a:off x="868680" y="1463040"/>
            <a:ext cx="4846320" cy="4206240"/>
          </a:xfrm>
          <a:prstGeom prst="rect">
            <a:avLst/>
          </a:prstGeom>
          <a:noFill/>
        </p:spPr>
        <p:txBody>
          <a:bodyPr wrap="square" lIns="0" tIns="0" rIns="0" bIns="0" anchor="ctr">
            <a:spAutoFit/>
          </a:bodyPr>
          <a:lstStyle/>
          <a:p>
            <a:pPr marL="274320" indent="-274320">
              <a:spcAft>
                <a:spcPts val="1400"/>
              </a:spcAft>
              <a:buClr>
                <a:srgbClr val="0E7490"/>
              </a:buClr>
              <a:buFont typeface="Arial"/>
              <a:buChar char="•"/>
            </a:pPr>
            <a:r>
              <a:rPr sz="2000" b="0">
                <a:solidFill>
                  <a:srgbClr val="1E293B"/>
                </a:solidFill>
                <a:latin typeface="Calibri"/>
              </a:rPr>
              <a:t>Performed exploratory data analysis using Power BI.</a:t>
            </a:r>
          </a:p>
          <a:p>
            <a:pPr marL="274320" indent="-274320">
              <a:spcAft>
                <a:spcPts val="1400"/>
              </a:spcAft>
              <a:buClr>
                <a:srgbClr val="0E7490"/>
              </a:buClr>
              <a:buFont typeface="Arial"/>
              <a:buChar char="•"/>
            </a:pPr>
            <a:r>
              <a:rPr sz="2000" b="0">
                <a:solidFill>
                  <a:srgbClr val="1E293B"/>
                </a:solidFill>
                <a:latin typeface="Calibri"/>
              </a:rPr>
              <a:t>Compared five machine learning algorithms.</a:t>
            </a:r>
          </a:p>
          <a:p>
            <a:pPr marL="274320" indent="-274320">
              <a:spcAft>
                <a:spcPts val="1400"/>
              </a:spcAft>
              <a:buClr>
                <a:srgbClr val="0E7490"/>
              </a:buClr>
              <a:buFont typeface="Arial"/>
              <a:buChar char="•"/>
            </a:pPr>
            <a:r>
              <a:rPr sz="2000" b="0">
                <a:solidFill>
                  <a:srgbClr val="1E293B"/>
                </a:solidFill>
                <a:latin typeface="Calibri"/>
              </a:rPr>
              <a:t>Selected Random Forest for the final implementation.</a:t>
            </a:r>
          </a:p>
          <a:p>
            <a:pPr marL="274320" indent="-274320">
              <a:spcAft>
                <a:spcPts val="1400"/>
              </a:spcAft>
              <a:buClr>
                <a:srgbClr val="0E7490"/>
              </a:buClr>
              <a:buFont typeface="Arial"/>
              <a:buChar char="•"/>
            </a:pPr>
            <a:r>
              <a:rPr sz="2000" b="0">
                <a:solidFill>
                  <a:srgbClr val="1E293B"/>
                </a:solidFill>
                <a:latin typeface="Calibri"/>
              </a:rPr>
              <a:t>Achieved 74.6% accuracy in the model comparison.</a:t>
            </a:r>
          </a:p>
        </p:txBody>
      </p:sp>
      <p:sp>
        <p:nvSpPr>
          <p:cNvPr id="25" name="Future works card"/>
          <p:cNvSpPr/>
          <p:nvPr/>
        </p:nvSpPr>
        <p:spPr>
          <a:xfrm>
            <a:off x="6199632" y="1463040"/>
            <a:ext cx="5440680" cy="4206240"/>
          </a:xfrm>
          <a:prstGeom prst="rect">
            <a:avLst/>
          </a:prstGeom>
          <a:solidFill>
            <a:srgbClr val="0B1F3A"/>
          </a:solidFill>
          <a:ln>
            <a:noFill/>
          </a:ln>
          <a:effectLst>
            <a:outerShdw blurRad="76200" dist="19050" dir="5400000" algn="t" rotWithShape="0">
              <a:srgbClr val="0B1F3A">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Future works"/>
          <p:cNvSpPr txBox="1"/>
          <p:nvPr/>
        </p:nvSpPr>
        <p:spPr>
          <a:xfrm>
            <a:off x="6519672" y="1463040"/>
            <a:ext cx="4846320" cy="4206240"/>
          </a:xfrm>
          <a:prstGeom prst="rect">
            <a:avLst/>
          </a:prstGeom>
          <a:noFill/>
        </p:spPr>
        <p:txBody>
          <a:bodyPr wrap="square" lIns="0" tIns="0" rIns="0" bIns="0" anchor="ctr">
            <a:spAutoFit/>
          </a:bodyPr>
          <a:lstStyle/>
          <a:p>
            <a:pPr>
              <a:spcAft>
                <a:spcPts val="1400"/>
              </a:spcAft>
            </a:pPr>
            <a:r>
              <a:rPr sz="2600" b="1">
                <a:solidFill>
                  <a:srgbClr val="22D3EE"/>
                </a:solidFill>
                <a:latin typeface="Calibri"/>
              </a:rPr>
              <a:t>Future Works</a:t>
            </a:r>
          </a:p>
          <a:p>
            <a:pPr marL="274320" indent="-274320">
              <a:spcAft>
                <a:spcPts val="1400"/>
              </a:spcAft>
              <a:buClr>
                <a:srgbClr val="22D3EE"/>
              </a:buClr>
              <a:buFont typeface="Arial"/>
              <a:buChar char="•"/>
            </a:pPr>
            <a:r>
              <a:rPr sz="2000" b="0">
                <a:solidFill>
                  <a:srgbClr val="FFFFFF"/>
                </a:solidFill>
                <a:latin typeface="Calibri"/>
              </a:rPr>
              <a:t>Improve prediction of Flop movies.</a:t>
            </a:r>
          </a:p>
          <a:p>
            <a:pPr marL="274320" indent="-274320">
              <a:spcAft>
                <a:spcPts val="1400"/>
              </a:spcAft>
              <a:buClr>
                <a:srgbClr val="22D3EE"/>
              </a:buClr>
              <a:buFont typeface="Arial"/>
              <a:buChar char="•"/>
            </a:pPr>
            <a:r>
              <a:rPr sz="2000" b="0">
                <a:solidFill>
                  <a:srgbClr val="FFFFFF"/>
                </a:solidFill>
                <a:latin typeface="Calibri"/>
              </a:rPr>
              <a:t>Address class imbalance.</a:t>
            </a:r>
          </a:p>
          <a:p>
            <a:pPr marL="274320" indent="-274320">
              <a:spcAft>
                <a:spcPts val="1400"/>
              </a:spcAft>
              <a:buClr>
                <a:srgbClr val="22D3EE"/>
              </a:buClr>
              <a:buFont typeface="Arial"/>
              <a:buChar char="•"/>
            </a:pPr>
            <a:r>
              <a:rPr sz="2000" b="0">
                <a:solidFill>
                  <a:srgbClr val="FFFFFF"/>
                </a:solidFill>
                <a:latin typeface="Calibri"/>
              </a:rPr>
              <a:t>Explore feature engineering and model optimization.</a:t>
            </a:r>
          </a:p>
          <a:p>
            <a:pPr marL="274320" indent="-274320">
              <a:spcAft>
                <a:spcPts val="1400"/>
              </a:spcAft>
              <a:buClr>
                <a:srgbClr val="22D3EE"/>
              </a:buClr>
              <a:buFont typeface="Arial"/>
              <a:buChar char="•"/>
            </a:pPr>
            <a:r>
              <a:rPr sz="2000" b="0">
                <a:solidFill>
                  <a:srgbClr val="FFFFFF"/>
                </a:solidFill>
                <a:latin typeface="Calibri"/>
              </a:rPr>
              <a:t>Complete and test the web application.</a:t>
            </a:r>
          </a:p>
        </p:txBody>
      </p:sp>
    </p:spTree>
    <p:extLst>
      <p:ext uri="{BB962C8B-B14F-4D97-AF65-F5344CB8AC3E}">
        <p14:creationId xmlns:p14="http://schemas.microsoft.com/office/powerpoint/2010/main" val="5251160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5" name="Network line"/>
          <p:cNvCxnSpPr/>
          <p:nvPr/>
        </p:nvCxnSpPr>
        <p:spPr>
          <a:xfrm flipV="1">
            <a:off x="6971385" y="2234793"/>
            <a:ext cx="1185063" cy="1931213"/>
          </a:xfrm>
          <a:prstGeom prst="line">
            <a:avLst/>
          </a:prstGeom>
          <a:ln w="15875">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6" name="Network line"/>
          <p:cNvCxnSpPr/>
          <p:nvPr/>
        </p:nvCxnSpPr>
        <p:spPr>
          <a:xfrm>
            <a:off x="8156448" y="2234793"/>
            <a:ext cx="1086307" cy="1667866"/>
          </a:xfrm>
          <a:prstGeom prst="line">
            <a:avLst/>
          </a:prstGeom>
          <a:ln w="15875">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7" name="Network line"/>
          <p:cNvCxnSpPr/>
          <p:nvPr/>
        </p:nvCxnSpPr>
        <p:spPr>
          <a:xfrm flipV="1">
            <a:off x="9242755" y="1795881"/>
            <a:ext cx="1283817" cy="2106778"/>
          </a:xfrm>
          <a:prstGeom prst="line">
            <a:avLst/>
          </a:prstGeom>
          <a:ln w="15875">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8" name="Network line"/>
          <p:cNvCxnSpPr/>
          <p:nvPr/>
        </p:nvCxnSpPr>
        <p:spPr>
          <a:xfrm>
            <a:off x="10526572" y="1795881"/>
            <a:ext cx="790042" cy="1492301"/>
          </a:xfrm>
          <a:prstGeom prst="line">
            <a:avLst/>
          </a:prstGeom>
          <a:ln w="15875">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9" name="Network line"/>
          <p:cNvCxnSpPr/>
          <p:nvPr/>
        </p:nvCxnSpPr>
        <p:spPr>
          <a:xfrm flipV="1">
            <a:off x="9242755" y="3288182"/>
            <a:ext cx="2073859" cy="614477"/>
          </a:xfrm>
          <a:prstGeom prst="line">
            <a:avLst/>
          </a:prstGeom>
          <a:ln w="15875">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10" name="Network line"/>
          <p:cNvCxnSpPr/>
          <p:nvPr/>
        </p:nvCxnSpPr>
        <p:spPr>
          <a:xfrm flipH="1">
            <a:off x="9144000" y="3902659"/>
            <a:ext cx="98755" cy="1360627"/>
          </a:xfrm>
          <a:prstGeom prst="line">
            <a:avLst/>
          </a:prstGeom>
          <a:ln w="15875">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11" name="Network line"/>
          <p:cNvCxnSpPr/>
          <p:nvPr/>
        </p:nvCxnSpPr>
        <p:spPr>
          <a:xfrm flipH="1" flipV="1">
            <a:off x="7563916" y="1225296"/>
            <a:ext cx="592532" cy="1009497"/>
          </a:xfrm>
          <a:prstGeom prst="line">
            <a:avLst/>
          </a:prstGeom>
          <a:ln w="15875">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12" name="Network line"/>
          <p:cNvCxnSpPr/>
          <p:nvPr/>
        </p:nvCxnSpPr>
        <p:spPr>
          <a:xfrm flipV="1">
            <a:off x="6971385" y="3902659"/>
            <a:ext cx="2271370" cy="263347"/>
          </a:xfrm>
          <a:prstGeom prst="line">
            <a:avLst/>
          </a:prstGeom>
          <a:ln w="15875">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13" name="Network line"/>
          <p:cNvCxnSpPr/>
          <p:nvPr/>
        </p:nvCxnSpPr>
        <p:spPr>
          <a:xfrm flipH="1">
            <a:off x="10230307" y="3288182"/>
            <a:ext cx="1086307" cy="1667866"/>
          </a:xfrm>
          <a:prstGeom prst="line">
            <a:avLst/>
          </a:prstGeom>
          <a:ln w="15875">
            <a:solidFill>
              <a:srgbClr val="A9DCE9"/>
            </a:solidFill>
          </a:ln>
        </p:spPr>
        <p:style>
          <a:lnRef idx="2">
            <a:schemeClr val="accent1"/>
          </a:lnRef>
          <a:fillRef idx="0">
            <a:schemeClr val="accent1"/>
          </a:fillRef>
          <a:effectRef idx="1">
            <a:schemeClr val="accent1"/>
          </a:effectRef>
          <a:fontRef idx="minor">
            <a:schemeClr val="tx1"/>
          </a:fontRef>
        </p:style>
      </p:cxnSp>
      <p:cxnSp>
        <p:nvCxnSpPr>
          <p:cNvPr id="14" name="Network line"/>
          <p:cNvCxnSpPr/>
          <p:nvPr/>
        </p:nvCxnSpPr>
        <p:spPr>
          <a:xfrm flipV="1">
            <a:off x="9144000" y="4956048"/>
            <a:ext cx="1086307" cy="307238"/>
          </a:xfrm>
          <a:prstGeom prst="line">
            <a:avLst/>
          </a:prstGeom>
          <a:ln w="15875">
            <a:solidFill>
              <a:srgbClr val="A9DCE9"/>
            </a:solidFill>
          </a:ln>
        </p:spPr>
        <p:style>
          <a:lnRef idx="2">
            <a:schemeClr val="accent1"/>
          </a:lnRef>
          <a:fillRef idx="0">
            <a:schemeClr val="accent1"/>
          </a:fillRef>
          <a:effectRef idx="1">
            <a:schemeClr val="accent1"/>
          </a:effectRef>
          <a:fontRef idx="minor">
            <a:schemeClr val="tx1"/>
          </a:fontRef>
        </p:style>
      </p:cxnSp>
      <p:sp>
        <p:nvSpPr>
          <p:cNvPr id="15" name="Network node"/>
          <p:cNvSpPr/>
          <p:nvPr/>
        </p:nvSpPr>
        <p:spPr>
          <a:xfrm>
            <a:off x="6870801" y="4065422"/>
            <a:ext cx="201168" cy="201168"/>
          </a:xfrm>
          <a:prstGeom prst="ellipse">
            <a:avLst/>
          </a:prstGeom>
          <a:solidFill>
            <a:srgbClr val="67D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Network node"/>
          <p:cNvSpPr/>
          <p:nvPr/>
        </p:nvSpPr>
        <p:spPr>
          <a:xfrm>
            <a:off x="8055864" y="2134209"/>
            <a:ext cx="201168" cy="201168"/>
          </a:xfrm>
          <a:prstGeom prst="ellipse">
            <a:avLst/>
          </a:prstGeom>
          <a:solidFill>
            <a:srgbClr val="67D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Network node"/>
          <p:cNvSpPr/>
          <p:nvPr/>
        </p:nvSpPr>
        <p:spPr>
          <a:xfrm>
            <a:off x="9087307" y="3747211"/>
            <a:ext cx="310896" cy="310896"/>
          </a:xfrm>
          <a:prstGeom prst="ellipse">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Network node"/>
          <p:cNvSpPr/>
          <p:nvPr/>
        </p:nvSpPr>
        <p:spPr>
          <a:xfrm>
            <a:off x="10371124" y="1640433"/>
            <a:ext cx="310896" cy="310896"/>
          </a:xfrm>
          <a:prstGeom prst="ellipse">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Network node"/>
          <p:cNvSpPr/>
          <p:nvPr/>
        </p:nvSpPr>
        <p:spPr>
          <a:xfrm>
            <a:off x="11216030" y="3187598"/>
            <a:ext cx="201168" cy="201168"/>
          </a:xfrm>
          <a:prstGeom prst="ellipse">
            <a:avLst/>
          </a:prstGeom>
          <a:solidFill>
            <a:srgbClr val="67D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Network node"/>
          <p:cNvSpPr/>
          <p:nvPr/>
        </p:nvSpPr>
        <p:spPr>
          <a:xfrm>
            <a:off x="9043416" y="5162702"/>
            <a:ext cx="201168" cy="201168"/>
          </a:xfrm>
          <a:prstGeom prst="ellipse">
            <a:avLst/>
          </a:prstGeom>
          <a:solidFill>
            <a:srgbClr val="67D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Network node"/>
          <p:cNvSpPr/>
          <p:nvPr/>
        </p:nvSpPr>
        <p:spPr>
          <a:xfrm>
            <a:off x="7463332" y="1124712"/>
            <a:ext cx="201168" cy="201168"/>
          </a:xfrm>
          <a:prstGeom prst="ellipse">
            <a:avLst/>
          </a:prstGeom>
          <a:solidFill>
            <a:srgbClr val="67D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Network node"/>
          <p:cNvSpPr/>
          <p:nvPr/>
        </p:nvSpPr>
        <p:spPr>
          <a:xfrm>
            <a:off x="10129723" y="4855464"/>
            <a:ext cx="201168" cy="201168"/>
          </a:xfrm>
          <a:prstGeom prst="ellipse">
            <a:avLst/>
          </a:prstGeom>
          <a:solidFill>
            <a:srgbClr val="67D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itle 3">
            <a:extLst>
              <a:ext uri="{FF2B5EF4-FFF2-40B4-BE49-F238E27FC236}">
                <a16:creationId xmlns:a16="http://schemas.microsoft.com/office/drawing/2014/main" id="{6F80C857-4384-387E-D3B0-A675AA2C932C}"/>
              </a:ext>
            </a:extLst>
          </p:cNvPr>
          <p:cNvSpPr>
            <a:spLocks noGrp="1"/>
          </p:cNvSpPr>
          <p:nvPr>
            <p:ph type="title"/>
          </p:nvPr>
        </p:nvSpPr>
        <p:spPr>
          <a:xfrm>
            <a:off x="548640" y="2194560"/>
            <a:ext cx="5852160" cy="1645920"/>
          </a:xfrm>
        </p:spPr>
        <p:txBody>
          <a:bodyPr wrap="square" lIns="0" tIns="0" rIns="0" bIns="0" anchor="ctr">
            <a:noAutofit/>
          </a:bodyPr>
          <a:lstStyle/>
          <a:p>
            <a:br>
              <a:rPr lang="en-IN" dirty="0"/>
            </a:br>
            <a:r>
              <a:rPr lang="en-IN" sz="6600" b="1" dirty="0">
                <a:solidFill>
                  <a:srgbClr val="0B1F3A"/>
                </a:solidFill>
                <a:latin typeface="Calibri"/>
              </a:rPr>
              <a:t>Questions ?</a:t>
            </a:r>
          </a:p>
        </p:txBody>
      </p:sp>
    </p:spTree>
    <p:extLst>
      <p:ext uri="{BB962C8B-B14F-4D97-AF65-F5344CB8AC3E}">
        <p14:creationId xmlns:p14="http://schemas.microsoft.com/office/powerpoint/2010/main" val="11738620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Times New Roman" panose="02020603050405020304" pitchFamily="18" charset="0"/>
              </a:rPr>
              <a:t>Thank You!</a:t>
            </a:r>
            <a:endParaRPr lang="en-IN" sz="6600" b="1" dirty="0">
              <a:latin typeface="Times New Roman" panose="02020603050405020304" pitchFamily="18" charset="0"/>
            </a:endParaRPr>
          </a:p>
        </p:txBody>
      </p:sp>
    </p:spTree>
    <p:extLst>
      <p:ext uri="{BB962C8B-B14F-4D97-AF65-F5344CB8AC3E}">
        <p14:creationId xmlns:p14="http://schemas.microsoft.com/office/powerpoint/2010/main" val="2438371579"/>
      </p:ext>
    </p:extLst>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7065</TotalTime>
  <Words>2667</Words>
  <Application>Microsoft Office PowerPoint</Application>
  <PresentationFormat>Widescreen</PresentationFormat>
  <Paragraphs>238</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Times New Roman</vt:lpstr>
      <vt:lpstr>BIA Template</vt:lpstr>
      <vt:lpstr>PowerPoint Presentation</vt:lpstr>
      <vt:lpstr>Agenda</vt:lpstr>
      <vt:lpstr>Introduction</vt:lpstr>
      <vt:lpstr>Problem Statement</vt:lpstr>
      <vt:lpstr>Dataset Overview</vt:lpstr>
      <vt:lpstr>Exploratory Data Analysis</vt:lpstr>
      <vt:lpstr>PowerPoint Presentation</vt:lpstr>
      <vt:lpstr>Data Preprocessing &amp; Methodology</vt:lpstr>
      <vt:lpstr>PowerPoint Presentation</vt:lpstr>
      <vt:lpstr>Model Performance Comparison</vt:lpstr>
      <vt:lpstr>Movie Success Prediction System</vt:lpstr>
      <vt:lpstr>AI-POWERED MOVIE RESEARCH ASSISTANT </vt:lpstr>
      <vt:lpstr>PowerPoint Presentation</vt:lpstr>
      <vt:lpstr>Limitations</vt:lpstr>
      <vt:lpstr>Conclusion</vt:lpstr>
      <vt:lpstr> Questions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DHANUSH KRISHNAN A U</cp:lastModifiedBy>
  <cp:revision>2260</cp:revision>
  <dcterms:created xsi:type="dcterms:W3CDTF">2020-12-23T13:36:00Z</dcterms:created>
  <dcterms:modified xsi:type="dcterms:W3CDTF">2026-10-30T11:38:31Z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